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256" r:id="rId5"/>
    <p:sldId id="257" r:id="rId6"/>
    <p:sldId id="259" r:id="rId7"/>
    <p:sldId id="260" r:id="rId8"/>
    <p:sldId id="258" r:id="rId9"/>
    <p:sldId id="261" r:id="rId10"/>
    <p:sldId id="265" r:id="rId11"/>
    <p:sldId id="262" r:id="rId12"/>
    <p:sldId id="266" r:id="rId13"/>
    <p:sldId id="263" r:id="rId14"/>
    <p:sldId id="267" r:id="rId15"/>
    <p:sldId id="264" r:id="rId16"/>
    <p:sldId id="268" r:id="rId17"/>
    <p:sldId id="270" r:id="rId18"/>
    <p:sldId id="272" r:id="rId19"/>
    <p:sldId id="273" r:id="rId20"/>
    <p:sldId id="274" r:id="rId21"/>
    <p:sldId id="275" r:id="rId2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6D0D66-92A4-4B3B-9B43-D6BE861AE060}" v="15" dt="2026-05-31T12:27:40.4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338F69-8725-4053-92CE-D137E4F4769D}" type="datetimeFigureOut">
              <a:rPr lang="es-ES" smtClean="0"/>
              <a:t>31/05/2026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1F59A3-0321-4251-A658-3783DCD4752E}" type="slidenum">
              <a:rPr lang="es-ES" smtClean="0"/>
              <a:t>‹Nº›</a:t>
            </a:fld>
            <a:endParaRPr lang="es-ES"/>
          </a:p>
        </p:txBody>
      </p:sp>
    </p:spTree>
    <p:extLst>
      <p:ext uri="{BB962C8B-B14F-4D97-AF65-F5344CB8AC3E}">
        <p14:creationId xmlns:p14="http://schemas.microsoft.com/office/powerpoint/2010/main" val="1508573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D7967-E3BE-C280-9C7C-399F71A9C2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B4B0-D237-79AC-B3FF-DD1F5C56C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D6D6DD-346B-6E9C-90ED-0019ABB12A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7D291B-5CD8-C8BD-5A8C-D05EB988F295}"/>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5910253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C96BF-3109-D202-7C6C-BAFBDBBC99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493D6-80ED-75D6-D5DB-4F8EAC7F54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642EA4-3BC6-49FE-F6BF-419E5E005E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52243C-7FAB-D0BA-FDE9-88F794B4779E}"/>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181675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69984-A6F6-1614-5BEB-062D0623A7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33B9FD-4423-09C7-C7A5-ECF518969C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75E78F-2F9C-9E72-CB0C-C6190E4727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98227E-B8A0-60C4-2D68-9A4227F9065E}"/>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70036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B9742-BA3B-FEFE-57A7-3D3156B85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F14FE-4FF8-F648-8CB7-A438ADF631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1E9D6D-6018-0130-EF3C-445E8A2444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85C0FD-2546-5248-F6A7-3E28A936CD87}"/>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229390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BFAAAE-C282-F2A4-70AB-25380A6324D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2D10875F-4BEC-1C94-27BA-46E6CF6D1D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F530B389-DFAA-85EE-6417-658CFAC138AE}"/>
              </a:ext>
            </a:extLst>
          </p:cNvPr>
          <p:cNvSpPr>
            <a:spLocks noGrp="1"/>
          </p:cNvSpPr>
          <p:nvPr>
            <p:ph type="dt" sz="half" idx="10"/>
          </p:nvPr>
        </p:nvSpPr>
        <p:spPr/>
        <p:txBody>
          <a:bodyPr/>
          <a:lstStyle/>
          <a:p>
            <a:fld id="{0BD60F7D-1DD9-46AA-9C91-C7797FDD9980}" type="datetimeFigureOut">
              <a:rPr lang="es-ES" smtClean="0"/>
              <a:t>31/05/2026</a:t>
            </a:fld>
            <a:endParaRPr lang="es-ES"/>
          </a:p>
        </p:txBody>
      </p:sp>
      <p:sp>
        <p:nvSpPr>
          <p:cNvPr id="5" name="Marcador de pie de página 4">
            <a:extLst>
              <a:ext uri="{FF2B5EF4-FFF2-40B4-BE49-F238E27FC236}">
                <a16:creationId xmlns:a16="http://schemas.microsoft.com/office/drawing/2014/main" id="{BBE1F925-90D4-EB5C-58DC-0E4BF6BC7C4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8702D18-D1B8-9E67-0EF9-FAB5F70D7E45}"/>
              </a:ext>
            </a:extLst>
          </p:cNvPr>
          <p:cNvSpPr>
            <a:spLocks noGrp="1"/>
          </p:cNvSpPr>
          <p:nvPr>
            <p:ph type="sldNum" sz="quarter" idx="12"/>
          </p:nvPr>
        </p:nvSpPr>
        <p:spPr/>
        <p:txBody>
          <a:bodyPr/>
          <a:lstStyle/>
          <a:p>
            <a:fld id="{FF0F2C4F-E693-49E8-A2E3-B1EDF99455BB}" type="slidenum">
              <a:rPr lang="es-ES" smtClean="0"/>
              <a:t>‹Nº›</a:t>
            </a:fld>
            <a:endParaRPr lang="es-ES"/>
          </a:p>
        </p:txBody>
      </p:sp>
    </p:spTree>
    <p:extLst>
      <p:ext uri="{BB962C8B-B14F-4D97-AF65-F5344CB8AC3E}">
        <p14:creationId xmlns:p14="http://schemas.microsoft.com/office/powerpoint/2010/main" val="2177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0B85A3-FC24-81B9-AF52-5E9FE65E1DD5}"/>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A71191A4-864B-B717-AC3B-F8C313FA36C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DFE0166-EC88-9338-2B25-5FF71615EBC7}"/>
              </a:ext>
            </a:extLst>
          </p:cNvPr>
          <p:cNvSpPr>
            <a:spLocks noGrp="1"/>
          </p:cNvSpPr>
          <p:nvPr>
            <p:ph type="dt" sz="half" idx="10"/>
          </p:nvPr>
        </p:nvSpPr>
        <p:spPr/>
        <p:txBody>
          <a:bodyPr/>
          <a:lstStyle/>
          <a:p>
            <a:fld id="{0BD60F7D-1DD9-46AA-9C91-C7797FDD9980}" type="datetimeFigureOut">
              <a:rPr lang="es-ES" smtClean="0"/>
              <a:t>31/05/2026</a:t>
            </a:fld>
            <a:endParaRPr lang="es-ES"/>
          </a:p>
        </p:txBody>
      </p:sp>
      <p:sp>
        <p:nvSpPr>
          <p:cNvPr id="5" name="Marcador de pie de página 4">
            <a:extLst>
              <a:ext uri="{FF2B5EF4-FFF2-40B4-BE49-F238E27FC236}">
                <a16:creationId xmlns:a16="http://schemas.microsoft.com/office/drawing/2014/main" id="{E5ADC202-6E09-3A3B-9601-53FFFB6B2E3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AEFC856F-1F99-E357-5C12-B1516AEF3C07}"/>
              </a:ext>
            </a:extLst>
          </p:cNvPr>
          <p:cNvSpPr>
            <a:spLocks noGrp="1"/>
          </p:cNvSpPr>
          <p:nvPr>
            <p:ph type="sldNum" sz="quarter" idx="12"/>
          </p:nvPr>
        </p:nvSpPr>
        <p:spPr/>
        <p:txBody>
          <a:bodyPr/>
          <a:lstStyle/>
          <a:p>
            <a:fld id="{FF0F2C4F-E693-49E8-A2E3-B1EDF99455BB}" type="slidenum">
              <a:rPr lang="es-ES" smtClean="0"/>
              <a:t>‹Nº›</a:t>
            </a:fld>
            <a:endParaRPr lang="es-ES"/>
          </a:p>
        </p:txBody>
      </p:sp>
    </p:spTree>
    <p:extLst>
      <p:ext uri="{BB962C8B-B14F-4D97-AF65-F5344CB8AC3E}">
        <p14:creationId xmlns:p14="http://schemas.microsoft.com/office/powerpoint/2010/main" val="4219659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C6A785-3FDA-BE77-7586-3325A0C06B6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1A105906-E357-19E0-E9BB-68A76677EF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AB1A5BA-4C71-4A64-09FF-CBCFCC31DBB6}"/>
              </a:ext>
            </a:extLst>
          </p:cNvPr>
          <p:cNvSpPr>
            <a:spLocks noGrp="1"/>
          </p:cNvSpPr>
          <p:nvPr>
            <p:ph type="dt" sz="half" idx="10"/>
          </p:nvPr>
        </p:nvSpPr>
        <p:spPr/>
        <p:txBody>
          <a:bodyPr/>
          <a:lstStyle/>
          <a:p>
            <a:fld id="{0BD60F7D-1DD9-46AA-9C91-C7797FDD9980}" type="datetimeFigureOut">
              <a:rPr lang="es-ES" smtClean="0"/>
              <a:t>31/05/2026</a:t>
            </a:fld>
            <a:endParaRPr lang="es-ES"/>
          </a:p>
        </p:txBody>
      </p:sp>
      <p:sp>
        <p:nvSpPr>
          <p:cNvPr id="5" name="Marcador de pie de página 4">
            <a:extLst>
              <a:ext uri="{FF2B5EF4-FFF2-40B4-BE49-F238E27FC236}">
                <a16:creationId xmlns:a16="http://schemas.microsoft.com/office/drawing/2014/main" id="{2B1FC74A-41A1-4ACE-402B-6E392A5D2F7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7DC3308-9C28-7F11-5BC0-6338071C8A3D}"/>
              </a:ext>
            </a:extLst>
          </p:cNvPr>
          <p:cNvSpPr>
            <a:spLocks noGrp="1"/>
          </p:cNvSpPr>
          <p:nvPr>
            <p:ph type="sldNum" sz="quarter" idx="12"/>
          </p:nvPr>
        </p:nvSpPr>
        <p:spPr/>
        <p:txBody>
          <a:bodyPr/>
          <a:lstStyle/>
          <a:p>
            <a:fld id="{FF0F2C4F-E693-49E8-A2E3-B1EDF99455BB}" type="slidenum">
              <a:rPr lang="es-ES" smtClean="0"/>
              <a:t>‹Nº›</a:t>
            </a:fld>
            <a:endParaRPr lang="es-ES"/>
          </a:p>
        </p:txBody>
      </p:sp>
    </p:spTree>
    <p:extLst>
      <p:ext uri="{BB962C8B-B14F-4D97-AF65-F5344CB8AC3E}">
        <p14:creationId xmlns:p14="http://schemas.microsoft.com/office/powerpoint/2010/main" val="3182907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467FE0-6A17-3853-EAFB-CB90BD538D1E}"/>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C7DF112F-E770-8AD2-3637-90E028CBC8C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35CA6090-82AD-D0F5-079A-4D1490F9380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443A030F-4F25-B35D-2AE2-0874D5332A6D}"/>
              </a:ext>
            </a:extLst>
          </p:cNvPr>
          <p:cNvSpPr>
            <a:spLocks noGrp="1"/>
          </p:cNvSpPr>
          <p:nvPr>
            <p:ph type="dt" sz="half" idx="10"/>
          </p:nvPr>
        </p:nvSpPr>
        <p:spPr/>
        <p:txBody>
          <a:bodyPr/>
          <a:lstStyle/>
          <a:p>
            <a:fld id="{0BD60F7D-1DD9-46AA-9C91-C7797FDD9980}" type="datetimeFigureOut">
              <a:rPr lang="es-ES" smtClean="0"/>
              <a:t>31/05/2026</a:t>
            </a:fld>
            <a:endParaRPr lang="es-ES"/>
          </a:p>
        </p:txBody>
      </p:sp>
      <p:sp>
        <p:nvSpPr>
          <p:cNvPr id="6" name="Marcador de pie de página 5">
            <a:extLst>
              <a:ext uri="{FF2B5EF4-FFF2-40B4-BE49-F238E27FC236}">
                <a16:creationId xmlns:a16="http://schemas.microsoft.com/office/drawing/2014/main" id="{80357616-1A69-D995-E6D2-3CC92FE7409E}"/>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6D4C91F4-55DC-28C8-F8BE-85ED8EF23610}"/>
              </a:ext>
            </a:extLst>
          </p:cNvPr>
          <p:cNvSpPr>
            <a:spLocks noGrp="1"/>
          </p:cNvSpPr>
          <p:nvPr>
            <p:ph type="sldNum" sz="quarter" idx="12"/>
          </p:nvPr>
        </p:nvSpPr>
        <p:spPr/>
        <p:txBody>
          <a:bodyPr/>
          <a:lstStyle/>
          <a:p>
            <a:fld id="{FF0F2C4F-E693-49E8-A2E3-B1EDF99455BB}" type="slidenum">
              <a:rPr lang="es-ES" smtClean="0"/>
              <a:t>‹Nº›</a:t>
            </a:fld>
            <a:endParaRPr lang="es-ES"/>
          </a:p>
        </p:txBody>
      </p:sp>
    </p:spTree>
    <p:extLst>
      <p:ext uri="{BB962C8B-B14F-4D97-AF65-F5344CB8AC3E}">
        <p14:creationId xmlns:p14="http://schemas.microsoft.com/office/powerpoint/2010/main" val="2746139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3329BB-87EA-1A3B-D2B0-D8F7CB21F293}"/>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CF9FAE54-132B-3CE6-8D47-AD57C6F161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068FA44-3DD0-37D6-66F9-BF59C3E4A8C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E6CB851D-ABA9-9978-2898-F3C022CBA8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2AF6393-8CD9-775D-FDCB-1200B24FD9E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B0B478F5-D008-6275-91FA-FF5489BE19B4}"/>
              </a:ext>
            </a:extLst>
          </p:cNvPr>
          <p:cNvSpPr>
            <a:spLocks noGrp="1"/>
          </p:cNvSpPr>
          <p:nvPr>
            <p:ph type="dt" sz="half" idx="10"/>
          </p:nvPr>
        </p:nvSpPr>
        <p:spPr/>
        <p:txBody>
          <a:bodyPr/>
          <a:lstStyle/>
          <a:p>
            <a:fld id="{0BD60F7D-1DD9-46AA-9C91-C7797FDD9980}" type="datetimeFigureOut">
              <a:rPr lang="es-ES" smtClean="0"/>
              <a:t>31/05/2026</a:t>
            </a:fld>
            <a:endParaRPr lang="es-ES"/>
          </a:p>
        </p:txBody>
      </p:sp>
      <p:sp>
        <p:nvSpPr>
          <p:cNvPr id="8" name="Marcador de pie de página 7">
            <a:extLst>
              <a:ext uri="{FF2B5EF4-FFF2-40B4-BE49-F238E27FC236}">
                <a16:creationId xmlns:a16="http://schemas.microsoft.com/office/drawing/2014/main" id="{AE23738A-D00F-D1C4-1FA9-A14884B4F2EE}"/>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FBC77109-4688-E797-A0B1-6802C3795E33}"/>
              </a:ext>
            </a:extLst>
          </p:cNvPr>
          <p:cNvSpPr>
            <a:spLocks noGrp="1"/>
          </p:cNvSpPr>
          <p:nvPr>
            <p:ph type="sldNum" sz="quarter" idx="12"/>
          </p:nvPr>
        </p:nvSpPr>
        <p:spPr/>
        <p:txBody>
          <a:bodyPr/>
          <a:lstStyle/>
          <a:p>
            <a:fld id="{FF0F2C4F-E693-49E8-A2E3-B1EDF99455BB}" type="slidenum">
              <a:rPr lang="es-ES" smtClean="0"/>
              <a:t>‹Nº›</a:t>
            </a:fld>
            <a:endParaRPr lang="es-ES"/>
          </a:p>
        </p:txBody>
      </p:sp>
    </p:spTree>
    <p:extLst>
      <p:ext uri="{BB962C8B-B14F-4D97-AF65-F5344CB8AC3E}">
        <p14:creationId xmlns:p14="http://schemas.microsoft.com/office/powerpoint/2010/main" val="1709612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E504D1-3853-B1F7-72BD-6F89559D7D67}"/>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2617F4CB-BDD8-9B20-A4D4-F94624B06A78}"/>
              </a:ext>
            </a:extLst>
          </p:cNvPr>
          <p:cNvSpPr>
            <a:spLocks noGrp="1"/>
          </p:cNvSpPr>
          <p:nvPr>
            <p:ph type="dt" sz="half" idx="10"/>
          </p:nvPr>
        </p:nvSpPr>
        <p:spPr/>
        <p:txBody>
          <a:bodyPr/>
          <a:lstStyle/>
          <a:p>
            <a:fld id="{0BD60F7D-1DD9-46AA-9C91-C7797FDD9980}" type="datetimeFigureOut">
              <a:rPr lang="es-ES" smtClean="0"/>
              <a:t>31/05/2026</a:t>
            </a:fld>
            <a:endParaRPr lang="es-ES"/>
          </a:p>
        </p:txBody>
      </p:sp>
      <p:sp>
        <p:nvSpPr>
          <p:cNvPr id="4" name="Marcador de pie de página 3">
            <a:extLst>
              <a:ext uri="{FF2B5EF4-FFF2-40B4-BE49-F238E27FC236}">
                <a16:creationId xmlns:a16="http://schemas.microsoft.com/office/drawing/2014/main" id="{E31ECF6A-FA0A-9ABD-72AB-50E5275D458E}"/>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3CA5458B-B2A8-CB69-674E-D8CD4ED4A66D}"/>
              </a:ext>
            </a:extLst>
          </p:cNvPr>
          <p:cNvSpPr>
            <a:spLocks noGrp="1"/>
          </p:cNvSpPr>
          <p:nvPr>
            <p:ph type="sldNum" sz="quarter" idx="12"/>
          </p:nvPr>
        </p:nvSpPr>
        <p:spPr/>
        <p:txBody>
          <a:bodyPr/>
          <a:lstStyle/>
          <a:p>
            <a:fld id="{FF0F2C4F-E693-49E8-A2E3-B1EDF99455BB}" type="slidenum">
              <a:rPr lang="es-ES" smtClean="0"/>
              <a:t>‹Nº›</a:t>
            </a:fld>
            <a:endParaRPr lang="es-ES"/>
          </a:p>
        </p:txBody>
      </p:sp>
    </p:spTree>
    <p:extLst>
      <p:ext uri="{BB962C8B-B14F-4D97-AF65-F5344CB8AC3E}">
        <p14:creationId xmlns:p14="http://schemas.microsoft.com/office/powerpoint/2010/main" val="2575771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FAA04AB-C7BF-88B7-5BA2-5FFD7EA57D40}"/>
              </a:ext>
            </a:extLst>
          </p:cNvPr>
          <p:cNvSpPr>
            <a:spLocks noGrp="1"/>
          </p:cNvSpPr>
          <p:nvPr>
            <p:ph type="dt" sz="half" idx="10"/>
          </p:nvPr>
        </p:nvSpPr>
        <p:spPr/>
        <p:txBody>
          <a:bodyPr/>
          <a:lstStyle/>
          <a:p>
            <a:fld id="{0BD60F7D-1DD9-46AA-9C91-C7797FDD9980}" type="datetimeFigureOut">
              <a:rPr lang="es-ES" smtClean="0"/>
              <a:t>31/05/2026</a:t>
            </a:fld>
            <a:endParaRPr lang="es-ES"/>
          </a:p>
        </p:txBody>
      </p:sp>
      <p:sp>
        <p:nvSpPr>
          <p:cNvPr id="3" name="Marcador de pie de página 2">
            <a:extLst>
              <a:ext uri="{FF2B5EF4-FFF2-40B4-BE49-F238E27FC236}">
                <a16:creationId xmlns:a16="http://schemas.microsoft.com/office/drawing/2014/main" id="{BF026F7D-7A83-4E22-9AC3-1AF7CCA8988F}"/>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CE912DA7-A3E5-E81A-994E-4DBB84C9D806}"/>
              </a:ext>
            </a:extLst>
          </p:cNvPr>
          <p:cNvSpPr>
            <a:spLocks noGrp="1"/>
          </p:cNvSpPr>
          <p:nvPr>
            <p:ph type="sldNum" sz="quarter" idx="12"/>
          </p:nvPr>
        </p:nvSpPr>
        <p:spPr/>
        <p:txBody>
          <a:bodyPr/>
          <a:lstStyle/>
          <a:p>
            <a:fld id="{FF0F2C4F-E693-49E8-A2E3-B1EDF99455BB}" type="slidenum">
              <a:rPr lang="es-ES" smtClean="0"/>
              <a:t>‹Nº›</a:t>
            </a:fld>
            <a:endParaRPr lang="es-ES"/>
          </a:p>
        </p:txBody>
      </p:sp>
    </p:spTree>
    <p:extLst>
      <p:ext uri="{BB962C8B-B14F-4D97-AF65-F5344CB8AC3E}">
        <p14:creationId xmlns:p14="http://schemas.microsoft.com/office/powerpoint/2010/main" val="3115142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D82AF0-3CA8-3091-79FF-7C32CC145F4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26E7B3A-7D90-BD92-F1DE-047768F2D4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E93DDC81-9275-4A5C-C2C2-48A9FEEB84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415512F-D1DC-4986-E3DE-9ADB63FF9D86}"/>
              </a:ext>
            </a:extLst>
          </p:cNvPr>
          <p:cNvSpPr>
            <a:spLocks noGrp="1"/>
          </p:cNvSpPr>
          <p:nvPr>
            <p:ph type="dt" sz="half" idx="10"/>
          </p:nvPr>
        </p:nvSpPr>
        <p:spPr/>
        <p:txBody>
          <a:bodyPr/>
          <a:lstStyle/>
          <a:p>
            <a:fld id="{0BD60F7D-1DD9-46AA-9C91-C7797FDD9980}" type="datetimeFigureOut">
              <a:rPr lang="es-ES" smtClean="0"/>
              <a:t>31/05/2026</a:t>
            </a:fld>
            <a:endParaRPr lang="es-ES"/>
          </a:p>
        </p:txBody>
      </p:sp>
      <p:sp>
        <p:nvSpPr>
          <p:cNvPr id="6" name="Marcador de pie de página 5">
            <a:extLst>
              <a:ext uri="{FF2B5EF4-FFF2-40B4-BE49-F238E27FC236}">
                <a16:creationId xmlns:a16="http://schemas.microsoft.com/office/drawing/2014/main" id="{DD7718D6-4EEF-E261-19CF-017CC49E44B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E51A4C42-DC2B-1D6E-DF46-CB2FC361A1A1}"/>
              </a:ext>
            </a:extLst>
          </p:cNvPr>
          <p:cNvSpPr>
            <a:spLocks noGrp="1"/>
          </p:cNvSpPr>
          <p:nvPr>
            <p:ph type="sldNum" sz="quarter" idx="12"/>
          </p:nvPr>
        </p:nvSpPr>
        <p:spPr/>
        <p:txBody>
          <a:bodyPr/>
          <a:lstStyle/>
          <a:p>
            <a:fld id="{FF0F2C4F-E693-49E8-A2E3-B1EDF99455BB}" type="slidenum">
              <a:rPr lang="es-ES" smtClean="0"/>
              <a:t>‹Nº›</a:t>
            </a:fld>
            <a:endParaRPr lang="es-ES"/>
          </a:p>
        </p:txBody>
      </p:sp>
    </p:spTree>
    <p:extLst>
      <p:ext uri="{BB962C8B-B14F-4D97-AF65-F5344CB8AC3E}">
        <p14:creationId xmlns:p14="http://schemas.microsoft.com/office/powerpoint/2010/main" val="3461999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9A8FAA-F017-CD1B-5695-EECB5E7C2E4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A991934E-B442-FE3F-DE41-A164E93102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4710C651-7BA1-0FC1-3711-4556A0A07B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4F60EC8-44E3-CFB4-75EA-6366D01E4E39}"/>
              </a:ext>
            </a:extLst>
          </p:cNvPr>
          <p:cNvSpPr>
            <a:spLocks noGrp="1"/>
          </p:cNvSpPr>
          <p:nvPr>
            <p:ph type="dt" sz="half" idx="10"/>
          </p:nvPr>
        </p:nvSpPr>
        <p:spPr/>
        <p:txBody>
          <a:bodyPr/>
          <a:lstStyle/>
          <a:p>
            <a:fld id="{0BD60F7D-1DD9-46AA-9C91-C7797FDD9980}" type="datetimeFigureOut">
              <a:rPr lang="es-ES" smtClean="0"/>
              <a:t>31/05/2026</a:t>
            </a:fld>
            <a:endParaRPr lang="es-ES"/>
          </a:p>
        </p:txBody>
      </p:sp>
      <p:sp>
        <p:nvSpPr>
          <p:cNvPr id="6" name="Marcador de pie de página 5">
            <a:extLst>
              <a:ext uri="{FF2B5EF4-FFF2-40B4-BE49-F238E27FC236}">
                <a16:creationId xmlns:a16="http://schemas.microsoft.com/office/drawing/2014/main" id="{9308A8DF-F524-B19D-4C6B-90A365ED348F}"/>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B1241A8-685D-2F2A-3654-42FFAA3E7B4D}"/>
              </a:ext>
            </a:extLst>
          </p:cNvPr>
          <p:cNvSpPr>
            <a:spLocks noGrp="1"/>
          </p:cNvSpPr>
          <p:nvPr>
            <p:ph type="sldNum" sz="quarter" idx="12"/>
          </p:nvPr>
        </p:nvSpPr>
        <p:spPr/>
        <p:txBody>
          <a:bodyPr/>
          <a:lstStyle/>
          <a:p>
            <a:fld id="{FF0F2C4F-E693-49E8-A2E3-B1EDF99455BB}" type="slidenum">
              <a:rPr lang="es-ES" smtClean="0"/>
              <a:t>‹Nº›</a:t>
            </a:fld>
            <a:endParaRPr lang="es-ES"/>
          </a:p>
        </p:txBody>
      </p:sp>
    </p:spTree>
    <p:extLst>
      <p:ext uri="{BB962C8B-B14F-4D97-AF65-F5344CB8AC3E}">
        <p14:creationId xmlns:p14="http://schemas.microsoft.com/office/powerpoint/2010/main" val="2021978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0EFB6F-3977-D1DA-E47F-08DC12C6BCE8}"/>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FAEB5CD8-8F73-D87C-D800-EBC6E6F8456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63AFC15-5BB3-36F0-3DDC-745C670971F6}"/>
              </a:ext>
            </a:extLst>
          </p:cNvPr>
          <p:cNvSpPr>
            <a:spLocks noGrp="1"/>
          </p:cNvSpPr>
          <p:nvPr>
            <p:ph type="dt" sz="half" idx="10"/>
          </p:nvPr>
        </p:nvSpPr>
        <p:spPr/>
        <p:txBody>
          <a:bodyPr/>
          <a:lstStyle/>
          <a:p>
            <a:fld id="{0BD60F7D-1DD9-46AA-9C91-C7797FDD9980}" type="datetimeFigureOut">
              <a:rPr lang="es-ES" smtClean="0"/>
              <a:t>31/05/2026</a:t>
            </a:fld>
            <a:endParaRPr lang="es-ES"/>
          </a:p>
        </p:txBody>
      </p:sp>
      <p:sp>
        <p:nvSpPr>
          <p:cNvPr id="5" name="Marcador de pie de página 4">
            <a:extLst>
              <a:ext uri="{FF2B5EF4-FFF2-40B4-BE49-F238E27FC236}">
                <a16:creationId xmlns:a16="http://schemas.microsoft.com/office/drawing/2014/main" id="{1A908CDE-6C5B-30F7-0EC5-19E7D817C90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5B9F203-FD92-194E-2416-AA43BEFEC64E}"/>
              </a:ext>
            </a:extLst>
          </p:cNvPr>
          <p:cNvSpPr>
            <a:spLocks noGrp="1"/>
          </p:cNvSpPr>
          <p:nvPr>
            <p:ph type="sldNum" sz="quarter" idx="12"/>
          </p:nvPr>
        </p:nvSpPr>
        <p:spPr/>
        <p:txBody>
          <a:bodyPr/>
          <a:lstStyle/>
          <a:p>
            <a:fld id="{FF0F2C4F-E693-49E8-A2E3-B1EDF99455BB}" type="slidenum">
              <a:rPr lang="es-ES" smtClean="0"/>
              <a:t>‹Nº›</a:t>
            </a:fld>
            <a:endParaRPr lang="es-ES"/>
          </a:p>
        </p:txBody>
      </p:sp>
    </p:spTree>
    <p:extLst>
      <p:ext uri="{BB962C8B-B14F-4D97-AF65-F5344CB8AC3E}">
        <p14:creationId xmlns:p14="http://schemas.microsoft.com/office/powerpoint/2010/main" val="18433608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A7AAC6D-709D-934A-6CB3-2C951C67562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6D2EC0CE-677C-2A0A-801E-63E778EFC47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F4DE48B-08C6-4913-5C68-7F600913127F}"/>
              </a:ext>
            </a:extLst>
          </p:cNvPr>
          <p:cNvSpPr>
            <a:spLocks noGrp="1"/>
          </p:cNvSpPr>
          <p:nvPr>
            <p:ph type="dt" sz="half" idx="10"/>
          </p:nvPr>
        </p:nvSpPr>
        <p:spPr/>
        <p:txBody>
          <a:bodyPr/>
          <a:lstStyle/>
          <a:p>
            <a:fld id="{0BD60F7D-1DD9-46AA-9C91-C7797FDD9980}" type="datetimeFigureOut">
              <a:rPr lang="es-ES" smtClean="0"/>
              <a:t>31/05/2026</a:t>
            </a:fld>
            <a:endParaRPr lang="es-ES"/>
          </a:p>
        </p:txBody>
      </p:sp>
      <p:sp>
        <p:nvSpPr>
          <p:cNvPr id="5" name="Marcador de pie de página 4">
            <a:extLst>
              <a:ext uri="{FF2B5EF4-FFF2-40B4-BE49-F238E27FC236}">
                <a16:creationId xmlns:a16="http://schemas.microsoft.com/office/drawing/2014/main" id="{2CFB27E9-DE5E-6F9A-B4CD-22B5C17FD4C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002C60D-7BB9-D63C-B1AA-46A9B6CAA3C9}"/>
              </a:ext>
            </a:extLst>
          </p:cNvPr>
          <p:cNvSpPr>
            <a:spLocks noGrp="1"/>
          </p:cNvSpPr>
          <p:nvPr>
            <p:ph type="sldNum" sz="quarter" idx="12"/>
          </p:nvPr>
        </p:nvSpPr>
        <p:spPr/>
        <p:txBody>
          <a:bodyPr/>
          <a:lstStyle/>
          <a:p>
            <a:fld id="{FF0F2C4F-E693-49E8-A2E3-B1EDF99455BB}" type="slidenum">
              <a:rPr lang="es-ES" smtClean="0"/>
              <a:t>‹Nº›</a:t>
            </a:fld>
            <a:endParaRPr lang="es-ES"/>
          </a:p>
        </p:txBody>
      </p:sp>
    </p:spTree>
    <p:extLst>
      <p:ext uri="{BB962C8B-B14F-4D97-AF65-F5344CB8AC3E}">
        <p14:creationId xmlns:p14="http://schemas.microsoft.com/office/powerpoint/2010/main" val="14165890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7631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DC0160B-FE2E-03B4-55F7-45DA65B328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3D76DA7-9AF1-D99B-0824-CB7A1693B1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EC94500-6A9A-E81E-E1BC-138CB163F8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D60F7D-1DD9-46AA-9C91-C7797FDD9980}" type="datetimeFigureOut">
              <a:rPr lang="es-ES" smtClean="0"/>
              <a:t>31/05/2026</a:t>
            </a:fld>
            <a:endParaRPr lang="es-ES"/>
          </a:p>
        </p:txBody>
      </p:sp>
      <p:sp>
        <p:nvSpPr>
          <p:cNvPr id="5" name="Marcador de pie de página 4">
            <a:extLst>
              <a:ext uri="{FF2B5EF4-FFF2-40B4-BE49-F238E27FC236}">
                <a16:creationId xmlns:a16="http://schemas.microsoft.com/office/drawing/2014/main" id="{3AD6A1E4-A685-B044-E018-55D7BE9FA0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E0FD3424-373D-8D89-4B48-AF0E65DDCD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0F2C4F-E693-49E8-A2E3-B1EDF99455BB}" type="slidenum">
              <a:rPr lang="es-ES" smtClean="0"/>
              <a:t>‹Nº›</a:t>
            </a:fld>
            <a:endParaRPr lang="es-ES"/>
          </a:p>
        </p:txBody>
      </p:sp>
    </p:spTree>
    <p:extLst>
      <p:ext uri="{BB962C8B-B14F-4D97-AF65-F5344CB8AC3E}">
        <p14:creationId xmlns:p14="http://schemas.microsoft.com/office/powerpoint/2010/main" val="27279459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7">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9">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1">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3">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15">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1C7946D0-FF94-DED3-DFF7-75D224232673}"/>
              </a:ext>
            </a:extLst>
          </p:cNvPr>
          <p:cNvSpPr>
            <a:spLocks noGrp="1"/>
          </p:cNvSpPr>
          <p:nvPr>
            <p:ph type="ctrTitle"/>
          </p:nvPr>
        </p:nvSpPr>
        <p:spPr>
          <a:xfrm>
            <a:off x="2026693" y="1030406"/>
            <a:ext cx="8147713" cy="3081242"/>
          </a:xfrm>
        </p:spPr>
        <p:txBody>
          <a:bodyPr anchor="ctr">
            <a:normAutofit/>
          </a:bodyPr>
          <a:lstStyle/>
          <a:p>
            <a:r>
              <a:rPr lang="es-ES" sz="4800">
                <a:solidFill>
                  <a:srgbClr val="FFFFFF"/>
                </a:solidFill>
              </a:rPr>
              <a:t>LoveCode</a:t>
            </a:r>
          </a:p>
        </p:txBody>
      </p:sp>
      <p:sp>
        <p:nvSpPr>
          <p:cNvPr id="3" name="Subtítulo 2">
            <a:extLst>
              <a:ext uri="{FF2B5EF4-FFF2-40B4-BE49-F238E27FC236}">
                <a16:creationId xmlns:a16="http://schemas.microsoft.com/office/drawing/2014/main" id="{7E3F4A1D-03F3-C151-ACEB-0D1A562F4B35}"/>
              </a:ext>
            </a:extLst>
          </p:cNvPr>
          <p:cNvSpPr>
            <a:spLocks noGrp="1"/>
          </p:cNvSpPr>
          <p:nvPr>
            <p:ph type="subTitle" idx="1"/>
          </p:nvPr>
        </p:nvSpPr>
        <p:spPr>
          <a:xfrm>
            <a:off x="1559943" y="5171093"/>
            <a:ext cx="9078628" cy="860620"/>
          </a:xfrm>
        </p:spPr>
        <p:txBody>
          <a:bodyPr anchor="ctr">
            <a:normAutofit/>
          </a:bodyPr>
          <a:lstStyle/>
          <a:p>
            <a:r>
              <a:rPr lang="es-ES">
                <a:solidFill>
                  <a:srgbClr val="FFFFFF"/>
                </a:solidFill>
              </a:rPr>
              <a:t>Pablo Greus</a:t>
            </a:r>
          </a:p>
        </p:txBody>
      </p:sp>
    </p:spTree>
    <p:extLst>
      <p:ext uri="{BB962C8B-B14F-4D97-AF65-F5344CB8AC3E}">
        <p14:creationId xmlns:p14="http://schemas.microsoft.com/office/powerpoint/2010/main" val="1576769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FEE1FB-DC9C-E38E-9E9A-80066965DC77}"/>
              </a:ext>
            </a:extLst>
          </p:cNvPr>
          <p:cNvSpPr>
            <a:spLocks noGrp="1"/>
          </p:cNvSpPr>
          <p:nvPr>
            <p:ph type="title"/>
          </p:nvPr>
        </p:nvSpPr>
        <p:spPr>
          <a:xfrm>
            <a:off x="5868557" y="1138036"/>
            <a:ext cx="5444382" cy="1402470"/>
          </a:xfrm>
        </p:spPr>
        <p:txBody>
          <a:bodyPr vert="horz" lIns="91440" tIns="45720" rIns="91440" bIns="45720" rtlCol="0" anchor="t">
            <a:normAutofit/>
          </a:bodyPr>
          <a:lstStyle/>
          <a:p>
            <a:r>
              <a:rPr lang="en-US" sz="3200"/>
              <a:t>Que es LoveCode?</a:t>
            </a:r>
          </a:p>
        </p:txBody>
      </p:sp>
      <p:pic>
        <p:nvPicPr>
          <p:cNvPr id="5" name="Picture 4" descr="Script de ordenador en una pantalla">
            <a:extLst>
              <a:ext uri="{FF2B5EF4-FFF2-40B4-BE49-F238E27FC236}">
                <a16:creationId xmlns:a16="http://schemas.microsoft.com/office/drawing/2014/main" id="{B8D71F89-8ECA-A979-9EA8-572C498105B2}"/>
              </a:ext>
            </a:extLst>
          </p:cNvPr>
          <p:cNvPicPr>
            <a:picLocks noChangeAspect="1"/>
          </p:cNvPicPr>
          <p:nvPr/>
        </p:nvPicPr>
        <p:blipFill>
          <a:blip r:embed="rId2"/>
          <a:srcRect l="5045" r="44817" b="-1"/>
          <a:stretch>
            <a:fillRect/>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8514B181-0557-9AFE-228A-7C8D07A76542}"/>
              </a:ext>
            </a:extLst>
          </p:cNvPr>
          <p:cNvSpPr>
            <a:spLocks noGrp="1"/>
          </p:cNvSpPr>
          <p:nvPr>
            <p:ph sz="half" idx="1"/>
          </p:nvPr>
        </p:nvSpPr>
        <p:spPr>
          <a:xfrm>
            <a:off x="5868557" y="2551176"/>
            <a:ext cx="5444382" cy="3591207"/>
          </a:xfrm>
        </p:spPr>
        <p:txBody>
          <a:bodyPr vert="horz" lIns="91440" tIns="45720" rIns="91440" bIns="45720" rtlCol="0">
            <a:normAutofit/>
          </a:bodyPr>
          <a:lstStyle/>
          <a:p>
            <a:r>
              <a:rPr lang="en-US" sz="2000" dirty="0" err="1"/>
              <a:t>LoveCode</a:t>
            </a:r>
            <a:r>
              <a:rPr lang="en-US" sz="2000" dirty="0"/>
              <a:t> es </a:t>
            </a:r>
            <a:r>
              <a:rPr lang="en-US" sz="2000" dirty="0" err="1"/>
              <a:t>una</a:t>
            </a:r>
            <a:r>
              <a:rPr lang="en-US" sz="2000" dirty="0"/>
              <a:t> </a:t>
            </a:r>
            <a:r>
              <a:rPr lang="en-US" sz="2000" dirty="0" err="1"/>
              <a:t>aplicación</a:t>
            </a:r>
            <a:r>
              <a:rPr lang="en-US" sz="2000" dirty="0"/>
              <a:t> web de </a:t>
            </a:r>
            <a:r>
              <a:rPr lang="en-US" sz="2000" dirty="0" err="1"/>
              <a:t>tipo</a:t>
            </a:r>
            <a:r>
              <a:rPr lang="en-US" sz="2000" dirty="0"/>
              <a:t> matching </a:t>
            </a:r>
            <a:r>
              <a:rPr lang="en-US" sz="2000" dirty="0" err="1"/>
              <a:t>Inspirada</a:t>
            </a:r>
            <a:r>
              <a:rPr lang="en-US" sz="2000" dirty="0"/>
              <a:t> </a:t>
            </a:r>
            <a:r>
              <a:rPr lang="en-US" sz="2000" dirty="0" err="1"/>
              <a:t>en</a:t>
            </a:r>
            <a:r>
              <a:rPr lang="en-US" sz="2000" dirty="0"/>
              <a:t> la </a:t>
            </a:r>
            <a:r>
              <a:rPr lang="en-US" sz="2000" dirty="0" err="1"/>
              <a:t>mecánica</a:t>
            </a:r>
            <a:r>
              <a:rPr lang="en-US" sz="2000" dirty="0"/>
              <a:t> de </a:t>
            </a:r>
            <a:r>
              <a:rPr lang="en-US" sz="2000" dirty="0" err="1"/>
              <a:t>deslizamiento</a:t>
            </a:r>
            <a:r>
              <a:rPr lang="en-US" sz="2000" dirty="0"/>
              <a:t> de </a:t>
            </a:r>
            <a:r>
              <a:rPr lang="en-US" sz="2000" dirty="0" err="1"/>
              <a:t>tarjetas</a:t>
            </a:r>
            <a:r>
              <a:rPr lang="en-US" sz="2000" dirty="0"/>
              <a:t> </a:t>
            </a:r>
            <a:r>
              <a:rPr lang="en-US" sz="2000" dirty="0" err="1"/>
              <a:t>popularizada</a:t>
            </a:r>
            <a:r>
              <a:rPr lang="en-US" sz="2000" dirty="0"/>
              <a:t> </a:t>
            </a:r>
            <a:r>
              <a:rPr lang="en-US" sz="2000" dirty="0" err="1"/>
              <a:t>por</a:t>
            </a:r>
            <a:r>
              <a:rPr lang="en-US" sz="2000" dirty="0"/>
              <a:t> </a:t>
            </a:r>
            <a:r>
              <a:rPr lang="en-US" sz="2000" dirty="0" err="1"/>
              <a:t>aplicaciones</a:t>
            </a:r>
            <a:r>
              <a:rPr lang="en-US" sz="2000" dirty="0"/>
              <a:t> de </a:t>
            </a:r>
            <a:r>
              <a:rPr lang="en-US" sz="2000" dirty="0" err="1"/>
              <a:t>citas</a:t>
            </a:r>
            <a:endParaRPr lang="en-US" sz="2000" dirty="0"/>
          </a:p>
        </p:txBody>
      </p:sp>
    </p:spTree>
    <p:extLst>
      <p:ext uri="{BB962C8B-B14F-4D97-AF65-F5344CB8AC3E}">
        <p14:creationId xmlns:p14="http://schemas.microsoft.com/office/powerpoint/2010/main" val="2083754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7C3AED"/>
          </a:solidFill>
          <a:ln w="12700">
            <a:solidFill>
              <a:srgbClr val="7C3AED"/>
            </a:solidFill>
            <a:prstDash val="solid"/>
          </a:ln>
        </p:spPr>
        <p:txBody>
          <a:bodyPr/>
          <a:lstStyle/>
          <a:p>
            <a:endParaRPr lang="es-ES" sz="2400"/>
          </a:p>
        </p:txBody>
      </p:sp>
      <p:sp>
        <p:nvSpPr>
          <p:cNvPr id="3" name="Text 1"/>
          <p:cNvSpPr/>
          <p:nvPr/>
        </p:nvSpPr>
        <p:spPr>
          <a:xfrm>
            <a:off x="609600" y="219456"/>
            <a:ext cx="10972800" cy="914400"/>
          </a:xfrm>
          <a:prstGeom prst="rect">
            <a:avLst/>
          </a:prstGeom>
          <a:noFill/>
          <a:ln/>
        </p:spPr>
        <p:txBody>
          <a:bodyPr wrap="square" lIns="0" tIns="0" rIns="0" bIns="0" rtlCol="0" anchor="ctr"/>
          <a:lstStyle/>
          <a:p>
            <a:r>
              <a:rPr lang="en-US" sz="4800" b="1" dirty="0">
                <a:solidFill>
                  <a:srgbClr val="F5F0FF"/>
                </a:solidFill>
                <a:latin typeface="Trebuchet MS" pitchFamily="34" charset="0"/>
                <a:ea typeface="Trebuchet MS" pitchFamily="34" charset="-122"/>
                <a:cs typeface="Trebuchet MS" pitchFamily="34" charset="-120"/>
              </a:rPr>
              <a:t>¿Cómo funciona?</a:t>
            </a:r>
            <a:endParaRPr lang="en-US" sz="4800" dirty="0"/>
          </a:p>
        </p:txBody>
      </p:sp>
      <p:sp>
        <p:nvSpPr>
          <p:cNvPr id="4" name="Shape 2"/>
          <p:cNvSpPr/>
          <p:nvPr/>
        </p:nvSpPr>
        <p:spPr>
          <a:xfrm>
            <a:off x="1158240" y="1219200"/>
            <a:ext cx="1097280" cy="1097280"/>
          </a:xfrm>
          <a:prstGeom prst="ellipse">
            <a:avLst/>
          </a:prstGeom>
          <a:solidFill>
            <a:srgbClr val="7C3AED"/>
          </a:solidFill>
          <a:ln w="25400">
            <a:solidFill>
              <a:srgbClr val="E040FB"/>
            </a:solidFill>
            <a:prstDash val="solid"/>
          </a:ln>
        </p:spPr>
        <p:txBody>
          <a:bodyPr/>
          <a:lstStyle/>
          <a:p>
            <a:endParaRPr lang="es-ES" sz="2400"/>
          </a:p>
        </p:txBody>
      </p:sp>
      <p:sp>
        <p:nvSpPr>
          <p:cNvPr id="5" name="Text 3"/>
          <p:cNvSpPr/>
          <p:nvPr/>
        </p:nvSpPr>
        <p:spPr>
          <a:xfrm>
            <a:off x="1158240" y="1219200"/>
            <a:ext cx="1097280" cy="1097280"/>
          </a:xfrm>
          <a:prstGeom prst="rect">
            <a:avLst/>
          </a:prstGeom>
          <a:noFill/>
          <a:ln/>
        </p:spPr>
        <p:txBody>
          <a:bodyPr wrap="square" lIns="0" tIns="0" rIns="0" bIns="0" rtlCol="0" anchor="ctr"/>
          <a:lstStyle/>
          <a:p>
            <a:pPr algn="ctr"/>
            <a:r>
              <a:rPr lang="en-US" sz="2667" b="1" dirty="0">
                <a:solidFill>
                  <a:srgbClr val="F5F0FF"/>
                </a:solidFill>
              </a:rPr>
              <a:t>1</a:t>
            </a:r>
            <a:endParaRPr lang="en-US" sz="2667" dirty="0"/>
          </a:p>
        </p:txBody>
      </p:sp>
      <p:sp>
        <p:nvSpPr>
          <p:cNvPr id="6" name="Shape 4"/>
          <p:cNvSpPr/>
          <p:nvPr/>
        </p:nvSpPr>
        <p:spPr>
          <a:xfrm>
            <a:off x="2316480" y="1743456"/>
            <a:ext cx="548640" cy="0"/>
          </a:xfrm>
          <a:prstGeom prst="line">
            <a:avLst/>
          </a:prstGeom>
          <a:noFill/>
          <a:ln w="25400">
            <a:solidFill>
              <a:srgbClr val="E040FB"/>
            </a:solidFill>
            <a:prstDash val="solid"/>
          </a:ln>
        </p:spPr>
        <p:txBody>
          <a:bodyPr/>
          <a:lstStyle/>
          <a:p>
            <a:endParaRPr lang="es-ES" sz="2400"/>
          </a:p>
        </p:txBody>
      </p:sp>
      <p:sp>
        <p:nvSpPr>
          <p:cNvPr id="7" name="Shape 5"/>
          <p:cNvSpPr/>
          <p:nvPr/>
        </p:nvSpPr>
        <p:spPr>
          <a:xfrm>
            <a:off x="609600" y="2560320"/>
            <a:ext cx="2194560" cy="353568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8" name="Text 6"/>
          <p:cNvSpPr/>
          <p:nvPr/>
        </p:nvSpPr>
        <p:spPr>
          <a:xfrm>
            <a:off x="609600" y="2621280"/>
            <a:ext cx="2194560" cy="731520"/>
          </a:xfrm>
          <a:prstGeom prst="rect">
            <a:avLst/>
          </a:prstGeom>
          <a:noFill/>
          <a:ln/>
        </p:spPr>
        <p:txBody>
          <a:bodyPr wrap="square" lIns="0" tIns="0" rIns="0" bIns="0" rtlCol="0" anchor="ctr"/>
          <a:lstStyle/>
          <a:p>
            <a:pPr algn="ctr"/>
            <a:r>
              <a:rPr lang="en-US" sz="3200" dirty="0">
                <a:solidFill>
                  <a:srgbClr val="000000"/>
                </a:solidFill>
              </a:rPr>
              <a:t>📝</a:t>
            </a:r>
            <a:endParaRPr lang="en-US" sz="3200" dirty="0"/>
          </a:p>
        </p:txBody>
      </p:sp>
      <p:sp>
        <p:nvSpPr>
          <p:cNvPr id="9" name="Text 7"/>
          <p:cNvSpPr/>
          <p:nvPr/>
        </p:nvSpPr>
        <p:spPr>
          <a:xfrm>
            <a:off x="670560" y="3352800"/>
            <a:ext cx="2072640" cy="548640"/>
          </a:xfrm>
          <a:prstGeom prst="rect">
            <a:avLst/>
          </a:prstGeom>
          <a:noFill/>
          <a:ln/>
        </p:spPr>
        <p:txBody>
          <a:bodyPr wrap="square" lIns="0" tIns="0" rIns="0" bIns="0" rtlCol="0" anchor="ctr"/>
          <a:lstStyle/>
          <a:p>
            <a:pPr algn="ctr"/>
            <a:r>
              <a:rPr lang="en-US" sz="1600" b="1" dirty="0">
                <a:solidFill>
                  <a:srgbClr val="F472B6"/>
                </a:solidFill>
                <a:latin typeface="Trebuchet MS" pitchFamily="34" charset="0"/>
                <a:ea typeface="Trebuchet MS" pitchFamily="34" charset="-122"/>
                <a:cs typeface="Trebuchet MS" pitchFamily="34" charset="-120"/>
              </a:rPr>
              <a:t>Crear cuenta</a:t>
            </a:r>
            <a:endParaRPr lang="en-US" sz="1600" dirty="0"/>
          </a:p>
        </p:txBody>
      </p:sp>
      <p:sp>
        <p:nvSpPr>
          <p:cNvPr id="10" name="Text 8"/>
          <p:cNvSpPr/>
          <p:nvPr/>
        </p:nvSpPr>
        <p:spPr>
          <a:xfrm>
            <a:off x="694944" y="3925824"/>
            <a:ext cx="2011680" cy="1950720"/>
          </a:xfrm>
          <a:prstGeom prst="rect">
            <a:avLst/>
          </a:prstGeom>
          <a:noFill/>
          <a:ln/>
        </p:spPr>
        <p:txBody>
          <a:bodyPr wrap="square" lIns="0" tIns="0" rIns="0" bIns="0" rtlCol="0" anchor="ctr"/>
          <a:lstStyle/>
          <a:p>
            <a:pPr algn="ctr"/>
            <a:r>
              <a:rPr lang="en-US" sz="1333" dirty="0">
                <a:solidFill>
                  <a:srgbClr val="C4B5D8"/>
                </a:solidFill>
                <a:latin typeface="Calibri" pitchFamily="34" charset="0"/>
                <a:ea typeface="Calibri" pitchFamily="34" charset="-122"/>
                <a:cs typeface="Calibri" pitchFamily="34" charset="-120"/>
              </a:rPr>
              <a:t>Nombre, correo, contraseña y bio. Seleccionas tus tecnologías favoritas.</a:t>
            </a:r>
            <a:endParaRPr lang="en-US" sz="1333" dirty="0"/>
          </a:p>
        </p:txBody>
      </p:sp>
      <p:sp>
        <p:nvSpPr>
          <p:cNvPr id="11" name="Shape 9"/>
          <p:cNvSpPr/>
          <p:nvPr/>
        </p:nvSpPr>
        <p:spPr>
          <a:xfrm>
            <a:off x="3450336" y="1219200"/>
            <a:ext cx="1097280" cy="1097280"/>
          </a:xfrm>
          <a:prstGeom prst="ellipse">
            <a:avLst/>
          </a:prstGeom>
          <a:solidFill>
            <a:srgbClr val="7C3AED"/>
          </a:solidFill>
          <a:ln w="25400">
            <a:solidFill>
              <a:srgbClr val="E040FB"/>
            </a:solidFill>
            <a:prstDash val="solid"/>
          </a:ln>
        </p:spPr>
        <p:txBody>
          <a:bodyPr/>
          <a:lstStyle/>
          <a:p>
            <a:endParaRPr lang="es-ES" sz="2400"/>
          </a:p>
        </p:txBody>
      </p:sp>
      <p:sp>
        <p:nvSpPr>
          <p:cNvPr id="12" name="Text 10"/>
          <p:cNvSpPr/>
          <p:nvPr/>
        </p:nvSpPr>
        <p:spPr>
          <a:xfrm>
            <a:off x="3450336" y="1219200"/>
            <a:ext cx="1097280" cy="1097280"/>
          </a:xfrm>
          <a:prstGeom prst="rect">
            <a:avLst/>
          </a:prstGeom>
          <a:noFill/>
          <a:ln/>
        </p:spPr>
        <p:txBody>
          <a:bodyPr wrap="square" lIns="0" tIns="0" rIns="0" bIns="0" rtlCol="0" anchor="ctr"/>
          <a:lstStyle/>
          <a:p>
            <a:pPr algn="ctr"/>
            <a:r>
              <a:rPr lang="en-US" sz="2667" b="1" dirty="0">
                <a:solidFill>
                  <a:srgbClr val="F5F0FF"/>
                </a:solidFill>
              </a:rPr>
              <a:t>2</a:t>
            </a:r>
            <a:endParaRPr lang="en-US" sz="2667" dirty="0"/>
          </a:p>
        </p:txBody>
      </p:sp>
      <p:sp>
        <p:nvSpPr>
          <p:cNvPr id="13" name="Shape 11"/>
          <p:cNvSpPr/>
          <p:nvPr/>
        </p:nvSpPr>
        <p:spPr>
          <a:xfrm>
            <a:off x="4608576" y="1743456"/>
            <a:ext cx="548640" cy="0"/>
          </a:xfrm>
          <a:prstGeom prst="line">
            <a:avLst/>
          </a:prstGeom>
          <a:noFill/>
          <a:ln w="25400">
            <a:solidFill>
              <a:srgbClr val="E040FB"/>
            </a:solidFill>
            <a:prstDash val="solid"/>
          </a:ln>
        </p:spPr>
        <p:txBody>
          <a:bodyPr/>
          <a:lstStyle/>
          <a:p>
            <a:endParaRPr lang="es-ES" sz="2400"/>
          </a:p>
        </p:txBody>
      </p:sp>
      <p:sp>
        <p:nvSpPr>
          <p:cNvPr id="14" name="Shape 12"/>
          <p:cNvSpPr/>
          <p:nvPr/>
        </p:nvSpPr>
        <p:spPr>
          <a:xfrm>
            <a:off x="2901696" y="2560320"/>
            <a:ext cx="2194560" cy="353568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15" name="Text 13"/>
          <p:cNvSpPr/>
          <p:nvPr/>
        </p:nvSpPr>
        <p:spPr>
          <a:xfrm>
            <a:off x="2901696" y="2621280"/>
            <a:ext cx="2194560" cy="731520"/>
          </a:xfrm>
          <a:prstGeom prst="rect">
            <a:avLst/>
          </a:prstGeom>
          <a:noFill/>
          <a:ln/>
        </p:spPr>
        <p:txBody>
          <a:bodyPr wrap="square" lIns="0" tIns="0" rIns="0" bIns="0" rtlCol="0" anchor="ctr"/>
          <a:lstStyle/>
          <a:p>
            <a:pPr algn="ctr"/>
            <a:r>
              <a:rPr lang="en-US" sz="3200" dirty="0">
                <a:solidFill>
                  <a:srgbClr val="000000"/>
                </a:solidFill>
              </a:rPr>
              <a:t>🔑</a:t>
            </a:r>
            <a:endParaRPr lang="en-US" sz="3200" dirty="0"/>
          </a:p>
        </p:txBody>
      </p:sp>
      <p:sp>
        <p:nvSpPr>
          <p:cNvPr id="16" name="Text 14"/>
          <p:cNvSpPr/>
          <p:nvPr/>
        </p:nvSpPr>
        <p:spPr>
          <a:xfrm>
            <a:off x="2962656" y="3352800"/>
            <a:ext cx="2072640" cy="548640"/>
          </a:xfrm>
          <a:prstGeom prst="rect">
            <a:avLst/>
          </a:prstGeom>
          <a:noFill/>
          <a:ln/>
        </p:spPr>
        <p:txBody>
          <a:bodyPr wrap="square" lIns="0" tIns="0" rIns="0" bIns="0" rtlCol="0" anchor="ctr"/>
          <a:lstStyle/>
          <a:p>
            <a:pPr algn="ctr"/>
            <a:r>
              <a:rPr lang="en-US" sz="1600" b="1" dirty="0">
                <a:solidFill>
                  <a:srgbClr val="F472B6"/>
                </a:solidFill>
                <a:latin typeface="Trebuchet MS" pitchFamily="34" charset="0"/>
                <a:ea typeface="Trebuchet MS" pitchFamily="34" charset="-122"/>
                <a:cs typeface="Trebuchet MS" pitchFamily="34" charset="-120"/>
              </a:rPr>
              <a:t>Iniciar sesión</a:t>
            </a:r>
            <a:endParaRPr lang="en-US" sz="1600" dirty="0"/>
          </a:p>
        </p:txBody>
      </p:sp>
      <p:sp>
        <p:nvSpPr>
          <p:cNvPr id="17" name="Text 15"/>
          <p:cNvSpPr/>
          <p:nvPr/>
        </p:nvSpPr>
        <p:spPr>
          <a:xfrm>
            <a:off x="2987040" y="3925824"/>
            <a:ext cx="2011680" cy="1950720"/>
          </a:xfrm>
          <a:prstGeom prst="rect">
            <a:avLst/>
          </a:prstGeom>
          <a:noFill/>
          <a:ln/>
        </p:spPr>
        <p:txBody>
          <a:bodyPr wrap="square" lIns="0" tIns="0" rIns="0" bIns="0" rtlCol="0" anchor="ctr"/>
          <a:lstStyle/>
          <a:p>
            <a:pPr algn="ctr"/>
            <a:r>
              <a:rPr lang="en-US" sz="1333" dirty="0">
                <a:solidFill>
                  <a:srgbClr val="C4B5D8"/>
                </a:solidFill>
                <a:latin typeface="Calibri" pitchFamily="34" charset="0"/>
                <a:ea typeface="Calibri" pitchFamily="34" charset="-122"/>
                <a:cs typeface="Calibri" pitchFamily="34" charset="-120"/>
              </a:rPr>
              <a:t>Accedes con tu correo y contraseña. Tu sesión queda guardada.</a:t>
            </a:r>
            <a:endParaRPr lang="en-US" sz="1333" dirty="0"/>
          </a:p>
        </p:txBody>
      </p:sp>
      <p:sp>
        <p:nvSpPr>
          <p:cNvPr id="18" name="Shape 16"/>
          <p:cNvSpPr/>
          <p:nvPr/>
        </p:nvSpPr>
        <p:spPr>
          <a:xfrm>
            <a:off x="5742432" y="1219200"/>
            <a:ext cx="1097280" cy="1097280"/>
          </a:xfrm>
          <a:prstGeom prst="ellipse">
            <a:avLst/>
          </a:prstGeom>
          <a:solidFill>
            <a:srgbClr val="7C3AED"/>
          </a:solidFill>
          <a:ln w="25400">
            <a:solidFill>
              <a:srgbClr val="E040FB"/>
            </a:solidFill>
            <a:prstDash val="solid"/>
          </a:ln>
        </p:spPr>
        <p:txBody>
          <a:bodyPr/>
          <a:lstStyle/>
          <a:p>
            <a:endParaRPr lang="es-ES" sz="2400"/>
          </a:p>
        </p:txBody>
      </p:sp>
      <p:sp>
        <p:nvSpPr>
          <p:cNvPr id="19" name="Text 17"/>
          <p:cNvSpPr/>
          <p:nvPr/>
        </p:nvSpPr>
        <p:spPr>
          <a:xfrm>
            <a:off x="5742432" y="1219200"/>
            <a:ext cx="1097280" cy="1097280"/>
          </a:xfrm>
          <a:prstGeom prst="rect">
            <a:avLst/>
          </a:prstGeom>
          <a:noFill/>
          <a:ln/>
        </p:spPr>
        <p:txBody>
          <a:bodyPr wrap="square" lIns="0" tIns="0" rIns="0" bIns="0" rtlCol="0" anchor="ctr"/>
          <a:lstStyle/>
          <a:p>
            <a:pPr algn="ctr"/>
            <a:r>
              <a:rPr lang="en-US" sz="2667" b="1" dirty="0">
                <a:solidFill>
                  <a:srgbClr val="F5F0FF"/>
                </a:solidFill>
              </a:rPr>
              <a:t>3</a:t>
            </a:r>
            <a:endParaRPr lang="en-US" sz="2667" dirty="0"/>
          </a:p>
        </p:txBody>
      </p:sp>
      <p:sp>
        <p:nvSpPr>
          <p:cNvPr id="20" name="Shape 18"/>
          <p:cNvSpPr/>
          <p:nvPr/>
        </p:nvSpPr>
        <p:spPr>
          <a:xfrm>
            <a:off x="6900672" y="1743456"/>
            <a:ext cx="548640" cy="0"/>
          </a:xfrm>
          <a:prstGeom prst="line">
            <a:avLst/>
          </a:prstGeom>
          <a:noFill/>
          <a:ln w="25400">
            <a:solidFill>
              <a:srgbClr val="E040FB"/>
            </a:solidFill>
            <a:prstDash val="solid"/>
          </a:ln>
        </p:spPr>
        <p:txBody>
          <a:bodyPr/>
          <a:lstStyle/>
          <a:p>
            <a:endParaRPr lang="es-ES" sz="2400"/>
          </a:p>
        </p:txBody>
      </p:sp>
      <p:sp>
        <p:nvSpPr>
          <p:cNvPr id="21" name="Shape 19"/>
          <p:cNvSpPr/>
          <p:nvPr/>
        </p:nvSpPr>
        <p:spPr>
          <a:xfrm>
            <a:off x="5193792" y="2560320"/>
            <a:ext cx="2194560" cy="353568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22" name="Text 20"/>
          <p:cNvSpPr/>
          <p:nvPr/>
        </p:nvSpPr>
        <p:spPr>
          <a:xfrm>
            <a:off x="5193792" y="2621280"/>
            <a:ext cx="2194560" cy="731520"/>
          </a:xfrm>
          <a:prstGeom prst="rect">
            <a:avLst/>
          </a:prstGeom>
          <a:noFill/>
          <a:ln/>
        </p:spPr>
        <p:txBody>
          <a:bodyPr wrap="square" lIns="0" tIns="0" rIns="0" bIns="0" rtlCol="0" anchor="ctr"/>
          <a:lstStyle/>
          <a:p>
            <a:pPr algn="ctr"/>
            <a:r>
              <a:rPr lang="en-US" sz="3200" dirty="0">
                <a:solidFill>
                  <a:srgbClr val="000000"/>
                </a:solidFill>
              </a:rPr>
              <a:t>👀</a:t>
            </a:r>
            <a:endParaRPr lang="en-US" sz="3200" dirty="0"/>
          </a:p>
        </p:txBody>
      </p:sp>
      <p:sp>
        <p:nvSpPr>
          <p:cNvPr id="23" name="Text 21"/>
          <p:cNvSpPr/>
          <p:nvPr/>
        </p:nvSpPr>
        <p:spPr>
          <a:xfrm>
            <a:off x="5254752" y="3352800"/>
            <a:ext cx="2072640" cy="548640"/>
          </a:xfrm>
          <a:prstGeom prst="rect">
            <a:avLst/>
          </a:prstGeom>
          <a:noFill/>
          <a:ln/>
        </p:spPr>
        <p:txBody>
          <a:bodyPr wrap="square" lIns="0" tIns="0" rIns="0" bIns="0" rtlCol="0" anchor="ctr"/>
          <a:lstStyle/>
          <a:p>
            <a:pPr algn="ctr"/>
            <a:r>
              <a:rPr lang="en-US" sz="1600" b="1" dirty="0">
                <a:solidFill>
                  <a:srgbClr val="F472B6"/>
                </a:solidFill>
                <a:latin typeface="Trebuchet MS" pitchFamily="34" charset="0"/>
                <a:ea typeface="Trebuchet MS" pitchFamily="34" charset="-122"/>
                <a:cs typeface="Trebuchet MS" pitchFamily="34" charset="-120"/>
              </a:rPr>
              <a:t>Explorar perfiles</a:t>
            </a:r>
            <a:endParaRPr lang="en-US" sz="1600" dirty="0"/>
          </a:p>
        </p:txBody>
      </p:sp>
      <p:sp>
        <p:nvSpPr>
          <p:cNvPr id="24" name="Text 22"/>
          <p:cNvSpPr/>
          <p:nvPr/>
        </p:nvSpPr>
        <p:spPr>
          <a:xfrm>
            <a:off x="5279136" y="3925824"/>
            <a:ext cx="2011680" cy="1950720"/>
          </a:xfrm>
          <a:prstGeom prst="rect">
            <a:avLst/>
          </a:prstGeom>
          <a:noFill/>
          <a:ln/>
        </p:spPr>
        <p:txBody>
          <a:bodyPr wrap="square" lIns="0" tIns="0" rIns="0" bIns="0" rtlCol="0" anchor="ctr"/>
          <a:lstStyle/>
          <a:p>
            <a:pPr algn="ctr"/>
            <a:r>
              <a:rPr lang="en-US" sz="1333" dirty="0">
                <a:solidFill>
                  <a:srgbClr val="C4B5D8"/>
                </a:solidFill>
                <a:latin typeface="Calibri" pitchFamily="34" charset="0"/>
                <a:ea typeface="Calibri" pitchFamily="34" charset="-122"/>
                <a:cs typeface="Calibri" pitchFamily="34" charset="-120"/>
              </a:rPr>
              <a:t>Ves tarjetas de otros devs con su nombre, bio y tecnologías. Desliza o usa botones.</a:t>
            </a:r>
            <a:endParaRPr lang="en-US" sz="1333" dirty="0"/>
          </a:p>
        </p:txBody>
      </p:sp>
      <p:sp>
        <p:nvSpPr>
          <p:cNvPr id="25" name="Shape 23"/>
          <p:cNvSpPr/>
          <p:nvPr/>
        </p:nvSpPr>
        <p:spPr>
          <a:xfrm>
            <a:off x="8034528" y="1219200"/>
            <a:ext cx="1097280" cy="1097280"/>
          </a:xfrm>
          <a:prstGeom prst="ellipse">
            <a:avLst/>
          </a:prstGeom>
          <a:solidFill>
            <a:srgbClr val="7C3AED"/>
          </a:solidFill>
          <a:ln w="25400">
            <a:solidFill>
              <a:srgbClr val="E040FB"/>
            </a:solidFill>
            <a:prstDash val="solid"/>
          </a:ln>
        </p:spPr>
        <p:txBody>
          <a:bodyPr/>
          <a:lstStyle/>
          <a:p>
            <a:endParaRPr lang="es-ES" sz="2400"/>
          </a:p>
        </p:txBody>
      </p:sp>
      <p:sp>
        <p:nvSpPr>
          <p:cNvPr id="26" name="Text 24"/>
          <p:cNvSpPr/>
          <p:nvPr/>
        </p:nvSpPr>
        <p:spPr>
          <a:xfrm>
            <a:off x="8034528" y="1219200"/>
            <a:ext cx="1097280" cy="1097280"/>
          </a:xfrm>
          <a:prstGeom prst="rect">
            <a:avLst/>
          </a:prstGeom>
          <a:noFill/>
          <a:ln/>
        </p:spPr>
        <p:txBody>
          <a:bodyPr wrap="square" lIns="0" tIns="0" rIns="0" bIns="0" rtlCol="0" anchor="ctr"/>
          <a:lstStyle/>
          <a:p>
            <a:pPr algn="ctr"/>
            <a:r>
              <a:rPr lang="en-US" sz="2667" b="1" dirty="0">
                <a:solidFill>
                  <a:srgbClr val="F5F0FF"/>
                </a:solidFill>
              </a:rPr>
              <a:t>4</a:t>
            </a:r>
            <a:endParaRPr lang="en-US" sz="2667" dirty="0"/>
          </a:p>
        </p:txBody>
      </p:sp>
      <p:sp>
        <p:nvSpPr>
          <p:cNvPr id="27" name="Shape 25"/>
          <p:cNvSpPr/>
          <p:nvPr/>
        </p:nvSpPr>
        <p:spPr>
          <a:xfrm>
            <a:off x="9192768" y="1743456"/>
            <a:ext cx="548640" cy="0"/>
          </a:xfrm>
          <a:prstGeom prst="line">
            <a:avLst/>
          </a:prstGeom>
          <a:noFill/>
          <a:ln w="25400">
            <a:solidFill>
              <a:srgbClr val="E040FB"/>
            </a:solidFill>
            <a:prstDash val="solid"/>
          </a:ln>
        </p:spPr>
        <p:txBody>
          <a:bodyPr/>
          <a:lstStyle/>
          <a:p>
            <a:endParaRPr lang="es-ES" sz="2400"/>
          </a:p>
        </p:txBody>
      </p:sp>
      <p:sp>
        <p:nvSpPr>
          <p:cNvPr id="28" name="Shape 26"/>
          <p:cNvSpPr/>
          <p:nvPr/>
        </p:nvSpPr>
        <p:spPr>
          <a:xfrm>
            <a:off x="7485888" y="2560320"/>
            <a:ext cx="2194560" cy="353568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29" name="Text 27"/>
          <p:cNvSpPr/>
          <p:nvPr/>
        </p:nvSpPr>
        <p:spPr>
          <a:xfrm>
            <a:off x="7485888" y="2621280"/>
            <a:ext cx="2194560" cy="731520"/>
          </a:xfrm>
          <a:prstGeom prst="rect">
            <a:avLst/>
          </a:prstGeom>
          <a:noFill/>
          <a:ln/>
        </p:spPr>
        <p:txBody>
          <a:bodyPr wrap="square" lIns="0" tIns="0" rIns="0" bIns="0" rtlCol="0" anchor="ctr"/>
          <a:lstStyle/>
          <a:p>
            <a:pPr algn="ctr"/>
            <a:r>
              <a:rPr lang="en-US" sz="3200" dirty="0">
                <a:solidFill>
                  <a:srgbClr val="000000"/>
                </a:solidFill>
              </a:rPr>
              <a:t>❤️</a:t>
            </a:r>
            <a:endParaRPr lang="en-US" sz="3200" dirty="0"/>
          </a:p>
        </p:txBody>
      </p:sp>
      <p:sp>
        <p:nvSpPr>
          <p:cNvPr id="30" name="Text 28"/>
          <p:cNvSpPr/>
          <p:nvPr/>
        </p:nvSpPr>
        <p:spPr>
          <a:xfrm>
            <a:off x="7546848" y="3352800"/>
            <a:ext cx="2072640" cy="548640"/>
          </a:xfrm>
          <a:prstGeom prst="rect">
            <a:avLst/>
          </a:prstGeom>
          <a:noFill/>
          <a:ln/>
        </p:spPr>
        <p:txBody>
          <a:bodyPr wrap="square" lIns="0" tIns="0" rIns="0" bIns="0" rtlCol="0" anchor="ctr"/>
          <a:lstStyle/>
          <a:p>
            <a:pPr algn="ctr"/>
            <a:r>
              <a:rPr lang="en-US" sz="1600" b="1" dirty="0">
                <a:solidFill>
                  <a:srgbClr val="F472B6"/>
                </a:solidFill>
                <a:latin typeface="Trebuchet MS" pitchFamily="34" charset="0"/>
                <a:ea typeface="Trebuchet MS" pitchFamily="34" charset="-122"/>
                <a:cs typeface="Trebuchet MS" pitchFamily="34" charset="-120"/>
              </a:rPr>
              <a:t>Dar like</a:t>
            </a:r>
            <a:endParaRPr lang="en-US" sz="1600" dirty="0"/>
          </a:p>
        </p:txBody>
      </p:sp>
      <p:sp>
        <p:nvSpPr>
          <p:cNvPr id="31" name="Text 29"/>
          <p:cNvSpPr/>
          <p:nvPr/>
        </p:nvSpPr>
        <p:spPr>
          <a:xfrm>
            <a:off x="7571232" y="3925824"/>
            <a:ext cx="2011680" cy="1950720"/>
          </a:xfrm>
          <a:prstGeom prst="rect">
            <a:avLst/>
          </a:prstGeom>
          <a:noFill/>
          <a:ln/>
        </p:spPr>
        <p:txBody>
          <a:bodyPr wrap="square" lIns="0" tIns="0" rIns="0" bIns="0" rtlCol="0" anchor="ctr"/>
          <a:lstStyle/>
          <a:p>
            <a:pPr algn="ctr"/>
            <a:r>
              <a:rPr lang="en-US" sz="1333" dirty="0">
                <a:solidFill>
                  <a:srgbClr val="C4B5D8"/>
                </a:solidFill>
                <a:latin typeface="Calibri" pitchFamily="34" charset="0"/>
                <a:ea typeface="Calibri" pitchFamily="34" charset="-122"/>
                <a:cs typeface="Calibri" pitchFamily="34" charset="-120"/>
              </a:rPr>
              <a:t>Si te gusta un perfil, le das like. Si la otra persona también te lo da...</a:t>
            </a:r>
            <a:endParaRPr lang="en-US" sz="1333" dirty="0"/>
          </a:p>
        </p:txBody>
      </p:sp>
      <p:sp>
        <p:nvSpPr>
          <p:cNvPr id="32" name="Shape 30"/>
          <p:cNvSpPr/>
          <p:nvPr/>
        </p:nvSpPr>
        <p:spPr>
          <a:xfrm>
            <a:off x="10326624" y="1219200"/>
            <a:ext cx="1097280" cy="1097280"/>
          </a:xfrm>
          <a:prstGeom prst="ellipse">
            <a:avLst/>
          </a:prstGeom>
          <a:solidFill>
            <a:srgbClr val="7C3AED"/>
          </a:solidFill>
          <a:ln w="25400">
            <a:solidFill>
              <a:srgbClr val="E040FB"/>
            </a:solidFill>
            <a:prstDash val="solid"/>
          </a:ln>
        </p:spPr>
        <p:txBody>
          <a:bodyPr/>
          <a:lstStyle/>
          <a:p>
            <a:endParaRPr lang="es-ES" sz="2400"/>
          </a:p>
        </p:txBody>
      </p:sp>
      <p:sp>
        <p:nvSpPr>
          <p:cNvPr id="33" name="Text 31"/>
          <p:cNvSpPr/>
          <p:nvPr/>
        </p:nvSpPr>
        <p:spPr>
          <a:xfrm>
            <a:off x="10326624" y="1219200"/>
            <a:ext cx="1097280" cy="1097280"/>
          </a:xfrm>
          <a:prstGeom prst="rect">
            <a:avLst/>
          </a:prstGeom>
          <a:noFill/>
          <a:ln/>
        </p:spPr>
        <p:txBody>
          <a:bodyPr wrap="square" lIns="0" tIns="0" rIns="0" bIns="0" rtlCol="0" anchor="ctr"/>
          <a:lstStyle/>
          <a:p>
            <a:pPr algn="ctr"/>
            <a:r>
              <a:rPr lang="en-US" sz="2667" b="1" dirty="0">
                <a:solidFill>
                  <a:srgbClr val="F5F0FF"/>
                </a:solidFill>
              </a:rPr>
              <a:t>5</a:t>
            </a:r>
            <a:endParaRPr lang="en-US" sz="2667" dirty="0"/>
          </a:p>
        </p:txBody>
      </p:sp>
      <p:sp>
        <p:nvSpPr>
          <p:cNvPr id="34" name="Shape 32"/>
          <p:cNvSpPr/>
          <p:nvPr/>
        </p:nvSpPr>
        <p:spPr>
          <a:xfrm>
            <a:off x="9777984" y="2560320"/>
            <a:ext cx="2194560" cy="353568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35" name="Text 33"/>
          <p:cNvSpPr/>
          <p:nvPr/>
        </p:nvSpPr>
        <p:spPr>
          <a:xfrm>
            <a:off x="9777984" y="2621280"/>
            <a:ext cx="2194560" cy="731520"/>
          </a:xfrm>
          <a:prstGeom prst="rect">
            <a:avLst/>
          </a:prstGeom>
          <a:noFill/>
          <a:ln/>
        </p:spPr>
        <p:txBody>
          <a:bodyPr wrap="square" lIns="0" tIns="0" rIns="0" bIns="0" rtlCol="0" anchor="ctr"/>
          <a:lstStyle/>
          <a:p>
            <a:pPr algn="ctr"/>
            <a:r>
              <a:rPr lang="en-US" sz="3200" dirty="0">
                <a:solidFill>
                  <a:srgbClr val="000000"/>
                </a:solidFill>
              </a:rPr>
              <a:t>💞</a:t>
            </a:r>
            <a:endParaRPr lang="en-US" sz="3200" dirty="0"/>
          </a:p>
        </p:txBody>
      </p:sp>
      <p:sp>
        <p:nvSpPr>
          <p:cNvPr id="36" name="Text 34"/>
          <p:cNvSpPr/>
          <p:nvPr/>
        </p:nvSpPr>
        <p:spPr>
          <a:xfrm>
            <a:off x="9838944" y="3352800"/>
            <a:ext cx="2072640" cy="548640"/>
          </a:xfrm>
          <a:prstGeom prst="rect">
            <a:avLst/>
          </a:prstGeom>
          <a:noFill/>
          <a:ln/>
        </p:spPr>
        <p:txBody>
          <a:bodyPr wrap="square" lIns="0" tIns="0" rIns="0" bIns="0" rtlCol="0" anchor="ctr"/>
          <a:lstStyle/>
          <a:p>
            <a:pPr algn="ctr"/>
            <a:r>
              <a:rPr lang="en-US" sz="1600" b="1" dirty="0">
                <a:solidFill>
                  <a:srgbClr val="F472B6"/>
                </a:solidFill>
                <a:latin typeface="Trebuchet MS" pitchFamily="34" charset="0"/>
                <a:ea typeface="Trebuchet MS" pitchFamily="34" charset="-122"/>
                <a:cs typeface="Trebuchet MS" pitchFamily="34" charset="-120"/>
              </a:rPr>
              <a:t>¡Es un Match!</a:t>
            </a:r>
            <a:endParaRPr lang="en-US" sz="1600" dirty="0"/>
          </a:p>
        </p:txBody>
      </p:sp>
      <p:sp>
        <p:nvSpPr>
          <p:cNvPr id="37" name="Text 35"/>
          <p:cNvSpPr/>
          <p:nvPr/>
        </p:nvSpPr>
        <p:spPr>
          <a:xfrm>
            <a:off x="9863328" y="3925824"/>
            <a:ext cx="2011680" cy="1950720"/>
          </a:xfrm>
          <a:prstGeom prst="rect">
            <a:avLst/>
          </a:prstGeom>
          <a:noFill/>
          <a:ln/>
        </p:spPr>
        <p:txBody>
          <a:bodyPr wrap="square" lIns="0" tIns="0" rIns="0" bIns="0" rtlCol="0" anchor="ctr"/>
          <a:lstStyle/>
          <a:p>
            <a:pPr algn="ctr"/>
            <a:r>
              <a:rPr lang="en-US" sz="1333" dirty="0">
                <a:solidFill>
                  <a:srgbClr val="C4B5D8"/>
                </a:solidFill>
                <a:latin typeface="Calibri" pitchFamily="34" charset="0"/>
                <a:ea typeface="Calibri" pitchFamily="34" charset="-122"/>
                <a:cs typeface="Calibri" pitchFamily="34" charset="-120"/>
              </a:rPr>
              <a:t>¡Conexión establecida! Aparece en tu página de matches.</a:t>
            </a:r>
            <a:endParaRPr lang="en-US" sz="1333"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A855F7"/>
          </a:solidFill>
          <a:ln w="12700">
            <a:solidFill>
              <a:srgbClr val="A855F7"/>
            </a:solidFill>
            <a:prstDash val="solid"/>
          </a:ln>
        </p:spPr>
        <p:txBody>
          <a:bodyPr/>
          <a:lstStyle/>
          <a:p>
            <a:endParaRPr lang="es-ES" sz="2400"/>
          </a:p>
        </p:txBody>
      </p:sp>
      <p:sp>
        <p:nvSpPr>
          <p:cNvPr id="3" name="Text 1"/>
          <p:cNvSpPr/>
          <p:nvPr/>
        </p:nvSpPr>
        <p:spPr>
          <a:xfrm>
            <a:off x="609600" y="219456"/>
            <a:ext cx="10972800" cy="914400"/>
          </a:xfrm>
          <a:prstGeom prst="rect">
            <a:avLst/>
          </a:prstGeom>
          <a:noFill/>
          <a:ln/>
        </p:spPr>
        <p:txBody>
          <a:bodyPr wrap="square" lIns="0" tIns="0" rIns="0" bIns="0" rtlCol="0" anchor="ctr"/>
          <a:lstStyle/>
          <a:p>
            <a:r>
              <a:rPr lang="en-US" sz="4800" b="1" dirty="0">
                <a:solidFill>
                  <a:srgbClr val="F5F0FF"/>
                </a:solidFill>
                <a:latin typeface="Trebuchet MS" pitchFamily="34" charset="0"/>
                <a:ea typeface="Trebuchet MS" pitchFamily="34" charset="-122"/>
                <a:cs typeface="Trebuchet MS" pitchFamily="34" charset="-120"/>
              </a:rPr>
              <a:t>Las pantallas de la aplicación</a:t>
            </a:r>
            <a:endParaRPr lang="en-US" sz="4800" dirty="0"/>
          </a:p>
        </p:txBody>
      </p:sp>
      <p:sp>
        <p:nvSpPr>
          <p:cNvPr id="4" name="Shape 2"/>
          <p:cNvSpPr/>
          <p:nvPr/>
        </p:nvSpPr>
        <p:spPr>
          <a:xfrm>
            <a:off x="609600" y="121920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5" name="Text 3"/>
          <p:cNvSpPr/>
          <p:nvPr/>
        </p:nvSpPr>
        <p:spPr>
          <a:xfrm>
            <a:off x="609600" y="134112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6" name="Text 4"/>
          <p:cNvSpPr/>
          <p:nvPr/>
        </p:nvSpPr>
        <p:spPr>
          <a:xfrm>
            <a:off x="731520" y="2133600"/>
            <a:ext cx="3169920" cy="463296"/>
          </a:xfrm>
          <a:prstGeom prst="rect">
            <a:avLst/>
          </a:prstGeom>
          <a:noFill/>
          <a:ln/>
        </p:spPr>
        <p:txBody>
          <a:bodyPr wrap="square" lIns="0" tIns="0" rIns="0" bIns="0" rtlCol="0" anchor="ctr"/>
          <a:lstStyle/>
          <a:p>
            <a:pPr algn="ctr"/>
            <a:r>
              <a:rPr lang="en-US" sz="1867" b="1" dirty="0">
                <a:solidFill>
                  <a:srgbClr val="A855F7"/>
                </a:solidFill>
              </a:rPr>
              <a:t>Inicio</a:t>
            </a:r>
            <a:endParaRPr lang="en-US" sz="1867" dirty="0"/>
          </a:p>
        </p:txBody>
      </p:sp>
      <p:sp>
        <p:nvSpPr>
          <p:cNvPr id="7" name="Text 5"/>
          <p:cNvSpPr/>
          <p:nvPr/>
        </p:nvSpPr>
        <p:spPr>
          <a:xfrm>
            <a:off x="731520" y="259689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Portada con botones para iniciar sesión o registrarse</a:t>
            </a:r>
            <a:endParaRPr lang="en-US" sz="1467" dirty="0"/>
          </a:p>
        </p:txBody>
      </p:sp>
      <p:sp>
        <p:nvSpPr>
          <p:cNvPr id="8" name="Shape 6"/>
          <p:cNvSpPr/>
          <p:nvPr/>
        </p:nvSpPr>
        <p:spPr>
          <a:xfrm>
            <a:off x="4389120" y="121920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9" name="Text 7"/>
          <p:cNvSpPr/>
          <p:nvPr/>
        </p:nvSpPr>
        <p:spPr>
          <a:xfrm>
            <a:off x="4389120" y="134112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10" name="Text 8"/>
          <p:cNvSpPr/>
          <p:nvPr/>
        </p:nvSpPr>
        <p:spPr>
          <a:xfrm>
            <a:off x="4511040" y="2133600"/>
            <a:ext cx="3169920" cy="463296"/>
          </a:xfrm>
          <a:prstGeom prst="rect">
            <a:avLst/>
          </a:prstGeom>
          <a:noFill/>
          <a:ln/>
        </p:spPr>
        <p:txBody>
          <a:bodyPr wrap="square" lIns="0" tIns="0" rIns="0" bIns="0" rtlCol="0" anchor="ctr"/>
          <a:lstStyle/>
          <a:p>
            <a:pPr algn="ctr"/>
            <a:r>
              <a:rPr lang="en-US" sz="1867" b="1" dirty="0">
                <a:solidFill>
                  <a:srgbClr val="A855F7"/>
                </a:solidFill>
              </a:rPr>
              <a:t>Login</a:t>
            </a:r>
            <a:endParaRPr lang="en-US" sz="1867" dirty="0"/>
          </a:p>
        </p:txBody>
      </p:sp>
      <p:sp>
        <p:nvSpPr>
          <p:cNvPr id="11" name="Text 9"/>
          <p:cNvSpPr/>
          <p:nvPr/>
        </p:nvSpPr>
        <p:spPr>
          <a:xfrm>
            <a:off x="4511040" y="259689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Formulario de correo y contraseña</a:t>
            </a:r>
            <a:endParaRPr lang="en-US" sz="1467" dirty="0"/>
          </a:p>
        </p:txBody>
      </p:sp>
      <p:sp>
        <p:nvSpPr>
          <p:cNvPr id="12" name="Shape 10"/>
          <p:cNvSpPr/>
          <p:nvPr/>
        </p:nvSpPr>
        <p:spPr>
          <a:xfrm>
            <a:off x="8168640" y="121920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13" name="Text 11"/>
          <p:cNvSpPr/>
          <p:nvPr/>
        </p:nvSpPr>
        <p:spPr>
          <a:xfrm>
            <a:off x="8168640" y="134112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14" name="Text 12"/>
          <p:cNvSpPr/>
          <p:nvPr/>
        </p:nvSpPr>
        <p:spPr>
          <a:xfrm>
            <a:off x="8290560" y="2133600"/>
            <a:ext cx="3169920" cy="463296"/>
          </a:xfrm>
          <a:prstGeom prst="rect">
            <a:avLst/>
          </a:prstGeom>
          <a:noFill/>
          <a:ln/>
        </p:spPr>
        <p:txBody>
          <a:bodyPr wrap="square" lIns="0" tIns="0" rIns="0" bIns="0" rtlCol="0" anchor="ctr"/>
          <a:lstStyle/>
          <a:p>
            <a:pPr algn="ctr"/>
            <a:r>
              <a:rPr lang="en-US" sz="1867" b="1" dirty="0">
                <a:solidFill>
                  <a:srgbClr val="A855F7"/>
                </a:solidFill>
              </a:rPr>
              <a:t>Registro</a:t>
            </a:r>
            <a:endParaRPr lang="en-US" sz="1867" dirty="0"/>
          </a:p>
        </p:txBody>
      </p:sp>
      <p:sp>
        <p:nvSpPr>
          <p:cNvPr id="15" name="Text 13"/>
          <p:cNvSpPr/>
          <p:nvPr/>
        </p:nvSpPr>
        <p:spPr>
          <a:xfrm>
            <a:off x="8290560" y="259689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Formulario completo con selector de tecnologías en chips</a:t>
            </a:r>
            <a:endParaRPr lang="en-US" sz="1467" dirty="0"/>
          </a:p>
        </p:txBody>
      </p:sp>
      <p:sp>
        <p:nvSpPr>
          <p:cNvPr id="16" name="Shape 14"/>
          <p:cNvSpPr/>
          <p:nvPr/>
        </p:nvSpPr>
        <p:spPr>
          <a:xfrm>
            <a:off x="609600" y="390144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17" name="Text 15"/>
          <p:cNvSpPr/>
          <p:nvPr/>
        </p:nvSpPr>
        <p:spPr>
          <a:xfrm>
            <a:off x="609600" y="402336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18" name="Text 16"/>
          <p:cNvSpPr/>
          <p:nvPr/>
        </p:nvSpPr>
        <p:spPr>
          <a:xfrm>
            <a:off x="731520" y="4815840"/>
            <a:ext cx="3169920" cy="463296"/>
          </a:xfrm>
          <a:prstGeom prst="rect">
            <a:avLst/>
          </a:prstGeom>
          <a:noFill/>
          <a:ln/>
        </p:spPr>
        <p:txBody>
          <a:bodyPr wrap="square" lIns="0" tIns="0" rIns="0" bIns="0" rtlCol="0" anchor="ctr"/>
          <a:lstStyle/>
          <a:p>
            <a:pPr algn="ctr"/>
            <a:r>
              <a:rPr lang="en-US" sz="1867" b="1" dirty="0">
                <a:solidFill>
                  <a:srgbClr val="A855F7"/>
                </a:solidFill>
              </a:rPr>
              <a:t>Dashboard</a:t>
            </a:r>
            <a:endParaRPr lang="en-US" sz="1867" dirty="0"/>
          </a:p>
        </p:txBody>
      </p:sp>
      <p:sp>
        <p:nvSpPr>
          <p:cNvPr id="19" name="Text 17"/>
          <p:cNvSpPr/>
          <p:nvPr/>
        </p:nvSpPr>
        <p:spPr>
          <a:xfrm>
            <a:off x="731520" y="527913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Pila de tarjetas de perfiles. Swipe o botones ✕ ❤️ ↺</a:t>
            </a:r>
            <a:endParaRPr lang="en-US" sz="1467" dirty="0"/>
          </a:p>
        </p:txBody>
      </p:sp>
      <p:sp>
        <p:nvSpPr>
          <p:cNvPr id="20" name="Shape 18"/>
          <p:cNvSpPr/>
          <p:nvPr/>
        </p:nvSpPr>
        <p:spPr>
          <a:xfrm>
            <a:off x="4389120" y="390144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21" name="Text 19"/>
          <p:cNvSpPr/>
          <p:nvPr/>
        </p:nvSpPr>
        <p:spPr>
          <a:xfrm>
            <a:off x="4389120" y="402336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22" name="Text 20"/>
          <p:cNvSpPr/>
          <p:nvPr/>
        </p:nvSpPr>
        <p:spPr>
          <a:xfrm>
            <a:off x="4511040" y="4815840"/>
            <a:ext cx="3169920" cy="463296"/>
          </a:xfrm>
          <a:prstGeom prst="rect">
            <a:avLst/>
          </a:prstGeom>
          <a:noFill/>
          <a:ln/>
        </p:spPr>
        <p:txBody>
          <a:bodyPr wrap="square" lIns="0" tIns="0" rIns="0" bIns="0" rtlCol="0" anchor="ctr"/>
          <a:lstStyle/>
          <a:p>
            <a:pPr algn="ctr"/>
            <a:r>
              <a:rPr lang="en-US" sz="1867" b="1" dirty="0">
                <a:solidFill>
                  <a:srgbClr val="A855F7"/>
                </a:solidFill>
              </a:rPr>
              <a:t>Matches</a:t>
            </a:r>
            <a:endParaRPr lang="en-US" sz="1867" dirty="0"/>
          </a:p>
        </p:txBody>
      </p:sp>
      <p:sp>
        <p:nvSpPr>
          <p:cNvPr id="23" name="Text 21"/>
          <p:cNvSpPr/>
          <p:nvPr/>
        </p:nvSpPr>
        <p:spPr>
          <a:xfrm>
            <a:off x="4511040" y="527913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Lista de todos los devs con quienes hiciste match</a:t>
            </a:r>
            <a:endParaRPr lang="en-US" sz="146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Imagen 29">
            <a:extLst>
              <a:ext uri="{FF2B5EF4-FFF2-40B4-BE49-F238E27FC236}">
                <a16:creationId xmlns:a16="http://schemas.microsoft.com/office/drawing/2014/main" id="{845FDAED-2A43-A5B2-A44F-5674CAAE91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9575"/>
            <a:ext cx="12192000" cy="6038850"/>
          </a:xfrm>
          <a:prstGeom prst="rect">
            <a:avLst/>
          </a:prstGeom>
        </p:spPr>
      </p:pic>
    </p:spTree>
    <p:extLst>
      <p:ext uri="{BB962C8B-B14F-4D97-AF65-F5344CB8AC3E}">
        <p14:creationId xmlns:p14="http://schemas.microsoft.com/office/powerpoint/2010/main" val="2268155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4EE3A-BDD9-E510-5381-509C860488B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3ECA923-8090-7F72-9414-7B75E0333CC8}"/>
              </a:ext>
            </a:extLst>
          </p:cNvPr>
          <p:cNvSpPr/>
          <p:nvPr/>
        </p:nvSpPr>
        <p:spPr>
          <a:xfrm>
            <a:off x="0" y="0"/>
            <a:ext cx="12192000" cy="73152"/>
          </a:xfrm>
          <a:prstGeom prst="rect">
            <a:avLst/>
          </a:prstGeom>
          <a:solidFill>
            <a:srgbClr val="A855F7"/>
          </a:solidFill>
          <a:ln w="12700">
            <a:solidFill>
              <a:srgbClr val="A855F7"/>
            </a:solidFill>
            <a:prstDash val="solid"/>
          </a:ln>
        </p:spPr>
        <p:txBody>
          <a:bodyPr/>
          <a:lstStyle/>
          <a:p>
            <a:endParaRPr lang="es-ES" sz="2400"/>
          </a:p>
        </p:txBody>
      </p:sp>
      <p:sp>
        <p:nvSpPr>
          <p:cNvPr id="3" name="Text 1">
            <a:extLst>
              <a:ext uri="{FF2B5EF4-FFF2-40B4-BE49-F238E27FC236}">
                <a16:creationId xmlns:a16="http://schemas.microsoft.com/office/drawing/2014/main" id="{CFFEF3F8-EEDA-2281-A5FF-20AF3D8D0C65}"/>
              </a:ext>
            </a:extLst>
          </p:cNvPr>
          <p:cNvSpPr/>
          <p:nvPr/>
        </p:nvSpPr>
        <p:spPr>
          <a:xfrm>
            <a:off x="609600" y="219456"/>
            <a:ext cx="10972800" cy="914400"/>
          </a:xfrm>
          <a:prstGeom prst="rect">
            <a:avLst/>
          </a:prstGeom>
          <a:noFill/>
          <a:ln/>
        </p:spPr>
        <p:txBody>
          <a:bodyPr wrap="square" lIns="0" tIns="0" rIns="0" bIns="0" rtlCol="0" anchor="ctr"/>
          <a:lstStyle/>
          <a:p>
            <a:r>
              <a:rPr lang="en-US" sz="4800" b="1" dirty="0">
                <a:solidFill>
                  <a:srgbClr val="F5F0FF"/>
                </a:solidFill>
                <a:latin typeface="Trebuchet MS" pitchFamily="34" charset="0"/>
                <a:ea typeface="Trebuchet MS" pitchFamily="34" charset="-122"/>
                <a:cs typeface="Trebuchet MS" pitchFamily="34" charset="-120"/>
              </a:rPr>
              <a:t>Las pantallas de la aplicación</a:t>
            </a:r>
            <a:endParaRPr lang="en-US" sz="4800" dirty="0"/>
          </a:p>
        </p:txBody>
      </p:sp>
      <p:sp>
        <p:nvSpPr>
          <p:cNvPr id="4" name="Shape 2">
            <a:extLst>
              <a:ext uri="{FF2B5EF4-FFF2-40B4-BE49-F238E27FC236}">
                <a16:creationId xmlns:a16="http://schemas.microsoft.com/office/drawing/2014/main" id="{DBC1DF1B-A6E2-B7B1-B65C-94621320C089}"/>
              </a:ext>
            </a:extLst>
          </p:cNvPr>
          <p:cNvSpPr/>
          <p:nvPr/>
        </p:nvSpPr>
        <p:spPr>
          <a:xfrm>
            <a:off x="609600" y="121920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5" name="Text 3">
            <a:extLst>
              <a:ext uri="{FF2B5EF4-FFF2-40B4-BE49-F238E27FC236}">
                <a16:creationId xmlns:a16="http://schemas.microsoft.com/office/drawing/2014/main" id="{5F2205DF-25DE-9CFF-4D11-BECB4546547B}"/>
              </a:ext>
            </a:extLst>
          </p:cNvPr>
          <p:cNvSpPr/>
          <p:nvPr/>
        </p:nvSpPr>
        <p:spPr>
          <a:xfrm>
            <a:off x="609600" y="134112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6" name="Text 4">
            <a:extLst>
              <a:ext uri="{FF2B5EF4-FFF2-40B4-BE49-F238E27FC236}">
                <a16:creationId xmlns:a16="http://schemas.microsoft.com/office/drawing/2014/main" id="{7DD28663-BB45-E5D7-60C7-D20B52C24DD9}"/>
              </a:ext>
            </a:extLst>
          </p:cNvPr>
          <p:cNvSpPr/>
          <p:nvPr/>
        </p:nvSpPr>
        <p:spPr>
          <a:xfrm>
            <a:off x="731520" y="2133600"/>
            <a:ext cx="3169920" cy="463296"/>
          </a:xfrm>
          <a:prstGeom prst="rect">
            <a:avLst/>
          </a:prstGeom>
          <a:noFill/>
          <a:ln/>
        </p:spPr>
        <p:txBody>
          <a:bodyPr wrap="square" lIns="0" tIns="0" rIns="0" bIns="0" rtlCol="0" anchor="ctr"/>
          <a:lstStyle/>
          <a:p>
            <a:pPr algn="ctr"/>
            <a:r>
              <a:rPr lang="en-US" sz="1867" b="1" dirty="0">
                <a:solidFill>
                  <a:srgbClr val="A855F7"/>
                </a:solidFill>
              </a:rPr>
              <a:t>Inicio</a:t>
            </a:r>
            <a:endParaRPr lang="en-US" sz="1867" dirty="0"/>
          </a:p>
        </p:txBody>
      </p:sp>
      <p:sp>
        <p:nvSpPr>
          <p:cNvPr id="7" name="Text 5">
            <a:extLst>
              <a:ext uri="{FF2B5EF4-FFF2-40B4-BE49-F238E27FC236}">
                <a16:creationId xmlns:a16="http://schemas.microsoft.com/office/drawing/2014/main" id="{1C370B44-29E5-367B-C61B-61B12DE0C18A}"/>
              </a:ext>
            </a:extLst>
          </p:cNvPr>
          <p:cNvSpPr/>
          <p:nvPr/>
        </p:nvSpPr>
        <p:spPr>
          <a:xfrm>
            <a:off x="731520" y="259689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Portada con botones para iniciar sesión o registrarse</a:t>
            </a:r>
            <a:endParaRPr lang="en-US" sz="1467" dirty="0"/>
          </a:p>
        </p:txBody>
      </p:sp>
      <p:sp>
        <p:nvSpPr>
          <p:cNvPr id="8" name="Shape 6">
            <a:extLst>
              <a:ext uri="{FF2B5EF4-FFF2-40B4-BE49-F238E27FC236}">
                <a16:creationId xmlns:a16="http://schemas.microsoft.com/office/drawing/2014/main" id="{54276D4C-97C0-949E-35DC-F9E597B54221}"/>
              </a:ext>
            </a:extLst>
          </p:cNvPr>
          <p:cNvSpPr/>
          <p:nvPr/>
        </p:nvSpPr>
        <p:spPr>
          <a:xfrm>
            <a:off x="4389120" y="121920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9" name="Text 7">
            <a:extLst>
              <a:ext uri="{FF2B5EF4-FFF2-40B4-BE49-F238E27FC236}">
                <a16:creationId xmlns:a16="http://schemas.microsoft.com/office/drawing/2014/main" id="{7D8F20E0-CE77-2C8B-C584-D74AD430232F}"/>
              </a:ext>
            </a:extLst>
          </p:cNvPr>
          <p:cNvSpPr/>
          <p:nvPr/>
        </p:nvSpPr>
        <p:spPr>
          <a:xfrm>
            <a:off x="4389120" y="134112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10" name="Text 8">
            <a:extLst>
              <a:ext uri="{FF2B5EF4-FFF2-40B4-BE49-F238E27FC236}">
                <a16:creationId xmlns:a16="http://schemas.microsoft.com/office/drawing/2014/main" id="{C732CA8D-B8D9-BA45-E312-EAFF62551534}"/>
              </a:ext>
            </a:extLst>
          </p:cNvPr>
          <p:cNvSpPr/>
          <p:nvPr/>
        </p:nvSpPr>
        <p:spPr>
          <a:xfrm>
            <a:off x="4511040" y="2133600"/>
            <a:ext cx="3169920" cy="463296"/>
          </a:xfrm>
          <a:prstGeom prst="rect">
            <a:avLst/>
          </a:prstGeom>
          <a:noFill/>
          <a:ln/>
        </p:spPr>
        <p:txBody>
          <a:bodyPr wrap="square" lIns="0" tIns="0" rIns="0" bIns="0" rtlCol="0" anchor="ctr"/>
          <a:lstStyle/>
          <a:p>
            <a:pPr algn="ctr"/>
            <a:r>
              <a:rPr lang="en-US" sz="1867" b="1" dirty="0">
                <a:solidFill>
                  <a:srgbClr val="A855F7"/>
                </a:solidFill>
              </a:rPr>
              <a:t>Login</a:t>
            </a:r>
            <a:endParaRPr lang="en-US" sz="1867" dirty="0"/>
          </a:p>
        </p:txBody>
      </p:sp>
      <p:sp>
        <p:nvSpPr>
          <p:cNvPr id="11" name="Text 9">
            <a:extLst>
              <a:ext uri="{FF2B5EF4-FFF2-40B4-BE49-F238E27FC236}">
                <a16:creationId xmlns:a16="http://schemas.microsoft.com/office/drawing/2014/main" id="{E09038C8-6E02-BDB4-3A80-4764491B81D8}"/>
              </a:ext>
            </a:extLst>
          </p:cNvPr>
          <p:cNvSpPr/>
          <p:nvPr/>
        </p:nvSpPr>
        <p:spPr>
          <a:xfrm>
            <a:off x="4511040" y="259689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Formulario de correo y contraseña</a:t>
            </a:r>
            <a:endParaRPr lang="en-US" sz="1467" dirty="0"/>
          </a:p>
        </p:txBody>
      </p:sp>
      <p:sp>
        <p:nvSpPr>
          <p:cNvPr id="12" name="Shape 10">
            <a:extLst>
              <a:ext uri="{FF2B5EF4-FFF2-40B4-BE49-F238E27FC236}">
                <a16:creationId xmlns:a16="http://schemas.microsoft.com/office/drawing/2014/main" id="{9AD8A4B7-86B9-0D2D-C4BC-8EB92CAECBC4}"/>
              </a:ext>
            </a:extLst>
          </p:cNvPr>
          <p:cNvSpPr/>
          <p:nvPr/>
        </p:nvSpPr>
        <p:spPr>
          <a:xfrm>
            <a:off x="8168640" y="121920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13" name="Text 11">
            <a:extLst>
              <a:ext uri="{FF2B5EF4-FFF2-40B4-BE49-F238E27FC236}">
                <a16:creationId xmlns:a16="http://schemas.microsoft.com/office/drawing/2014/main" id="{76DBFA55-2821-C600-C93B-9F41282C2D88}"/>
              </a:ext>
            </a:extLst>
          </p:cNvPr>
          <p:cNvSpPr/>
          <p:nvPr/>
        </p:nvSpPr>
        <p:spPr>
          <a:xfrm>
            <a:off x="8168640" y="134112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14" name="Text 12">
            <a:extLst>
              <a:ext uri="{FF2B5EF4-FFF2-40B4-BE49-F238E27FC236}">
                <a16:creationId xmlns:a16="http://schemas.microsoft.com/office/drawing/2014/main" id="{38908BC0-E939-F49F-1BAD-DB2AF71F2885}"/>
              </a:ext>
            </a:extLst>
          </p:cNvPr>
          <p:cNvSpPr/>
          <p:nvPr/>
        </p:nvSpPr>
        <p:spPr>
          <a:xfrm>
            <a:off x="8290560" y="2133600"/>
            <a:ext cx="3169920" cy="463296"/>
          </a:xfrm>
          <a:prstGeom prst="rect">
            <a:avLst/>
          </a:prstGeom>
          <a:noFill/>
          <a:ln/>
        </p:spPr>
        <p:txBody>
          <a:bodyPr wrap="square" lIns="0" tIns="0" rIns="0" bIns="0" rtlCol="0" anchor="ctr"/>
          <a:lstStyle/>
          <a:p>
            <a:pPr algn="ctr"/>
            <a:r>
              <a:rPr lang="en-US" sz="1867" b="1" dirty="0">
                <a:solidFill>
                  <a:srgbClr val="A855F7"/>
                </a:solidFill>
              </a:rPr>
              <a:t>Registro</a:t>
            </a:r>
            <a:endParaRPr lang="en-US" sz="1867" dirty="0"/>
          </a:p>
        </p:txBody>
      </p:sp>
      <p:sp>
        <p:nvSpPr>
          <p:cNvPr id="15" name="Text 13">
            <a:extLst>
              <a:ext uri="{FF2B5EF4-FFF2-40B4-BE49-F238E27FC236}">
                <a16:creationId xmlns:a16="http://schemas.microsoft.com/office/drawing/2014/main" id="{44DE7B32-34F0-3C22-22BC-CF8C42BB9ED0}"/>
              </a:ext>
            </a:extLst>
          </p:cNvPr>
          <p:cNvSpPr/>
          <p:nvPr/>
        </p:nvSpPr>
        <p:spPr>
          <a:xfrm>
            <a:off x="8290560" y="259689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Formulario completo con selector de tecnologías en chips</a:t>
            </a:r>
            <a:endParaRPr lang="en-US" sz="1467" dirty="0"/>
          </a:p>
        </p:txBody>
      </p:sp>
      <p:sp>
        <p:nvSpPr>
          <p:cNvPr id="16" name="Shape 14">
            <a:extLst>
              <a:ext uri="{FF2B5EF4-FFF2-40B4-BE49-F238E27FC236}">
                <a16:creationId xmlns:a16="http://schemas.microsoft.com/office/drawing/2014/main" id="{970E4E91-8AA6-6317-F358-C0446F23D6B8}"/>
              </a:ext>
            </a:extLst>
          </p:cNvPr>
          <p:cNvSpPr/>
          <p:nvPr/>
        </p:nvSpPr>
        <p:spPr>
          <a:xfrm>
            <a:off x="609600" y="390144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17" name="Text 15">
            <a:extLst>
              <a:ext uri="{FF2B5EF4-FFF2-40B4-BE49-F238E27FC236}">
                <a16:creationId xmlns:a16="http://schemas.microsoft.com/office/drawing/2014/main" id="{53E1AB41-8C98-7BD6-7D0B-DDF2EB44BF61}"/>
              </a:ext>
            </a:extLst>
          </p:cNvPr>
          <p:cNvSpPr/>
          <p:nvPr/>
        </p:nvSpPr>
        <p:spPr>
          <a:xfrm>
            <a:off x="609600" y="402336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18" name="Text 16">
            <a:extLst>
              <a:ext uri="{FF2B5EF4-FFF2-40B4-BE49-F238E27FC236}">
                <a16:creationId xmlns:a16="http://schemas.microsoft.com/office/drawing/2014/main" id="{ACB3595B-807A-7B09-073C-5D4E0DCF3725}"/>
              </a:ext>
            </a:extLst>
          </p:cNvPr>
          <p:cNvSpPr/>
          <p:nvPr/>
        </p:nvSpPr>
        <p:spPr>
          <a:xfrm>
            <a:off x="731520" y="4815840"/>
            <a:ext cx="3169920" cy="463296"/>
          </a:xfrm>
          <a:prstGeom prst="rect">
            <a:avLst/>
          </a:prstGeom>
          <a:noFill/>
          <a:ln/>
        </p:spPr>
        <p:txBody>
          <a:bodyPr wrap="square" lIns="0" tIns="0" rIns="0" bIns="0" rtlCol="0" anchor="ctr"/>
          <a:lstStyle/>
          <a:p>
            <a:pPr algn="ctr"/>
            <a:r>
              <a:rPr lang="en-US" sz="1867" b="1" dirty="0">
                <a:solidFill>
                  <a:srgbClr val="A855F7"/>
                </a:solidFill>
              </a:rPr>
              <a:t>Dashboard</a:t>
            </a:r>
            <a:endParaRPr lang="en-US" sz="1867" dirty="0"/>
          </a:p>
        </p:txBody>
      </p:sp>
      <p:sp>
        <p:nvSpPr>
          <p:cNvPr id="19" name="Text 17">
            <a:extLst>
              <a:ext uri="{FF2B5EF4-FFF2-40B4-BE49-F238E27FC236}">
                <a16:creationId xmlns:a16="http://schemas.microsoft.com/office/drawing/2014/main" id="{2F96BAC9-244E-C4A2-09EC-F1C23DD17BCA}"/>
              </a:ext>
            </a:extLst>
          </p:cNvPr>
          <p:cNvSpPr/>
          <p:nvPr/>
        </p:nvSpPr>
        <p:spPr>
          <a:xfrm>
            <a:off x="731520" y="527913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Pila de tarjetas de perfiles. Swipe o botones ✕ ❤️ ↺</a:t>
            </a:r>
            <a:endParaRPr lang="en-US" sz="1467" dirty="0"/>
          </a:p>
        </p:txBody>
      </p:sp>
      <p:sp>
        <p:nvSpPr>
          <p:cNvPr id="20" name="Shape 18">
            <a:extLst>
              <a:ext uri="{FF2B5EF4-FFF2-40B4-BE49-F238E27FC236}">
                <a16:creationId xmlns:a16="http://schemas.microsoft.com/office/drawing/2014/main" id="{BF78BF8F-53B4-9F9C-A6AD-50FB2C026164}"/>
              </a:ext>
            </a:extLst>
          </p:cNvPr>
          <p:cNvSpPr/>
          <p:nvPr/>
        </p:nvSpPr>
        <p:spPr>
          <a:xfrm>
            <a:off x="4389120" y="390144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21" name="Text 19">
            <a:extLst>
              <a:ext uri="{FF2B5EF4-FFF2-40B4-BE49-F238E27FC236}">
                <a16:creationId xmlns:a16="http://schemas.microsoft.com/office/drawing/2014/main" id="{6CB1C015-7954-3483-53FD-9A2AA02F2E73}"/>
              </a:ext>
            </a:extLst>
          </p:cNvPr>
          <p:cNvSpPr/>
          <p:nvPr/>
        </p:nvSpPr>
        <p:spPr>
          <a:xfrm>
            <a:off x="4389120" y="402336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22" name="Text 20">
            <a:extLst>
              <a:ext uri="{FF2B5EF4-FFF2-40B4-BE49-F238E27FC236}">
                <a16:creationId xmlns:a16="http://schemas.microsoft.com/office/drawing/2014/main" id="{24E59949-3544-39E4-1EAF-EAD7CCA71251}"/>
              </a:ext>
            </a:extLst>
          </p:cNvPr>
          <p:cNvSpPr/>
          <p:nvPr/>
        </p:nvSpPr>
        <p:spPr>
          <a:xfrm>
            <a:off x="4511040" y="4815840"/>
            <a:ext cx="3169920" cy="463296"/>
          </a:xfrm>
          <a:prstGeom prst="rect">
            <a:avLst/>
          </a:prstGeom>
          <a:noFill/>
          <a:ln/>
        </p:spPr>
        <p:txBody>
          <a:bodyPr wrap="square" lIns="0" tIns="0" rIns="0" bIns="0" rtlCol="0" anchor="ctr"/>
          <a:lstStyle/>
          <a:p>
            <a:pPr algn="ctr"/>
            <a:r>
              <a:rPr lang="en-US" sz="1867" b="1" dirty="0">
                <a:solidFill>
                  <a:srgbClr val="A855F7"/>
                </a:solidFill>
              </a:rPr>
              <a:t>Matches</a:t>
            </a:r>
            <a:endParaRPr lang="en-US" sz="1867" dirty="0"/>
          </a:p>
        </p:txBody>
      </p:sp>
      <p:sp>
        <p:nvSpPr>
          <p:cNvPr id="23" name="Text 21">
            <a:extLst>
              <a:ext uri="{FF2B5EF4-FFF2-40B4-BE49-F238E27FC236}">
                <a16:creationId xmlns:a16="http://schemas.microsoft.com/office/drawing/2014/main" id="{A03AAD71-53F6-A1BD-2C65-89AC269A8F73}"/>
              </a:ext>
            </a:extLst>
          </p:cNvPr>
          <p:cNvSpPr/>
          <p:nvPr/>
        </p:nvSpPr>
        <p:spPr>
          <a:xfrm>
            <a:off x="4511040" y="527913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Lista de todos los devs con quienes hiciste match</a:t>
            </a:r>
            <a:endParaRPr lang="en-US" sz="1467" dirty="0"/>
          </a:p>
        </p:txBody>
      </p:sp>
    </p:spTree>
    <p:extLst>
      <p:ext uri="{BB962C8B-B14F-4D97-AF65-F5344CB8AC3E}">
        <p14:creationId xmlns:p14="http://schemas.microsoft.com/office/powerpoint/2010/main" val="3578360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E8E2BAB-A84F-DCC5-B12C-C0634183E6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9575"/>
            <a:ext cx="12192000" cy="6038850"/>
          </a:xfrm>
          <a:prstGeom prst="rect">
            <a:avLst/>
          </a:prstGeom>
        </p:spPr>
      </p:pic>
    </p:spTree>
    <p:extLst>
      <p:ext uri="{BB962C8B-B14F-4D97-AF65-F5344CB8AC3E}">
        <p14:creationId xmlns:p14="http://schemas.microsoft.com/office/powerpoint/2010/main" val="1318845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030AB-6059-1E2A-565B-D50A0435578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832A173-1D5B-EB56-4EC2-AC93BC841D4E}"/>
              </a:ext>
            </a:extLst>
          </p:cNvPr>
          <p:cNvSpPr/>
          <p:nvPr/>
        </p:nvSpPr>
        <p:spPr>
          <a:xfrm>
            <a:off x="0" y="0"/>
            <a:ext cx="12192000" cy="73152"/>
          </a:xfrm>
          <a:prstGeom prst="rect">
            <a:avLst/>
          </a:prstGeom>
          <a:solidFill>
            <a:srgbClr val="A855F7"/>
          </a:solidFill>
          <a:ln w="12700">
            <a:solidFill>
              <a:srgbClr val="A855F7"/>
            </a:solidFill>
            <a:prstDash val="solid"/>
          </a:ln>
        </p:spPr>
        <p:txBody>
          <a:bodyPr/>
          <a:lstStyle/>
          <a:p>
            <a:endParaRPr lang="es-ES" sz="2400"/>
          </a:p>
        </p:txBody>
      </p:sp>
      <p:sp>
        <p:nvSpPr>
          <p:cNvPr id="3" name="Text 1">
            <a:extLst>
              <a:ext uri="{FF2B5EF4-FFF2-40B4-BE49-F238E27FC236}">
                <a16:creationId xmlns:a16="http://schemas.microsoft.com/office/drawing/2014/main" id="{8A0289C1-7137-F349-6B11-412D273214B7}"/>
              </a:ext>
            </a:extLst>
          </p:cNvPr>
          <p:cNvSpPr/>
          <p:nvPr/>
        </p:nvSpPr>
        <p:spPr>
          <a:xfrm>
            <a:off x="609600" y="219456"/>
            <a:ext cx="10972800" cy="914400"/>
          </a:xfrm>
          <a:prstGeom prst="rect">
            <a:avLst/>
          </a:prstGeom>
          <a:noFill/>
          <a:ln/>
        </p:spPr>
        <p:txBody>
          <a:bodyPr wrap="square" lIns="0" tIns="0" rIns="0" bIns="0" rtlCol="0" anchor="ctr"/>
          <a:lstStyle/>
          <a:p>
            <a:r>
              <a:rPr lang="en-US" sz="4800" b="1" dirty="0">
                <a:solidFill>
                  <a:srgbClr val="F5F0FF"/>
                </a:solidFill>
                <a:latin typeface="Trebuchet MS" pitchFamily="34" charset="0"/>
                <a:ea typeface="Trebuchet MS" pitchFamily="34" charset="-122"/>
                <a:cs typeface="Trebuchet MS" pitchFamily="34" charset="-120"/>
              </a:rPr>
              <a:t>Las pantallas de la aplicación</a:t>
            </a:r>
            <a:endParaRPr lang="en-US" sz="4800" dirty="0"/>
          </a:p>
        </p:txBody>
      </p:sp>
      <p:sp>
        <p:nvSpPr>
          <p:cNvPr id="4" name="Shape 2">
            <a:extLst>
              <a:ext uri="{FF2B5EF4-FFF2-40B4-BE49-F238E27FC236}">
                <a16:creationId xmlns:a16="http://schemas.microsoft.com/office/drawing/2014/main" id="{D39CB1E3-6335-8C11-6473-BA72CED5FC3E}"/>
              </a:ext>
            </a:extLst>
          </p:cNvPr>
          <p:cNvSpPr/>
          <p:nvPr/>
        </p:nvSpPr>
        <p:spPr>
          <a:xfrm>
            <a:off x="609600" y="121920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5" name="Text 3">
            <a:extLst>
              <a:ext uri="{FF2B5EF4-FFF2-40B4-BE49-F238E27FC236}">
                <a16:creationId xmlns:a16="http://schemas.microsoft.com/office/drawing/2014/main" id="{6E6A7367-DC3D-9221-F321-7BC8761FEE6A}"/>
              </a:ext>
            </a:extLst>
          </p:cNvPr>
          <p:cNvSpPr/>
          <p:nvPr/>
        </p:nvSpPr>
        <p:spPr>
          <a:xfrm>
            <a:off x="609600" y="134112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6" name="Text 4">
            <a:extLst>
              <a:ext uri="{FF2B5EF4-FFF2-40B4-BE49-F238E27FC236}">
                <a16:creationId xmlns:a16="http://schemas.microsoft.com/office/drawing/2014/main" id="{F0605D46-1946-328A-D7A2-5AFA5238A283}"/>
              </a:ext>
            </a:extLst>
          </p:cNvPr>
          <p:cNvSpPr/>
          <p:nvPr/>
        </p:nvSpPr>
        <p:spPr>
          <a:xfrm>
            <a:off x="731520" y="2133600"/>
            <a:ext cx="3169920" cy="463296"/>
          </a:xfrm>
          <a:prstGeom prst="rect">
            <a:avLst/>
          </a:prstGeom>
          <a:noFill/>
          <a:ln/>
        </p:spPr>
        <p:txBody>
          <a:bodyPr wrap="square" lIns="0" tIns="0" rIns="0" bIns="0" rtlCol="0" anchor="ctr"/>
          <a:lstStyle/>
          <a:p>
            <a:pPr algn="ctr"/>
            <a:r>
              <a:rPr lang="en-US" sz="1867" b="1" dirty="0">
                <a:solidFill>
                  <a:srgbClr val="A855F7"/>
                </a:solidFill>
              </a:rPr>
              <a:t>Inicio</a:t>
            </a:r>
            <a:endParaRPr lang="en-US" sz="1867" dirty="0"/>
          </a:p>
        </p:txBody>
      </p:sp>
      <p:sp>
        <p:nvSpPr>
          <p:cNvPr id="7" name="Text 5">
            <a:extLst>
              <a:ext uri="{FF2B5EF4-FFF2-40B4-BE49-F238E27FC236}">
                <a16:creationId xmlns:a16="http://schemas.microsoft.com/office/drawing/2014/main" id="{145A8A4E-7193-627A-3580-582A077616BB}"/>
              </a:ext>
            </a:extLst>
          </p:cNvPr>
          <p:cNvSpPr/>
          <p:nvPr/>
        </p:nvSpPr>
        <p:spPr>
          <a:xfrm>
            <a:off x="731520" y="259689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Portada con botones para iniciar sesión o registrarse</a:t>
            </a:r>
            <a:endParaRPr lang="en-US" sz="1467" dirty="0"/>
          </a:p>
        </p:txBody>
      </p:sp>
      <p:sp>
        <p:nvSpPr>
          <p:cNvPr id="8" name="Shape 6">
            <a:extLst>
              <a:ext uri="{FF2B5EF4-FFF2-40B4-BE49-F238E27FC236}">
                <a16:creationId xmlns:a16="http://schemas.microsoft.com/office/drawing/2014/main" id="{97327273-A47E-A223-3819-E1B8B0A0D3E1}"/>
              </a:ext>
            </a:extLst>
          </p:cNvPr>
          <p:cNvSpPr/>
          <p:nvPr/>
        </p:nvSpPr>
        <p:spPr>
          <a:xfrm>
            <a:off x="4389120" y="121920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9" name="Text 7">
            <a:extLst>
              <a:ext uri="{FF2B5EF4-FFF2-40B4-BE49-F238E27FC236}">
                <a16:creationId xmlns:a16="http://schemas.microsoft.com/office/drawing/2014/main" id="{A533BF04-E661-F344-3B62-FEF6A4FEE79E}"/>
              </a:ext>
            </a:extLst>
          </p:cNvPr>
          <p:cNvSpPr/>
          <p:nvPr/>
        </p:nvSpPr>
        <p:spPr>
          <a:xfrm>
            <a:off x="4389120" y="134112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10" name="Text 8">
            <a:extLst>
              <a:ext uri="{FF2B5EF4-FFF2-40B4-BE49-F238E27FC236}">
                <a16:creationId xmlns:a16="http://schemas.microsoft.com/office/drawing/2014/main" id="{B9F9CBFA-66B4-51A7-8304-05F3913E9D52}"/>
              </a:ext>
            </a:extLst>
          </p:cNvPr>
          <p:cNvSpPr/>
          <p:nvPr/>
        </p:nvSpPr>
        <p:spPr>
          <a:xfrm>
            <a:off x="4511040" y="2133600"/>
            <a:ext cx="3169920" cy="463296"/>
          </a:xfrm>
          <a:prstGeom prst="rect">
            <a:avLst/>
          </a:prstGeom>
          <a:noFill/>
          <a:ln/>
        </p:spPr>
        <p:txBody>
          <a:bodyPr wrap="square" lIns="0" tIns="0" rIns="0" bIns="0" rtlCol="0" anchor="ctr"/>
          <a:lstStyle/>
          <a:p>
            <a:pPr algn="ctr"/>
            <a:r>
              <a:rPr lang="en-US" sz="1867" b="1" dirty="0">
                <a:solidFill>
                  <a:srgbClr val="A855F7"/>
                </a:solidFill>
              </a:rPr>
              <a:t>Login</a:t>
            </a:r>
            <a:endParaRPr lang="en-US" sz="1867" dirty="0"/>
          </a:p>
        </p:txBody>
      </p:sp>
      <p:sp>
        <p:nvSpPr>
          <p:cNvPr id="11" name="Text 9">
            <a:extLst>
              <a:ext uri="{FF2B5EF4-FFF2-40B4-BE49-F238E27FC236}">
                <a16:creationId xmlns:a16="http://schemas.microsoft.com/office/drawing/2014/main" id="{804ED930-49D9-2F73-BC32-D685BF853CA2}"/>
              </a:ext>
            </a:extLst>
          </p:cNvPr>
          <p:cNvSpPr/>
          <p:nvPr/>
        </p:nvSpPr>
        <p:spPr>
          <a:xfrm>
            <a:off x="4511040" y="259689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Formulario de correo y contraseña</a:t>
            </a:r>
            <a:endParaRPr lang="en-US" sz="1467" dirty="0"/>
          </a:p>
        </p:txBody>
      </p:sp>
      <p:sp>
        <p:nvSpPr>
          <p:cNvPr id="12" name="Shape 10">
            <a:extLst>
              <a:ext uri="{FF2B5EF4-FFF2-40B4-BE49-F238E27FC236}">
                <a16:creationId xmlns:a16="http://schemas.microsoft.com/office/drawing/2014/main" id="{8342FF3D-561F-12EC-1FC7-85C6C0D4914D}"/>
              </a:ext>
            </a:extLst>
          </p:cNvPr>
          <p:cNvSpPr/>
          <p:nvPr/>
        </p:nvSpPr>
        <p:spPr>
          <a:xfrm>
            <a:off x="8168640" y="121920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13" name="Text 11">
            <a:extLst>
              <a:ext uri="{FF2B5EF4-FFF2-40B4-BE49-F238E27FC236}">
                <a16:creationId xmlns:a16="http://schemas.microsoft.com/office/drawing/2014/main" id="{1F2DD19D-D3F2-1237-74CE-68F2157B664D}"/>
              </a:ext>
            </a:extLst>
          </p:cNvPr>
          <p:cNvSpPr/>
          <p:nvPr/>
        </p:nvSpPr>
        <p:spPr>
          <a:xfrm>
            <a:off x="8168640" y="134112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14" name="Text 12">
            <a:extLst>
              <a:ext uri="{FF2B5EF4-FFF2-40B4-BE49-F238E27FC236}">
                <a16:creationId xmlns:a16="http://schemas.microsoft.com/office/drawing/2014/main" id="{87864F93-1A1A-0CF3-7E29-402A682B150A}"/>
              </a:ext>
            </a:extLst>
          </p:cNvPr>
          <p:cNvSpPr/>
          <p:nvPr/>
        </p:nvSpPr>
        <p:spPr>
          <a:xfrm>
            <a:off x="8290560" y="2133600"/>
            <a:ext cx="3169920" cy="463296"/>
          </a:xfrm>
          <a:prstGeom prst="rect">
            <a:avLst/>
          </a:prstGeom>
          <a:noFill/>
          <a:ln/>
        </p:spPr>
        <p:txBody>
          <a:bodyPr wrap="square" lIns="0" tIns="0" rIns="0" bIns="0" rtlCol="0" anchor="ctr"/>
          <a:lstStyle/>
          <a:p>
            <a:pPr algn="ctr"/>
            <a:r>
              <a:rPr lang="en-US" sz="1867" b="1" dirty="0">
                <a:solidFill>
                  <a:srgbClr val="A855F7"/>
                </a:solidFill>
              </a:rPr>
              <a:t>Registro</a:t>
            </a:r>
            <a:endParaRPr lang="en-US" sz="1867" dirty="0"/>
          </a:p>
        </p:txBody>
      </p:sp>
      <p:sp>
        <p:nvSpPr>
          <p:cNvPr id="15" name="Text 13">
            <a:extLst>
              <a:ext uri="{FF2B5EF4-FFF2-40B4-BE49-F238E27FC236}">
                <a16:creationId xmlns:a16="http://schemas.microsoft.com/office/drawing/2014/main" id="{A7A20F6C-F1E7-9ADF-FB1F-FD63CCF78F46}"/>
              </a:ext>
            </a:extLst>
          </p:cNvPr>
          <p:cNvSpPr/>
          <p:nvPr/>
        </p:nvSpPr>
        <p:spPr>
          <a:xfrm>
            <a:off x="8290560" y="259689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Formulario completo con selector de tecnologías en chips</a:t>
            </a:r>
            <a:endParaRPr lang="en-US" sz="1467" dirty="0"/>
          </a:p>
        </p:txBody>
      </p:sp>
      <p:sp>
        <p:nvSpPr>
          <p:cNvPr id="16" name="Shape 14">
            <a:extLst>
              <a:ext uri="{FF2B5EF4-FFF2-40B4-BE49-F238E27FC236}">
                <a16:creationId xmlns:a16="http://schemas.microsoft.com/office/drawing/2014/main" id="{ECAA209E-507B-0CCA-26A0-5D18915D6D65}"/>
              </a:ext>
            </a:extLst>
          </p:cNvPr>
          <p:cNvSpPr/>
          <p:nvPr/>
        </p:nvSpPr>
        <p:spPr>
          <a:xfrm>
            <a:off x="609600" y="390144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17" name="Text 15">
            <a:extLst>
              <a:ext uri="{FF2B5EF4-FFF2-40B4-BE49-F238E27FC236}">
                <a16:creationId xmlns:a16="http://schemas.microsoft.com/office/drawing/2014/main" id="{F69E0A31-88E9-BA72-F51E-E0281929FB64}"/>
              </a:ext>
            </a:extLst>
          </p:cNvPr>
          <p:cNvSpPr/>
          <p:nvPr/>
        </p:nvSpPr>
        <p:spPr>
          <a:xfrm>
            <a:off x="609600" y="402336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18" name="Text 16">
            <a:extLst>
              <a:ext uri="{FF2B5EF4-FFF2-40B4-BE49-F238E27FC236}">
                <a16:creationId xmlns:a16="http://schemas.microsoft.com/office/drawing/2014/main" id="{BCDE590A-D28E-2035-0414-F62524C76424}"/>
              </a:ext>
            </a:extLst>
          </p:cNvPr>
          <p:cNvSpPr/>
          <p:nvPr/>
        </p:nvSpPr>
        <p:spPr>
          <a:xfrm>
            <a:off x="731520" y="4815840"/>
            <a:ext cx="3169920" cy="463296"/>
          </a:xfrm>
          <a:prstGeom prst="rect">
            <a:avLst/>
          </a:prstGeom>
          <a:noFill/>
          <a:ln/>
        </p:spPr>
        <p:txBody>
          <a:bodyPr wrap="square" lIns="0" tIns="0" rIns="0" bIns="0" rtlCol="0" anchor="ctr"/>
          <a:lstStyle/>
          <a:p>
            <a:pPr algn="ctr"/>
            <a:r>
              <a:rPr lang="en-US" sz="1867" b="1" dirty="0">
                <a:solidFill>
                  <a:srgbClr val="A855F7"/>
                </a:solidFill>
              </a:rPr>
              <a:t>Dashboard</a:t>
            </a:r>
            <a:endParaRPr lang="en-US" sz="1867" dirty="0"/>
          </a:p>
        </p:txBody>
      </p:sp>
      <p:sp>
        <p:nvSpPr>
          <p:cNvPr id="19" name="Text 17">
            <a:extLst>
              <a:ext uri="{FF2B5EF4-FFF2-40B4-BE49-F238E27FC236}">
                <a16:creationId xmlns:a16="http://schemas.microsoft.com/office/drawing/2014/main" id="{1512B51B-CF30-0BA3-E82D-AC3D6900FDBD}"/>
              </a:ext>
            </a:extLst>
          </p:cNvPr>
          <p:cNvSpPr/>
          <p:nvPr/>
        </p:nvSpPr>
        <p:spPr>
          <a:xfrm>
            <a:off x="731520" y="527913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Pila de tarjetas de perfiles. Swipe o botones ✕ ❤️ ↺</a:t>
            </a:r>
            <a:endParaRPr lang="en-US" sz="1467" dirty="0"/>
          </a:p>
        </p:txBody>
      </p:sp>
      <p:sp>
        <p:nvSpPr>
          <p:cNvPr id="20" name="Shape 18">
            <a:extLst>
              <a:ext uri="{FF2B5EF4-FFF2-40B4-BE49-F238E27FC236}">
                <a16:creationId xmlns:a16="http://schemas.microsoft.com/office/drawing/2014/main" id="{9D400760-AED5-DBD6-40A1-03A46B8AFE87}"/>
              </a:ext>
            </a:extLst>
          </p:cNvPr>
          <p:cNvSpPr/>
          <p:nvPr/>
        </p:nvSpPr>
        <p:spPr>
          <a:xfrm>
            <a:off x="4389120" y="390144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21" name="Text 19">
            <a:extLst>
              <a:ext uri="{FF2B5EF4-FFF2-40B4-BE49-F238E27FC236}">
                <a16:creationId xmlns:a16="http://schemas.microsoft.com/office/drawing/2014/main" id="{DC598BD2-4048-43D6-9632-58EFEC8DCD3F}"/>
              </a:ext>
            </a:extLst>
          </p:cNvPr>
          <p:cNvSpPr/>
          <p:nvPr/>
        </p:nvSpPr>
        <p:spPr>
          <a:xfrm>
            <a:off x="4389120" y="402336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22" name="Text 20">
            <a:extLst>
              <a:ext uri="{FF2B5EF4-FFF2-40B4-BE49-F238E27FC236}">
                <a16:creationId xmlns:a16="http://schemas.microsoft.com/office/drawing/2014/main" id="{CE673DBF-12E7-B6CA-95C4-BFA064B6033B}"/>
              </a:ext>
            </a:extLst>
          </p:cNvPr>
          <p:cNvSpPr/>
          <p:nvPr/>
        </p:nvSpPr>
        <p:spPr>
          <a:xfrm>
            <a:off x="4511040" y="4815840"/>
            <a:ext cx="3169920" cy="463296"/>
          </a:xfrm>
          <a:prstGeom prst="rect">
            <a:avLst/>
          </a:prstGeom>
          <a:noFill/>
          <a:ln/>
        </p:spPr>
        <p:txBody>
          <a:bodyPr wrap="square" lIns="0" tIns="0" rIns="0" bIns="0" rtlCol="0" anchor="ctr"/>
          <a:lstStyle/>
          <a:p>
            <a:pPr algn="ctr"/>
            <a:r>
              <a:rPr lang="en-US" sz="1867" b="1" dirty="0">
                <a:solidFill>
                  <a:srgbClr val="A855F7"/>
                </a:solidFill>
              </a:rPr>
              <a:t>Matches</a:t>
            </a:r>
            <a:endParaRPr lang="en-US" sz="1867" dirty="0"/>
          </a:p>
        </p:txBody>
      </p:sp>
      <p:sp>
        <p:nvSpPr>
          <p:cNvPr id="23" name="Text 21">
            <a:extLst>
              <a:ext uri="{FF2B5EF4-FFF2-40B4-BE49-F238E27FC236}">
                <a16:creationId xmlns:a16="http://schemas.microsoft.com/office/drawing/2014/main" id="{251BF78D-0B40-533D-5302-354FEABEE7E9}"/>
              </a:ext>
            </a:extLst>
          </p:cNvPr>
          <p:cNvSpPr/>
          <p:nvPr/>
        </p:nvSpPr>
        <p:spPr>
          <a:xfrm>
            <a:off x="4511040" y="527913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Lista de todos los devs con quienes hiciste match</a:t>
            </a:r>
            <a:endParaRPr lang="en-US" sz="1467" dirty="0"/>
          </a:p>
        </p:txBody>
      </p:sp>
    </p:spTree>
    <p:extLst>
      <p:ext uri="{BB962C8B-B14F-4D97-AF65-F5344CB8AC3E}">
        <p14:creationId xmlns:p14="http://schemas.microsoft.com/office/powerpoint/2010/main" val="965112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F83042D-EC3A-DAFE-67EB-C0B956F4D1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6400"/>
            <a:ext cx="12192000" cy="6045200"/>
          </a:xfrm>
          <a:prstGeom prst="rect">
            <a:avLst/>
          </a:prstGeom>
        </p:spPr>
      </p:pic>
    </p:spTree>
    <p:extLst>
      <p:ext uri="{BB962C8B-B14F-4D97-AF65-F5344CB8AC3E}">
        <p14:creationId xmlns:p14="http://schemas.microsoft.com/office/powerpoint/2010/main" val="616484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A0281-1695-7647-59F6-4FCD9DA1EE7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9A19FA9-FE39-3C8C-19E1-8BB19AD2FFBF}"/>
              </a:ext>
            </a:extLst>
          </p:cNvPr>
          <p:cNvSpPr/>
          <p:nvPr/>
        </p:nvSpPr>
        <p:spPr>
          <a:xfrm>
            <a:off x="0" y="0"/>
            <a:ext cx="12192000" cy="73152"/>
          </a:xfrm>
          <a:prstGeom prst="rect">
            <a:avLst/>
          </a:prstGeom>
          <a:solidFill>
            <a:srgbClr val="A855F7"/>
          </a:solidFill>
          <a:ln w="12700">
            <a:solidFill>
              <a:srgbClr val="A855F7"/>
            </a:solidFill>
            <a:prstDash val="solid"/>
          </a:ln>
        </p:spPr>
        <p:txBody>
          <a:bodyPr/>
          <a:lstStyle/>
          <a:p>
            <a:endParaRPr lang="es-ES" sz="2400"/>
          </a:p>
        </p:txBody>
      </p:sp>
      <p:sp>
        <p:nvSpPr>
          <p:cNvPr id="3" name="Text 1">
            <a:extLst>
              <a:ext uri="{FF2B5EF4-FFF2-40B4-BE49-F238E27FC236}">
                <a16:creationId xmlns:a16="http://schemas.microsoft.com/office/drawing/2014/main" id="{23A9574F-CE7A-F468-278D-5E23A8754D82}"/>
              </a:ext>
            </a:extLst>
          </p:cNvPr>
          <p:cNvSpPr/>
          <p:nvPr/>
        </p:nvSpPr>
        <p:spPr>
          <a:xfrm>
            <a:off x="609600" y="219456"/>
            <a:ext cx="10972800" cy="914400"/>
          </a:xfrm>
          <a:prstGeom prst="rect">
            <a:avLst/>
          </a:prstGeom>
          <a:noFill/>
          <a:ln/>
        </p:spPr>
        <p:txBody>
          <a:bodyPr wrap="square" lIns="0" tIns="0" rIns="0" bIns="0" rtlCol="0" anchor="ctr"/>
          <a:lstStyle/>
          <a:p>
            <a:r>
              <a:rPr lang="en-US" sz="4800" b="1" dirty="0">
                <a:solidFill>
                  <a:srgbClr val="F5F0FF"/>
                </a:solidFill>
                <a:latin typeface="Trebuchet MS" pitchFamily="34" charset="0"/>
                <a:ea typeface="Trebuchet MS" pitchFamily="34" charset="-122"/>
                <a:cs typeface="Trebuchet MS" pitchFamily="34" charset="-120"/>
              </a:rPr>
              <a:t>Las pantallas de la aplicación</a:t>
            </a:r>
            <a:endParaRPr lang="en-US" sz="4800" dirty="0"/>
          </a:p>
        </p:txBody>
      </p:sp>
      <p:sp>
        <p:nvSpPr>
          <p:cNvPr id="4" name="Shape 2">
            <a:extLst>
              <a:ext uri="{FF2B5EF4-FFF2-40B4-BE49-F238E27FC236}">
                <a16:creationId xmlns:a16="http://schemas.microsoft.com/office/drawing/2014/main" id="{EC0D5A81-48CE-8ACB-4FFB-8FF9B2CCECC5}"/>
              </a:ext>
            </a:extLst>
          </p:cNvPr>
          <p:cNvSpPr/>
          <p:nvPr/>
        </p:nvSpPr>
        <p:spPr>
          <a:xfrm>
            <a:off x="609600" y="121920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5" name="Text 3">
            <a:extLst>
              <a:ext uri="{FF2B5EF4-FFF2-40B4-BE49-F238E27FC236}">
                <a16:creationId xmlns:a16="http://schemas.microsoft.com/office/drawing/2014/main" id="{7438BAA3-7B4C-525E-741D-847175BD588C}"/>
              </a:ext>
            </a:extLst>
          </p:cNvPr>
          <p:cNvSpPr/>
          <p:nvPr/>
        </p:nvSpPr>
        <p:spPr>
          <a:xfrm>
            <a:off x="609600" y="134112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6" name="Text 4">
            <a:extLst>
              <a:ext uri="{FF2B5EF4-FFF2-40B4-BE49-F238E27FC236}">
                <a16:creationId xmlns:a16="http://schemas.microsoft.com/office/drawing/2014/main" id="{38FFBFC9-E661-D18A-62E5-FFE411126E67}"/>
              </a:ext>
            </a:extLst>
          </p:cNvPr>
          <p:cNvSpPr/>
          <p:nvPr/>
        </p:nvSpPr>
        <p:spPr>
          <a:xfrm>
            <a:off x="731520" y="2133600"/>
            <a:ext cx="3169920" cy="463296"/>
          </a:xfrm>
          <a:prstGeom prst="rect">
            <a:avLst/>
          </a:prstGeom>
          <a:noFill/>
          <a:ln/>
        </p:spPr>
        <p:txBody>
          <a:bodyPr wrap="square" lIns="0" tIns="0" rIns="0" bIns="0" rtlCol="0" anchor="ctr"/>
          <a:lstStyle/>
          <a:p>
            <a:pPr algn="ctr"/>
            <a:r>
              <a:rPr lang="en-US" sz="1867" b="1" dirty="0">
                <a:solidFill>
                  <a:srgbClr val="A855F7"/>
                </a:solidFill>
              </a:rPr>
              <a:t>Inicio</a:t>
            </a:r>
            <a:endParaRPr lang="en-US" sz="1867" dirty="0"/>
          </a:p>
        </p:txBody>
      </p:sp>
      <p:sp>
        <p:nvSpPr>
          <p:cNvPr id="7" name="Text 5">
            <a:extLst>
              <a:ext uri="{FF2B5EF4-FFF2-40B4-BE49-F238E27FC236}">
                <a16:creationId xmlns:a16="http://schemas.microsoft.com/office/drawing/2014/main" id="{6E54195B-158D-9EDB-810B-FBF202DD8DA9}"/>
              </a:ext>
            </a:extLst>
          </p:cNvPr>
          <p:cNvSpPr/>
          <p:nvPr/>
        </p:nvSpPr>
        <p:spPr>
          <a:xfrm>
            <a:off x="731520" y="259689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Portada con botones para iniciar sesión o registrarse</a:t>
            </a:r>
            <a:endParaRPr lang="en-US" sz="1467" dirty="0"/>
          </a:p>
        </p:txBody>
      </p:sp>
      <p:sp>
        <p:nvSpPr>
          <p:cNvPr id="8" name="Shape 6">
            <a:extLst>
              <a:ext uri="{FF2B5EF4-FFF2-40B4-BE49-F238E27FC236}">
                <a16:creationId xmlns:a16="http://schemas.microsoft.com/office/drawing/2014/main" id="{8C67953C-30F8-9907-7297-90A925F5ABB1}"/>
              </a:ext>
            </a:extLst>
          </p:cNvPr>
          <p:cNvSpPr/>
          <p:nvPr/>
        </p:nvSpPr>
        <p:spPr>
          <a:xfrm>
            <a:off x="4389120" y="121920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9" name="Text 7">
            <a:extLst>
              <a:ext uri="{FF2B5EF4-FFF2-40B4-BE49-F238E27FC236}">
                <a16:creationId xmlns:a16="http://schemas.microsoft.com/office/drawing/2014/main" id="{D8B0BE0E-3481-F02E-318B-7A35B3628E89}"/>
              </a:ext>
            </a:extLst>
          </p:cNvPr>
          <p:cNvSpPr/>
          <p:nvPr/>
        </p:nvSpPr>
        <p:spPr>
          <a:xfrm>
            <a:off x="4389120" y="134112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10" name="Text 8">
            <a:extLst>
              <a:ext uri="{FF2B5EF4-FFF2-40B4-BE49-F238E27FC236}">
                <a16:creationId xmlns:a16="http://schemas.microsoft.com/office/drawing/2014/main" id="{4221EB2E-7FC6-50EA-7DF3-E067ECC533C9}"/>
              </a:ext>
            </a:extLst>
          </p:cNvPr>
          <p:cNvSpPr/>
          <p:nvPr/>
        </p:nvSpPr>
        <p:spPr>
          <a:xfrm>
            <a:off x="4511040" y="2133600"/>
            <a:ext cx="3169920" cy="463296"/>
          </a:xfrm>
          <a:prstGeom prst="rect">
            <a:avLst/>
          </a:prstGeom>
          <a:noFill/>
          <a:ln/>
        </p:spPr>
        <p:txBody>
          <a:bodyPr wrap="square" lIns="0" tIns="0" rIns="0" bIns="0" rtlCol="0" anchor="ctr"/>
          <a:lstStyle/>
          <a:p>
            <a:pPr algn="ctr"/>
            <a:r>
              <a:rPr lang="en-US" sz="1867" b="1" dirty="0">
                <a:solidFill>
                  <a:srgbClr val="A855F7"/>
                </a:solidFill>
              </a:rPr>
              <a:t>Login</a:t>
            </a:r>
            <a:endParaRPr lang="en-US" sz="1867" dirty="0"/>
          </a:p>
        </p:txBody>
      </p:sp>
      <p:sp>
        <p:nvSpPr>
          <p:cNvPr id="11" name="Text 9">
            <a:extLst>
              <a:ext uri="{FF2B5EF4-FFF2-40B4-BE49-F238E27FC236}">
                <a16:creationId xmlns:a16="http://schemas.microsoft.com/office/drawing/2014/main" id="{9B09AD5C-4792-A13B-EEA2-FB45B3D31E90}"/>
              </a:ext>
            </a:extLst>
          </p:cNvPr>
          <p:cNvSpPr/>
          <p:nvPr/>
        </p:nvSpPr>
        <p:spPr>
          <a:xfrm>
            <a:off x="4511040" y="259689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Formulario de correo y contraseña</a:t>
            </a:r>
            <a:endParaRPr lang="en-US" sz="1467" dirty="0"/>
          </a:p>
        </p:txBody>
      </p:sp>
      <p:sp>
        <p:nvSpPr>
          <p:cNvPr id="12" name="Shape 10">
            <a:extLst>
              <a:ext uri="{FF2B5EF4-FFF2-40B4-BE49-F238E27FC236}">
                <a16:creationId xmlns:a16="http://schemas.microsoft.com/office/drawing/2014/main" id="{ADF80EF5-85CD-AF93-377E-30F9DA840AEF}"/>
              </a:ext>
            </a:extLst>
          </p:cNvPr>
          <p:cNvSpPr/>
          <p:nvPr/>
        </p:nvSpPr>
        <p:spPr>
          <a:xfrm>
            <a:off x="8168640" y="121920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13" name="Text 11">
            <a:extLst>
              <a:ext uri="{FF2B5EF4-FFF2-40B4-BE49-F238E27FC236}">
                <a16:creationId xmlns:a16="http://schemas.microsoft.com/office/drawing/2014/main" id="{0D25445B-33AB-9424-9FA6-AC3FC1D558C8}"/>
              </a:ext>
            </a:extLst>
          </p:cNvPr>
          <p:cNvSpPr/>
          <p:nvPr/>
        </p:nvSpPr>
        <p:spPr>
          <a:xfrm>
            <a:off x="8168640" y="134112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14" name="Text 12">
            <a:extLst>
              <a:ext uri="{FF2B5EF4-FFF2-40B4-BE49-F238E27FC236}">
                <a16:creationId xmlns:a16="http://schemas.microsoft.com/office/drawing/2014/main" id="{2CA3BABD-ADAA-7FF4-D915-A89368C49E24}"/>
              </a:ext>
            </a:extLst>
          </p:cNvPr>
          <p:cNvSpPr/>
          <p:nvPr/>
        </p:nvSpPr>
        <p:spPr>
          <a:xfrm>
            <a:off x="8290560" y="2133600"/>
            <a:ext cx="3169920" cy="463296"/>
          </a:xfrm>
          <a:prstGeom prst="rect">
            <a:avLst/>
          </a:prstGeom>
          <a:noFill/>
          <a:ln/>
        </p:spPr>
        <p:txBody>
          <a:bodyPr wrap="square" lIns="0" tIns="0" rIns="0" bIns="0" rtlCol="0" anchor="ctr"/>
          <a:lstStyle/>
          <a:p>
            <a:pPr algn="ctr"/>
            <a:r>
              <a:rPr lang="en-US" sz="1867" b="1" dirty="0">
                <a:solidFill>
                  <a:srgbClr val="A855F7"/>
                </a:solidFill>
              </a:rPr>
              <a:t>Registro</a:t>
            </a:r>
            <a:endParaRPr lang="en-US" sz="1867" dirty="0"/>
          </a:p>
        </p:txBody>
      </p:sp>
      <p:sp>
        <p:nvSpPr>
          <p:cNvPr id="15" name="Text 13">
            <a:extLst>
              <a:ext uri="{FF2B5EF4-FFF2-40B4-BE49-F238E27FC236}">
                <a16:creationId xmlns:a16="http://schemas.microsoft.com/office/drawing/2014/main" id="{A4A39436-1BCE-9D47-B855-41EB6B8F8980}"/>
              </a:ext>
            </a:extLst>
          </p:cNvPr>
          <p:cNvSpPr/>
          <p:nvPr/>
        </p:nvSpPr>
        <p:spPr>
          <a:xfrm>
            <a:off x="8290560" y="259689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Formulario completo con selector de tecnologías en chips</a:t>
            </a:r>
            <a:endParaRPr lang="en-US" sz="1467" dirty="0"/>
          </a:p>
        </p:txBody>
      </p:sp>
      <p:sp>
        <p:nvSpPr>
          <p:cNvPr id="16" name="Shape 14">
            <a:extLst>
              <a:ext uri="{FF2B5EF4-FFF2-40B4-BE49-F238E27FC236}">
                <a16:creationId xmlns:a16="http://schemas.microsoft.com/office/drawing/2014/main" id="{8F90CE75-5DBF-697D-4410-69164E3F993B}"/>
              </a:ext>
            </a:extLst>
          </p:cNvPr>
          <p:cNvSpPr/>
          <p:nvPr/>
        </p:nvSpPr>
        <p:spPr>
          <a:xfrm>
            <a:off x="609600" y="390144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17" name="Text 15">
            <a:extLst>
              <a:ext uri="{FF2B5EF4-FFF2-40B4-BE49-F238E27FC236}">
                <a16:creationId xmlns:a16="http://schemas.microsoft.com/office/drawing/2014/main" id="{AFEB9AB2-0CAE-EF27-5790-8A342C70C076}"/>
              </a:ext>
            </a:extLst>
          </p:cNvPr>
          <p:cNvSpPr/>
          <p:nvPr/>
        </p:nvSpPr>
        <p:spPr>
          <a:xfrm>
            <a:off x="609600" y="402336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18" name="Text 16">
            <a:extLst>
              <a:ext uri="{FF2B5EF4-FFF2-40B4-BE49-F238E27FC236}">
                <a16:creationId xmlns:a16="http://schemas.microsoft.com/office/drawing/2014/main" id="{8664C1DF-77B7-9BD1-6E0D-CD187737E68D}"/>
              </a:ext>
            </a:extLst>
          </p:cNvPr>
          <p:cNvSpPr/>
          <p:nvPr/>
        </p:nvSpPr>
        <p:spPr>
          <a:xfrm>
            <a:off x="731520" y="4815840"/>
            <a:ext cx="3169920" cy="463296"/>
          </a:xfrm>
          <a:prstGeom prst="rect">
            <a:avLst/>
          </a:prstGeom>
          <a:noFill/>
          <a:ln/>
        </p:spPr>
        <p:txBody>
          <a:bodyPr wrap="square" lIns="0" tIns="0" rIns="0" bIns="0" rtlCol="0" anchor="ctr"/>
          <a:lstStyle/>
          <a:p>
            <a:pPr algn="ctr"/>
            <a:r>
              <a:rPr lang="en-US" sz="1867" b="1" dirty="0">
                <a:solidFill>
                  <a:srgbClr val="A855F7"/>
                </a:solidFill>
              </a:rPr>
              <a:t>Dashboard</a:t>
            </a:r>
            <a:endParaRPr lang="en-US" sz="1867" dirty="0"/>
          </a:p>
        </p:txBody>
      </p:sp>
      <p:sp>
        <p:nvSpPr>
          <p:cNvPr id="19" name="Text 17">
            <a:extLst>
              <a:ext uri="{FF2B5EF4-FFF2-40B4-BE49-F238E27FC236}">
                <a16:creationId xmlns:a16="http://schemas.microsoft.com/office/drawing/2014/main" id="{007881AB-9482-E46F-0FE3-B983D75551D9}"/>
              </a:ext>
            </a:extLst>
          </p:cNvPr>
          <p:cNvSpPr/>
          <p:nvPr/>
        </p:nvSpPr>
        <p:spPr>
          <a:xfrm>
            <a:off x="731520" y="527913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Pila de tarjetas de perfiles. Swipe o botones ✕ ❤️ ↺</a:t>
            </a:r>
            <a:endParaRPr lang="en-US" sz="1467" dirty="0"/>
          </a:p>
        </p:txBody>
      </p:sp>
      <p:sp>
        <p:nvSpPr>
          <p:cNvPr id="20" name="Shape 18">
            <a:extLst>
              <a:ext uri="{FF2B5EF4-FFF2-40B4-BE49-F238E27FC236}">
                <a16:creationId xmlns:a16="http://schemas.microsoft.com/office/drawing/2014/main" id="{FBEEE870-F163-F1CE-6726-770441432BE9}"/>
              </a:ext>
            </a:extLst>
          </p:cNvPr>
          <p:cNvSpPr/>
          <p:nvPr/>
        </p:nvSpPr>
        <p:spPr>
          <a:xfrm>
            <a:off x="4389120" y="390144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21" name="Text 19">
            <a:extLst>
              <a:ext uri="{FF2B5EF4-FFF2-40B4-BE49-F238E27FC236}">
                <a16:creationId xmlns:a16="http://schemas.microsoft.com/office/drawing/2014/main" id="{A3427E3F-0A2C-94C9-5818-E38291577317}"/>
              </a:ext>
            </a:extLst>
          </p:cNvPr>
          <p:cNvSpPr/>
          <p:nvPr/>
        </p:nvSpPr>
        <p:spPr>
          <a:xfrm>
            <a:off x="4389120" y="402336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22" name="Text 20">
            <a:extLst>
              <a:ext uri="{FF2B5EF4-FFF2-40B4-BE49-F238E27FC236}">
                <a16:creationId xmlns:a16="http://schemas.microsoft.com/office/drawing/2014/main" id="{9F484385-7895-5B18-1F01-AF72FB01F8BF}"/>
              </a:ext>
            </a:extLst>
          </p:cNvPr>
          <p:cNvSpPr/>
          <p:nvPr/>
        </p:nvSpPr>
        <p:spPr>
          <a:xfrm>
            <a:off x="4511040" y="4815840"/>
            <a:ext cx="3169920" cy="463296"/>
          </a:xfrm>
          <a:prstGeom prst="rect">
            <a:avLst/>
          </a:prstGeom>
          <a:noFill/>
          <a:ln/>
        </p:spPr>
        <p:txBody>
          <a:bodyPr wrap="square" lIns="0" tIns="0" rIns="0" bIns="0" rtlCol="0" anchor="ctr"/>
          <a:lstStyle/>
          <a:p>
            <a:pPr algn="ctr"/>
            <a:r>
              <a:rPr lang="en-US" sz="1867" b="1" dirty="0">
                <a:solidFill>
                  <a:srgbClr val="A855F7"/>
                </a:solidFill>
              </a:rPr>
              <a:t>Matches</a:t>
            </a:r>
            <a:endParaRPr lang="en-US" sz="1867" dirty="0"/>
          </a:p>
        </p:txBody>
      </p:sp>
      <p:sp>
        <p:nvSpPr>
          <p:cNvPr id="23" name="Text 21">
            <a:extLst>
              <a:ext uri="{FF2B5EF4-FFF2-40B4-BE49-F238E27FC236}">
                <a16:creationId xmlns:a16="http://schemas.microsoft.com/office/drawing/2014/main" id="{6C8AD5C6-3606-D362-72F5-127D8119278C}"/>
              </a:ext>
            </a:extLst>
          </p:cNvPr>
          <p:cNvSpPr/>
          <p:nvPr/>
        </p:nvSpPr>
        <p:spPr>
          <a:xfrm>
            <a:off x="4511040" y="527913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Lista de todos los devs con quienes hiciste match</a:t>
            </a:r>
            <a:endParaRPr lang="en-US" sz="1467" dirty="0"/>
          </a:p>
        </p:txBody>
      </p:sp>
    </p:spTree>
    <p:extLst>
      <p:ext uri="{BB962C8B-B14F-4D97-AF65-F5344CB8AC3E}">
        <p14:creationId xmlns:p14="http://schemas.microsoft.com/office/powerpoint/2010/main" val="3323903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F60D29D-0D99-7C18-A3BA-4641DACE01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25450"/>
            <a:ext cx="12192000" cy="6007100"/>
          </a:xfrm>
          <a:prstGeom prst="rect">
            <a:avLst/>
          </a:prstGeom>
        </p:spPr>
      </p:pic>
    </p:spTree>
    <p:extLst>
      <p:ext uri="{BB962C8B-B14F-4D97-AF65-F5344CB8AC3E}">
        <p14:creationId xmlns:p14="http://schemas.microsoft.com/office/powerpoint/2010/main" val="2295543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B1F9F-4FBB-0D69-9D8C-5D3DEC01988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B830B3F-541D-896B-5C57-594A92FD886E}"/>
              </a:ext>
            </a:extLst>
          </p:cNvPr>
          <p:cNvSpPr/>
          <p:nvPr/>
        </p:nvSpPr>
        <p:spPr>
          <a:xfrm>
            <a:off x="0" y="0"/>
            <a:ext cx="12192000" cy="73152"/>
          </a:xfrm>
          <a:prstGeom prst="rect">
            <a:avLst/>
          </a:prstGeom>
          <a:solidFill>
            <a:srgbClr val="A855F7"/>
          </a:solidFill>
          <a:ln w="12700">
            <a:solidFill>
              <a:srgbClr val="A855F7"/>
            </a:solidFill>
            <a:prstDash val="solid"/>
          </a:ln>
        </p:spPr>
        <p:txBody>
          <a:bodyPr/>
          <a:lstStyle/>
          <a:p>
            <a:endParaRPr lang="es-ES" sz="2400"/>
          </a:p>
        </p:txBody>
      </p:sp>
      <p:sp>
        <p:nvSpPr>
          <p:cNvPr id="3" name="Text 1">
            <a:extLst>
              <a:ext uri="{FF2B5EF4-FFF2-40B4-BE49-F238E27FC236}">
                <a16:creationId xmlns:a16="http://schemas.microsoft.com/office/drawing/2014/main" id="{F0C183DD-C60E-F683-6D96-80AFCC5D7903}"/>
              </a:ext>
            </a:extLst>
          </p:cNvPr>
          <p:cNvSpPr/>
          <p:nvPr/>
        </p:nvSpPr>
        <p:spPr>
          <a:xfrm>
            <a:off x="609600" y="219456"/>
            <a:ext cx="10972800" cy="914400"/>
          </a:xfrm>
          <a:prstGeom prst="rect">
            <a:avLst/>
          </a:prstGeom>
          <a:noFill/>
          <a:ln/>
        </p:spPr>
        <p:txBody>
          <a:bodyPr wrap="square" lIns="0" tIns="0" rIns="0" bIns="0" rtlCol="0" anchor="ctr"/>
          <a:lstStyle/>
          <a:p>
            <a:r>
              <a:rPr lang="en-US" sz="4800" b="1" dirty="0">
                <a:solidFill>
                  <a:srgbClr val="F5F0FF"/>
                </a:solidFill>
                <a:latin typeface="Trebuchet MS" pitchFamily="34" charset="0"/>
                <a:ea typeface="Trebuchet MS" pitchFamily="34" charset="-122"/>
                <a:cs typeface="Trebuchet MS" pitchFamily="34" charset="-120"/>
              </a:rPr>
              <a:t>Las pantallas de la aplicación</a:t>
            </a:r>
            <a:endParaRPr lang="en-US" sz="4800" dirty="0"/>
          </a:p>
        </p:txBody>
      </p:sp>
      <p:sp>
        <p:nvSpPr>
          <p:cNvPr id="4" name="Shape 2">
            <a:extLst>
              <a:ext uri="{FF2B5EF4-FFF2-40B4-BE49-F238E27FC236}">
                <a16:creationId xmlns:a16="http://schemas.microsoft.com/office/drawing/2014/main" id="{E14EE323-52F2-1EFB-669F-4277F2FB687E}"/>
              </a:ext>
            </a:extLst>
          </p:cNvPr>
          <p:cNvSpPr/>
          <p:nvPr/>
        </p:nvSpPr>
        <p:spPr>
          <a:xfrm>
            <a:off x="609600" y="121920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5" name="Text 3">
            <a:extLst>
              <a:ext uri="{FF2B5EF4-FFF2-40B4-BE49-F238E27FC236}">
                <a16:creationId xmlns:a16="http://schemas.microsoft.com/office/drawing/2014/main" id="{26E2629F-AB54-AB06-16E2-C27B67A46408}"/>
              </a:ext>
            </a:extLst>
          </p:cNvPr>
          <p:cNvSpPr/>
          <p:nvPr/>
        </p:nvSpPr>
        <p:spPr>
          <a:xfrm>
            <a:off x="609600" y="134112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6" name="Text 4">
            <a:extLst>
              <a:ext uri="{FF2B5EF4-FFF2-40B4-BE49-F238E27FC236}">
                <a16:creationId xmlns:a16="http://schemas.microsoft.com/office/drawing/2014/main" id="{207E7A8F-3B1D-AFF4-E515-956D9354E3A3}"/>
              </a:ext>
            </a:extLst>
          </p:cNvPr>
          <p:cNvSpPr/>
          <p:nvPr/>
        </p:nvSpPr>
        <p:spPr>
          <a:xfrm>
            <a:off x="731520" y="2133600"/>
            <a:ext cx="3169920" cy="463296"/>
          </a:xfrm>
          <a:prstGeom prst="rect">
            <a:avLst/>
          </a:prstGeom>
          <a:noFill/>
          <a:ln/>
        </p:spPr>
        <p:txBody>
          <a:bodyPr wrap="square" lIns="0" tIns="0" rIns="0" bIns="0" rtlCol="0" anchor="ctr"/>
          <a:lstStyle/>
          <a:p>
            <a:pPr algn="ctr"/>
            <a:r>
              <a:rPr lang="en-US" sz="1867" b="1" dirty="0">
                <a:solidFill>
                  <a:srgbClr val="A855F7"/>
                </a:solidFill>
              </a:rPr>
              <a:t>Inicio</a:t>
            </a:r>
            <a:endParaRPr lang="en-US" sz="1867" dirty="0"/>
          </a:p>
        </p:txBody>
      </p:sp>
      <p:sp>
        <p:nvSpPr>
          <p:cNvPr id="7" name="Text 5">
            <a:extLst>
              <a:ext uri="{FF2B5EF4-FFF2-40B4-BE49-F238E27FC236}">
                <a16:creationId xmlns:a16="http://schemas.microsoft.com/office/drawing/2014/main" id="{85521A56-0E2C-5CB5-281C-15F8A1B4C3C7}"/>
              </a:ext>
            </a:extLst>
          </p:cNvPr>
          <p:cNvSpPr/>
          <p:nvPr/>
        </p:nvSpPr>
        <p:spPr>
          <a:xfrm>
            <a:off x="731520" y="259689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Portada con botones para iniciar sesión o registrarse</a:t>
            </a:r>
            <a:endParaRPr lang="en-US" sz="1467" dirty="0"/>
          </a:p>
        </p:txBody>
      </p:sp>
      <p:sp>
        <p:nvSpPr>
          <p:cNvPr id="8" name="Shape 6">
            <a:extLst>
              <a:ext uri="{FF2B5EF4-FFF2-40B4-BE49-F238E27FC236}">
                <a16:creationId xmlns:a16="http://schemas.microsoft.com/office/drawing/2014/main" id="{2A99F219-0249-5D68-4978-8F20FE9DD140}"/>
              </a:ext>
            </a:extLst>
          </p:cNvPr>
          <p:cNvSpPr/>
          <p:nvPr/>
        </p:nvSpPr>
        <p:spPr>
          <a:xfrm>
            <a:off x="4389120" y="121920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9" name="Text 7">
            <a:extLst>
              <a:ext uri="{FF2B5EF4-FFF2-40B4-BE49-F238E27FC236}">
                <a16:creationId xmlns:a16="http://schemas.microsoft.com/office/drawing/2014/main" id="{89FC5EF9-BB37-4CA1-6D9E-3C63A8B3635F}"/>
              </a:ext>
            </a:extLst>
          </p:cNvPr>
          <p:cNvSpPr/>
          <p:nvPr/>
        </p:nvSpPr>
        <p:spPr>
          <a:xfrm>
            <a:off x="4389120" y="134112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10" name="Text 8">
            <a:extLst>
              <a:ext uri="{FF2B5EF4-FFF2-40B4-BE49-F238E27FC236}">
                <a16:creationId xmlns:a16="http://schemas.microsoft.com/office/drawing/2014/main" id="{09A5DB9B-5B75-D5E9-FB21-24562DA785CA}"/>
              </a:ext>
            </a:extLst>
          </p:cNvPr>
          <p:cNvSpPr/>
          <p:nvPr/>
        </p:nvSpPr>
        <p:spPr>
          <a:xfrm>
            <a:off x="4511040" y="2133600"/>
            <a:ext cx="3169920" cy="463296"/>
          </a:xfrm>
          <a:prstGeom prst="rect">
            <a:avLst/>
          </a:prstGeom>
          <a:noFill/>
          <a:ln/>
        </p:spPr>
        <p:txBody>
          <a:bodyPr wrap="square" lIns="0" tIns="0" rIns="0" bIns="0" rtlCol="0" anchor="ctr"/>
          <a:lstStyle/>
          <a:p>
            <a:pPr algn="ctr"/>
            <a:r>
              <a:rPr lang="en-US" sz="1867" b="1" dirty="0">
                <a:solidFill>
                  <a:srgbClr val="A855F7"/>
                </a:solidFill>
              </a:rPr>
              <a:t>Login</a:t>
            </a:r>
            <a:endParaRPr lang="en-US" sz="1867" dirty="0"/>
          </a:p>
        </p:txBody>
      </p:sp>
      <p:sp>
        <p:nvSpPr>
          <p:cNvPr id="11" name="Text 9">
            <a:extLst>
              <a:ext uri="{FF2B5EF4-FFF2-40B4-BE49-F238E27FC236}">
                <a16:creationId xmlns:a16="http://schemas.microsoft.com/office/drawing/2014/main" id="{995D0D78-5536-A191-D272-8E551BE4F1C9}"/>
              </a:ext>
            </a:extLst>
          </p:cNvPr>
          <p:cNvSpPr/>
          <p:nvPr/>
        </p:nvSpPr>
        <p:spPr>
          <a:xfrm>
            <a:off x="4511040" y="259689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Formulario de correo y contraseña</a:t>
            </a:r>
            <a:endParaRPr lang="en-US" sz="1467" dirty="0"/>
          </a:p>
        </p:txBody>
      </p:sp>
      <p:sp>
        <p:nvSpPr>
          <p:cNvPr id="12" name="Shape 10">
            <a:extLst>
              <a:ext uri="{FF2B5EF4-FFF2-40B4-BE49-F238E27FC236}">
                <a16:creationId xmlns:a16="http://schemas.microsoft.com/office/drawing/2014/main" id="{93528C3A-87B3-02BD-7179-2340F8AE2EEF}"/>
              </a:ext>
            </a:extLst>
          </p:cNvPr>
          <p:cNvSpPr/>
          <p:nvPr/>
        </p:nvSpPr>
        <p:spPr>
          <a:xfrm>
            <a:off x="8168640" y="121920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13" name="Text 11">
            <a:extLst>
              <a:ext uri="{FF2B5EF4-FFF2-40B4-BE49-F238E27FC236}">
                <a16:creationId xmlns:a16="http://schemas.microsoft.com/office/drawing/2014/main" id="{C0665264-E989-C884-4622-6B05B6ECB5DE}"/>
              </a:ext>
            </a:extLst>
          </p:cNvPr>
          <p:cNvSpPr/>
          <p:nvPr/>
        </p:nvSpPr>
        <p:spPr>
          <a:xfrm>
            <a:off x="8168640" y="134112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14" name="Text 12">
            <a:extLst>
              <a:ext uri="{FF2B5EF4-FFF2-40B4-BE49-F238E27FC236}">
                <a16:creationId xmlns:a16="http://schemas.microsoft.com/office/drawing/2014/main" id="{2C393196-6323-93E9-E3B1-1816CBFB4124}"/>
              </a:ext>
            </a:extLst>
          </p:cNvPr>
          <p:cNvSpPr/>
          <p:nvPr/>
        </p:nvSpPr>
        <p:spPr>
          <a:xfrm>
            <a:off x="8290560" y="2133600"/>
            <a:ext cx="3169920" cy="463296"/>
          </a:xfrm>
          <a:prstGeom prst="rect">
            <a:avLst/>
          </a:prstGeom>
          <a:noFill/>
          <a:ln/>
        </p:spPr>
        <p:txBody>
          <a:bodyPr wrap="square" lIns="0" tIns="0" rIns="0" bIns="0" rtlCol="0" anchor="ctr"/>
          <a:lstStyle/>
          <a:p>
            <a:pPr algn="ctr"/>
            <a:r>
              <a:rPr lang="en-US" sz="1867" b="1" dirty="0">
                <a:solidFill>
                  <a:srgbClr val="A855F7"/>
                </a:solidFill>
              </a:rPr>
              <a:t>Registro</a:t>
            </a:r>
            <a:endParaRPr lang="en-US" sz="1867" dirty="0"/>
          </a:p>
        </p:txBody>
      </p:sp>
      <p:sp>
        <p:nvSpPr>
          <p:cNvPr id="15" name="Text 13">
            <a:extLst>
              <a:ext uri="{FF2B5EF4-FFF2-40B4-BE49-F238E27FC236}">
                <a16:creationId xmlns:a16="http://schemas.microsoft.com/office/drawing/2014/main" id="{94F54B89-187F-E69C-2051-501631632246}"/>
              </a:ext>
            </a:extLst>
          </p:cNvPr>
          <p:cNvSpPr/>
          <p:nvPr/>
        </p:nvSpPr>
        <p:spPr>
          <a:xfrm>
            <a:off x="8290560" y="259689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Formulario completo con selector de tecnologías en chips</a:t>
            </a:r>
            <a:endParaRPr lang="en-US" sz="1467" dirty="0"/>
          </a:p>
        </p:txBody>
      </p:sp>
      <p:sp>
        <p:nvSpPr>
          <p:cNvPr id="16" name="Shape 14">
            <a:extLst>
              <a:ext uri="{FF2B5EF4-FFF2-40B4-BE49-F238E27FC236}">
                <a16:creationId xmlns:a16="http://schemas.microsoft.com/office/drawing/2014/main" id="{E1F2157C-2F6E-32CE-363C-45B3E70BF5F8}"/>
              </a:ext>
            </a:extLst>
          </p:cNvPr>
          <p:cNvSpPr/>
          <p:nvPr/>
        </p:nvSpPr>
        <p:spPr>
          <a:xfrm>
            <a:off x="609600" y="390144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17" name="Text 15">
            <a:extLst>
              <a:ext uri="{FF2B5EF4-FFF2-40B4-BE49-F238E27FC236}">
                <a16:creationId xmlns:a16="http://schemas.microsoft.com/office/drawing/2014/main" id="{D95BD856-6617-C6B6-A48C-FFDE8DF469A1}"/>
              </a:ext>
            </a:extLst>
          </p:cNvPr>
          <p:cNvSpPr/>
          <p:nvPr/>
        </p:nvSpPr>
        <p:spPr>
          <a:xfrm>
            <a:off x="609600" y="402336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18" name="Text 16">
            <a:extLst>
              <a:ext uri="{FF2B5EF4-FFF2-40B4-BE49-F238E27FC236}">
                <a16:creationId xmlns:a16="http://schemas.microsoft.com/office/drawing/2014/main" id="{3D129DB0-A87B-0AE3-08F2-443CE595DEE2}"/>
              </a:ext>
            </a:extLst>
          </p:cNvPr>
          <p:cNvSpPr/>
          <p:nvPr/>
        </p:nvSpPr>
        <p:spPr>
          <a:xfrm>
            <a:off x="731520" y="4815840"/>
            <a:ext cx="3169920" cy="463296"/>
          </a:xfrm>
          <a:prstGeom prst="rect">
            <a:avLst/>
          </a:prstGeom>
          <a:noFill/>
          <a:ln/>
        </p:spPr>
        <p:txBody>
          <a:bodyPr wrap="square" lIns="0" tIns="0" rIns="0" bIns="0" rtlCol="0" anchor="ctr"/>
          <a:lstStyle/>
          <a:p>
            <a:pPr algn="ctr"/>
            <a:r>
              <a:rPr lang="en-US" sz="1867" b="1" dirty="0">
                <a:solidFill>
                  <a:srgbClr val="A855F7"/>
                </a:solidFill>
              </a:rPr>
              <a:t>Dashboard</a:t>
            </a:r>
            <a:endParaRPr lang="en-US" sz="1867" dirty="0"/>
          </a:p>
        </p:txBody>
      </p:sp>
      <p:sp>
        <p:nvSpPr>
          <p:cNvPr id="19" name="Text 17">
            <a:extLst>
              <a:ext uri="{FF2B5EF4-FFF2-40B4-BE49-F238E27FC236}">
                <a16:creationId xmlns:a16="http://schemas.microsoft.com/office/drawing/2014/main" id="{64D9D38D-4064-9E4F-E1E8-2A6021A7B1FF}"/>
              </a:ext>
            </a:extLst>
          </p:cNvPr>
          <p:cNvSpPr/>
          <p:nvPr/>
        </p:nvSpPr>
        <p:spPr>
          <a:xfrm>
            <a:off x="731520" y="527913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Pila de tarjetas de perfiles. Swipe o botones ✕ ❤️ ↺</a:t>
            </a:r>
            <a:endParaRPr lang="en-US" sz="1467" dirty="0"/>
          </a:p>
        </p:txBody>
      </p:sp>
      <p:sp>
        <p:nvSpPr>
          <p:cNvPr id="20" name="Shape 18">
            <a:extLst>
              <a:ext uri="{FF2B5EF4-FFF2-40B4-BE49-F238E27FC236}">
                <a16:creationId xmlns:a16="http://schemas.microsoft.com/office/drawing/2014/main" id="{74AB0777-BA69-7968-E4B8-DA359F4A19CA}"/>
              </a:ext>
            </a:extLst>
          </p:cNvPr>
          <p:cNvSpPr/>
          <p:nvPr/>
        </p:nvSpPr>
        <p:spPr>
          <a:xfrm>
            <a:off x="4389120" y="3901440"/>
            <a:ext cx="3413760" cy="2377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sz="2400"/>
          </a:p>
        </p:txBody>
      </p:sp>
      <p:sp>
        <p:nvSpPr>
          <p:cNvPr id="21" name="Text 19">
            <a:extLst>
              <a:ext uri="{FF2B5EF4-FFF2-40B4-BE49-F238E27FC236}">
                <a16:creationId xmlns:a16="http://schemas.microsoft.com/office/drawing/2014/main" id="{F219B52B-2577-7B6D-C8D2-74F5294D06B6}"/>
              </a:ext>
            </a:extLst>
          </p:cNvPr>
          <p:cNvSpPr/>
          <p:nvPr/>
        </p:nvSpPr>
        <p:spPr>
          <a:xfrm>
            <a:off x="4389120" y="4023360"/>
            <a:ext cx="3413760" cy="79248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22" name="Text 20">
            <a:extLst>
              <a:ext uri="{FF2B5EF4-FFF2-40B4-BE49-F238E27FC236}">
                <a16:creationId xmlns:a16="http://schemas.microsoft.com/office/drawing/2014/main" id="{C5BD50F6-B12D-A8E9-181F-CDA92DA5033A}"/>
              </a:ext>
            </a:extLst>
          </p:cNvPr>
          <p:cNvSpPr/>
          <p:nvPr/>
        </p:nvSpPr>
        <p:spPr>
          <a:xfrm>
            <a:off x="4511040" y="4815840"/>
            <a:ext cx="3169920" cy="463296"/>
          </a:xfrm>
          <a:prstGeom prst="rect">
            <a:avLst/>
          </a:prstGeom>
          <a:noFill/>
          <a:ln/>
        </p:spPr>
        <p:txBody>
          <a:bodyPr wrap="square" lIns="0" tIns="0" rIns="0" bIns="0" rtlCol="0" anchor="ctr"/>
          <a:lstStyle/>
          <a:p>
            <a:pPr algn="ctr"/>
            <a:r>
              <a:rPr lang="en-US" sz="1867" b="1" dirty="0">
                <a:solidFill>
                  <a:srgbClr val="A855F7"/>
                </a:solidFill>
              </a:rPr>
              <a:t>Matches</a:t>
            </a:r>
            <a:endParaRPr lang="en-US" sz="1867" dirty="0"/>
          </a:p>
        </p:txBody>
      </p:sp>
      <p:sp>
        <p:nvSpPr>
          <p:cNvPr id="23" name="Text 21">
            <a:extLst>
              <a:ext uri="{FF2B5EF4-FFF2-40B4-BE49-F238E27FC236}">
                <a16:creationId xmlns:a16="http://schemas.microsoft.com/office/drawing/2014/main" id="{FA29361B-7F99-5DBE-D116-FA691BE2D21A}"/>
              </a:ext>
            </a:extLst>
          </p:cNvPr>
          <p:cNvSpPr/>
          <p:nvPr/>
        </p:nvSpPr>
        <p:spPr>
          <a:xfrm>
            <a:off x="4511040" y="5279136"/>
            <a:ext cx="3169920" cy="877824"/>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Lista de todos los devs con quienes hiciste match</a:t>
            </a:r>
            <a:endParaRPr lang="en-US" sz="1467" dirty="0"/>
          </a:p>
        </p:txBody>
      </p:sp>
    </p:spTree>
    <p:extLst>
      <p:ext uri="{BB962C8B-B14F-4D97-AF65-F5344CB8AC3E}">
        <p14:creationId xmlns:p14="http://schemas.microsoft.com/office/powerpoint/2010/main" val="750914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C2B2E90-E8E6-6C3E-1F13-FDC2A27FB2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1800"/>
            <a:ext cx="12192000" cy="5994400"/>
          </a:xfrm>
          <a:prstGeom prst="rect">
            <a:avLst/>
          </a:prstGeom>
        </p:spPr>
      </p:pic>
    </p:spTree>
    <p:extLst>
      <p:ext uri="{BB962C8B-B14F-4D97-AF65-F5344CB8AC3E}">
        <p14:creationId xmlns:p14="http://schemas.microsoft.com/office/powerpoint/2010/main" val="809894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7C3AED"/>
          </a:solidFill>
          <a:ln w="12700">
            <a:solidFill>
              <a:srgbClr val="7C3AED"/>
            </a:solidFill>
            <a:prstDash val="solid"/>
          </a:ln>
        </p:spPr>
        <p:txBody>
          <a:bodyPr/>
          <a:lstStyle/>
          <a:p>
            <a:endParaRPr lang="es-ES"/>
          </a:p>
        </p:txBody>
      </p:sp>
      <p:sp>
        <p:nvSpPr>
          <p:cNvPr id="3" name="Text 1"/>
          <p:cNvSpPr/>
          <p:nvPr/>
        </p:nvSpPr>
        <p:spPr>
          <a:xfrm>
            <a:off x="609600" y="219456"/>
            <a:ext cx="10972800" cy="914400"/>
          </a:xfrm>
          <a:prstGeom prst="rect">
            <a:avLst/>
          </a:prstGeom>
          <a:noFill/>
          <a:ln/>
        </p:spPr>
        <p:txBody>
          <a:bodyPr wrap="square" lIns="0" tIns="0" rIns="0" bIns="0" rtlCol="0" anchor="ctr"/>
          <a:lstStyle/>
          <a:p>
            <a:r>
              <a:rPr lang="en-US" sz="4800" b="1" dirty="0">
                <a:solidFill>
                  <a:srgbClr val="F5F0FF"/>
                </a:solidFill>
                <a:latin typeface="Trebuchet MS" pitchFamily="34" charset="0"/>
                <a:ea typeface="Trebuchet MS" pitchFamily="34" charset="-122"/>
                <a:cs typeface="Trebuchet MS" pitchFamily="34" charset="-120"/>
              </a:rPr>
              <a:t>Estructura del código Java</a:t>
            </a:r>
            <a:endParaRPr lang="en-US" sz="4800" dirty="0"/>
          </a:p>
        </p:txBody>
      </p:sp>
      <p:sp>
        <p:nvSpPr>
          <p:cNvPr id="4" name="Text 2"/>
          <p:cNvSpPr/>
          <p:nvPr/>
        </p:nvSpPr>
        <p:spPr>
          <a:xfrm>
            <a:off x="609600" y="1097280"/>
            <a:ext cx="10972800" cy="463296"/>
          </a:xfrm>
          <a:prstGeom prst="rect">
            <a:avLst/>
          </a:prstGeom>
          <a:noFill/>
          <a:ln/>
        </p:spPr>
        <p:txBody>
          <a:bodyPr wrap="square" lIns="0" tIns="0" rIns="0" bIns="0" rtlCol="0" anchor="ctr"/>
          <a:lstStyle/>
          <a:p>
            <a:r>
              <a:rPr lang="en-US" sz="1733" dirty="0">
                <a:solidFill>
                  <a:srgbClr val="C4B5D8"/>
                </a:solidFill>
                <a:latin typeface="Calibri" pitchFamily="34" charset="0"/>
                <a:ea typeface="Calibri" pitchFamily="34" charset="-122"/>
                <a:cs typeface="Calibri" pitchFamily="34" charset="-120"/>
              </a:rPr>
              <a:t>El backend está organizado en 3 capas. Cada una tiene una responsabilidad clara:</a:t>
            </a:r>
            <a:endParaRPr lang="en-US" sz="1733" dirty="0"/>
          </a:p>
        </p:txBody>
      </p:sp>
      <p:sp>
        <p:nvSpPr>
          <p:cNvPr id="5" name="Shape 3"/>
          <p:cNvSpPr/>
          <p:nvPr/>
        </p:nvSpPr>
        <p:spPr>
          <a:xfrm>
            <a:off x="487680" y="1706880"/>
            <a:ext cx="146304" cy="1438656"/>
          </a:xfrm>
          <a:prstGeom prst="rect">
            <a:avLst/>
          </a:prstGeom>
          <a:solidFill>
            <a:srgbClr val="0EA5E9"/>
          </a:solidFill>
          <a:ln w="12700">
            <a:solidFill>
              <a:srgbClr val="0EA5E9"/>
            </a:solidFill>
            <a:prstDash val="solid"/>
          </a:ln>
        </p:spPr>
        <p:txBody>
          <a:bodyPr/>
          <a:lstStyle/>
          <a:p>
            <a:endParaRPr lang="es-ES"/>
          </a:p>
        </p:txBody>
      </p:sp>
      <p:sp>
        <p:nvSpPr>
          <p:cNvPr id="6" name="Shape 4"/>
          <p:cNvSpPr/>
          <p:nvPr/>
        </p:nvSpPr>
        <p:spPr>
          <a:xfrm>
            <a:off x="670560" y="1706880"/>
            <a:ext cx="11033760" cy="1438656"/>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a:p>
        </p:txBody>
      </p:sp>
      <p:sp>
        <p:nvSpPr>
          <p:cNvPr id="7" name="Text 5"/>
          <p:cNvSpPr/>
          <p:nvPr/>
        </p:nvSpPr>
        <p:spPr>
          <a:xfrm>
            <a:off x="914400" y="1804416"/>
            <a:ext cx="5486400" cy="463296"/>
          </a:xfrm>
          <a:prstGeom prst="rect">
            <a:avLst/>
          </a:prstGeom>
          <a:noFill/>
          <a:ln/>
        </p:spPr>
        <p:txBody>
          <a:bodyPr wrap="square" lIns="0" tIns="0" rIns="0" bIns="0" rtlCol="0" anchor="ctr"/>
          <a:lstStyle/>
          <a:p>
            <a:r>
              <a:rPr lang="en-US" sz="2000" b="1" dirty="0">
                <a:solidFill>
                  <a:srgbClr val="0EA5E9"/>
                </a:solidFill>
                <a:latin typeface="Trebuchet MS" pitchFamily="34" charset="0"/>
                <a:ea typeface="Trebuchet MS" pitchFamily="34" charset="-122"/>
                <a:cs typeface="Trebuchet MS" pitchFamily="34" charset="-120"/>
              </a:rPr>
              <a:t>🌐  1. Controller</a:t>
            </a:r>
            <a:endParaRPr lang="en-US" sz="2000" dirty="0"/>
          </a:p>
        </p:txBody>
      </p:sp>
      <p:sp>
        <p:nvSpPr>
          <p:cNvPr id="8" name="Text 6"/>
          <p:cNvSpPr/>
          <p:nvPr/>
        </p:nvSpPr>
        <p:spPr>
          <a:xfrm>
            <a:off x="914400" y="2279904"/>
            <a:ext cx="5364480" cy="365760"/>
          </a:xfrm>
          <a:prstGeom prst="rect">
            <a:avLst/>
          </a:prstGeom>
          <a:noFill/>
          <a:ln/>
        </p:spPr>
        <p:txBody>
          <a:bodyPr wrap="square" lIns="0" tIns="0" rIns="0" bIns="0" rtlCol="0" anchor="ctr"/>
          <a:lstStyle/>
          <a:p>
            <a:r>
              <a:rPr lang="en-US" sz="1600" b="1" dirty="0">
                <a:solidFill>
                  <a:srgbClr val="F5F0FF"/>
                </a:solidFill>
                <a:latin typeface="Calibri" pitchFamily="34" charset="0"/>
                <a:ea typeface="Calibri" pitchFamily="34" charset="-122"/>
                <a:cs typeface="Calibri" pitchFamily="34" charset="-120"/>
              </a:rPr>
              <a:t>Recibe las peticiones del navegador</a:t>
            </a:r>
            <a:endParaRPr lang="en-US" sz="1600" dirty="0"/>
          </a:p>
        </p:txBody>
      </p:sp>
      <p:sp>
        <p:nvSpPr>
          <p:cNvPr id="9" name="Text 7"/>
          <p:cNvSpPr/>
          <p:nvPr/>
        </p:nvSpPr>
        <p:spPr>
          <a:xfrm>
            <a:off x="914400" y="2633472"/>
            <a:ext cx="5364480" cy="414528"/>
          </a:xfrm>
          <a:prstGeom prst="rect">
            <a:avLst/>
          </a:prstGeom>
          <a:noFill/>
          <a:ln/>
        </p:spPr>
        <p:txBody>
          <a:bodyPr wrap="square" lIns="0" tIns="0" rIns="0" bIns="0" rtlCol="0" anchor="ctr"/>
          <a:lstStyle/>
          <a:p>
            <a:r>
              <a:rPr lang="en-US" sz="1333" dirty="0">
                <a:solidFill>
                  <a:srgbClr val="C4B5D8"/>
                </a:solidFill>
                <a:latin typeface="Calibri" pitchFamily="34" charset="0"/>
                <a:ea typeface="Calibri" pitchFamily="34" charset="-122"/>
                <a:cs typeface="Calibri" pitchFamily="34" charset="-120"/>
              </a:rPr>
              <a:t>Es la "puerta de entrada" de la API. Escucha rutas como /api/login o /api/likes y decide qué hacer con cada petición.</a:t>
            </a:r>
            <a:endParaRPr lang="en-US" sz="1333" dirty="0"/>
          </a:p>
        </p:txBody>
      </p:sp>
      <p:sp>
        <p:nvSpPr>
          <p:cNvPr id="10" name="Shape 8"/>
          <p:cNvSpPr/>
          <p:nvPr/>
        </p:nvSpPr>
        <p:spPr>
          <a:xfrm>
            <a:off x="6522720" y="1804416"/>
            <a:ext cx="4815840" cy="1219200"/>
          </a:xfrm>
          <a:prstGeom prst="rect">
            <a:avLst/>
          </a:prstGeom>
          <a:solidFill>
            <a:srgbClr val="0D0B1A"/>
          </a:solidFill>
          <a:ln w="12700">
            <a:solidFill>
              <a:srgbClr val="0EA5E9"/>
            </a:solidFill>
            <a:prstDash val="solid"/>
          </a:ln>
        </p:spPr>
        <p:txBody>
          <a:bodyPr/>
          <a:lstStyle/>
          <a:p>
            <a:endParaRPr lang="es-ES"/>
          </a:p>
        </p:txBody>
      </p:sp>
      <p:sp>
        <p:nvSpPr>
          <p:cNvPr id="11" name="Text 9"/>
          <p:cNvSpPr/>
          <p:nvPr/>
        </p:nvSpPr>
        <p:spPr>
          <a:xfrm>
            <a:off x="6644640" y="1865376"/>
            <a:ext cx="4572000" cy="304800"/>
          </a:xfrm>
          <a:prstGeom prst="rect">
            <a:avLst/>
          </a:prstGeom>
          <a:noFill/>
          <a:ln/>
        </p:spPr>
        <p:txBody>
          <a:bodyPr wrap="square" lIns="0" tIns="0" rIns="0" bIns="0" rtlCol="0" anchor="ctr"/>
          <a:lstStyle/>
          <a:p>
            <a:r>
              <a:rPr lang="en-US" sz="1200" dirty="0">
                <a:solidFill>
                  <a:srgbClr val="0EA5E9"/>
                </a:solidFill>
                <a:latin typeface="Consolas" pitchFamily="34" charset="0"/>
                <a:ea typeface="Consolas" pitchFamily="34" charset="-122"/>
                <a:cs typeface="Consolas" pitchFamily="34" charset="-120"/>
              </a:rPr>
              <a:t>Archivos:</a:t>
            </a:r>
            <a:endParaRPr lang="en-US" sz="1200" dirty="0"/>
          </a:p>
        </p:txBody>
      </p:sp>
      <p:sp>
        <p:nvSpPr>
          <p:cNvPr id="12" name="Text 10"/>
          <p:cNvSpPr/>
          <p:nvPr/>
        </p:nvSpPr>
        <p:spPr>
          <a:xfrm>
            <a:off x="6644640" y="2170176"/>
            <a:ext cx="4572000" cy="731520"/>
          </a:xfrm>
          <a:prstGeom prst="rect">
            <a:avLst/>
          </a:prstGeom>
          <a:noFill/>
          <a:ln/>
        </p:spPr>
        <p:txBody>
          <a:bodyPr wrap="square" lIns="0" tIns="0" rIns="0" bIns="0" rtlCol="0" anchor="ctr"/>
          <a:lstStyle/>
          <a:p>
            <a:r>
              <a:rPr lang="en-US" sz="1333" dirty="0">
                <a:solidFill>
                  <a:srgbClr val="C4B5D8"/>
                </a:solidFill>
                <a:latin typeface="Consolas" pitchFamily="34" charset="0"/>
                <a:ea typeface="Consolas" pitchFamily="34" charset="-122"/>
                <a:cs typeface="Consolas" pitchFamily="34" charset="-120"/>
              </a:rPr>
              <a:t>UsuarioController  ·  LikeController  ·  MachController</a:t>
            </a:r>
            <a:endParaRPr lang="en-US" sz="1333" dirty="0"/>
          </a:p>
        </p:txBody>
      </p:sp>
      <p:sp>
        <p:nvSpPr>
          <p:cNvPr id="13" name="Shape 11"/>
          <p:cNvSpPr/>
          <p:nvPr/>
        </p:nvSpPr>
        <p:spPr>
          <a:xfrm>
            <a:off x="487680" y="3352800"/>
            <a:ext cx="146304" cy="1438656"/>
          </a:xfrm>
          <a:prstGeom prst="rect">
            <a:avLst/>
          </a:prstGeom>
          <a:solidFill>
            <a:srgbClr val="A855F7"/>
          </a:solidFill>
          <a:ln w="12700">
            <a:solidFill>
              <a:srgbClr val="A855F7"/>
            </a:solidFill>
            <a:prstDash val="solid"/>
          </a:ln>
        </p:spPr>
        <p:txBody>
          <a:bodyPr/>
          <a:lstStyle/>
          <a:p>
            <a:endParaRPr lang="es-ES"/>
          </a:p>
        </p:txBody>
      </p:sp>
      <p:sp>
        <p:nvSpPr>
          <p:cNvPr id="14" name="Shape 12"/>
          <p:cNvSpPr/>
          <p:nvPr/>
        </p:nvSpPr>
        <p:spPr>
          <a:xfrm>
            <a:off x="670560" y="3352800"/>
            <a:ext cx="11033760" cy="1438656"/>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a:p>
        </p:txBody>
      </p:sp>
      <p:sp>
        <p:nvSpPr>
          <p:cNvPr id="15" name="Text 13"/>
          <p:cNvSpPr/>
          <p:nvPr/>
        </p:nvSpPr>
        <p:spPr>
          <a:xfrm>
            <a:off x="914400" y="3450336"/>
            <a:ext cx="5486400" cy="463296"/>
          </a:xfrm>
          <a:prstGeom prst="rect">
            <a:avLst/>
          </a:prstGeom>
          <a:noFill/>
          <a:ln/>
        </p:spPr>
        <p:txBody>
          <a:bodyPr wrap="square" lIns="0" tIns="0" rIns="0" bIns="0" rtlCol="0" anchor="ctr"/>
          <a:lstStyle/>
          <a:p>
            <a:r>
              <a:rPr lang="en-US" sz="2000" b="1" dirty="0">
                <a:solidFill>
                  <a:srgbClr val="A855F7"/>
                </a:solidFill>
                <a:latin typeface="Trebuchet MS" pitchFamily="34" charset="0"/>
                <a:ea typeface="Trebuchet MS" pitchFamily="34" charset="-122"/>
                <a:cs typeface="Trebuchet MS" pitchFamily="34" charset="-120"/>
              </a:rPr>
              <a:t>📦  2. Modelo (POJO)</a:t>
            </a:r>
            <a:endParaRPr lang="en-US" sz="2000" dirty="0"/>
          </a:p>
        </p:txBody>
      </p:sp>
      <p:sp>
        <p:nvSpPr>
          <p:cNvPr id="16" name="Text 14"/>
          <p:cNvSpPr/>
          <p:nvPr/>
        </p:nvSpPr>
        <p:spPr>
          <a:xfrm>
            <a:off x="914400" y="3925824"/>
            <a:ext cx="5364480" cy="365760"/>
          </a:xfrm>
          <a:prstGeom prst="rect">
            <a:avLst/>
          </a:prstGeom>
          <a:noFill/>
          <a:ln/>
        </p:spPr>
        <p:txBody>
          <a:bodyPr wrap="square" lIns="0" tIns="0" rIns="0" bIns="0" rtlCol="0" anchor="ctr"/>
          <a:lstStyle/>
          <a:p>
            <a:r>
              <a:rPr lang="en-US" sz="1600" b="1" dirty="0">
                <a:solidFill>
                  <a:srgbClr val="F5F0FF"/>
                </a:solidFill>
                <a:latin typeface="Calibri" pitchFamily="34" charset="0"/>
                <a:ea typeface="Calibri" pitchFamily="34" charset="-122"/>
                <a:cs typeface="Calibri" pitchFamily="34" charset="-120"/>
              </a:rPr>
              <a:t>Representa los datos del sistema</a:t>
            </a:r>
            <a:endParaRPr lang="en-US" sz="1600" dirty="0"/>
          </a:p>
        </p:txBody>
      </p:sp>
      <p:sp>
        <p:nvSpPr>
          <p:cNvPr id="17" name="Text 15"/>
          <p:cNvSpPr/>
          <p:nvPr/>
        </p:nvSpPr>
        <p:spPr>
          <a:xfrm>
            <a:off x="914400" y="4279392"/>
            <a:ext cx="5364480" cy="414528"/>
          </a:xfrm>
          <a:prstGeom prst="rect">
            <a:avLst/>
          </a:prstGeom>
          <a:noFill/>
          <a:ln/>
        </p:spPr>
        <p:txBody>
          <a:bodyPr wrap="square" lIns="0" tIns="0" rIns="0" bIns="0" rtlCol="0" anchor="ctr"/>
          <a:lstStyle/>
          <a:p>
            <a:r>
              <a:rPr lang="en-US" sz="1333" dirty="0">
                <a:solidFill>
                  <a:srgbClr val="C4B5D8"/>
                </a:solidFill>
                <a:latin typeface="Calibri" pitchFamily="34" charset="0"/>
                <a:ea typeface="Calibri" pitchFamily="34" charset="-122"/>
                <a:cs typeface="Calibri" pitchFamily="34" charset="-120"/>
              </a:rPr>
              <a:t>Clases simples que modelan los objetos del negocio: un Usuario, un Like, un Match, una Tecnología. Sin lógica, solo atributos.</a:t>
            </a:r>
            <a:endParaRPr lang="en-US" sz="1333" dirty="0"/>
          </a:p>
        </p:txBody>
      </p:sp>
      <p:sp>
        <p:nvSpPr>
          <p:cNvPr id="18" name="Shape 16"/>
          <p:cNvSpPr/>
          <p:nvPr/>
        </p:nvSpPr>
        <p:spPr>
          <a:xfrm>
            <a:off x="6522720" y="3450336"/>
            <a:ext cx="4815840" cy="1219200"/>
          </a:xfrm>
          <a:prstGeom prst="rect">
            <a:avLst/>
          </a:prstGeom>
          <a:solidFill>
            <a:srgbClr val="0D0B1A"/>
          </a:solidFill>
          <a:ln w="12700">
            <a:solidFill>
              <a:srgbClr val="A855F7"/>
            </a:solidFill>
            <a:prstDash val="solid"/>
          </a:ln>
        </p:spPr>
        <p:txBody>
          <a:bodyPr/>
          <a:lstStyle/>
          <a:p>
            <a:endParaRPr lang="es-ES"/>
          </a:p>
        </p:txBody>
      </p:sp>
      <p:sp>
        <p:nvSpPr>
          <p:cNvPr id="19" name="Text 17"/>
          <p:cNvSpPr/>
          <p:nvPr/>
        </p:nvSpPr>
        <p:spPr>
          <a:xfrm>
            <a:off x="6644640" y="3511296"/>
            <a:ext cx="4572000" cy="304800"/>
          </a:xfrm>
          <a:prstGeom prst="rect">
            <a:avLst/>
          </a:prstGeom>
          <a:noFill/>
          <a:ln/>
        </p:spPr>
        <p:txBody>
          <a:bodyPr wrap="square" lIns="0" tIns="0" rIns="0" bIns="0" rtlCol="0" anchor="ctr"/>
          <a:lstStyle/>
          <a:p>
            <a:r>
              <a:rPr lang="en-US" sz="1200" dirty="0">
                <a:solidFill>
                  <a:srgbClr val="A855F7"/>
                </a:solidFill>
                <a:latin typeface="Consolas" pitchFamily="34" charset="0"/>
                <a:ea typeface="Consolas" pitchFamily="34" charset="-122"/>
                <a:cs typeface="Consolas" pitchFamily="34" charset="-120"/>
              </a:rPr>
              <a:t>Archivos:</a:t>
            </a:r>
            <a:endParaRPr lang="en-US" sz="1200" dirty="0"/>
          </a:p>
        </p:txBody>
      </p:sp>
      <p:sp>
        <p:nvSpPr>
          <p:cNvPr id="20" name="Text 18"/>
          <p:cNvSpPr/>
          <p:nvPr/>
        </p:nvSpPr>
        <p:spPr>
          <a:xfrm>
            <a:off x="6644640" y="3816096"/>
            <a:ext cx="4572000" cy="731520"/>
          </a:xfrm>
          <a:prstGeom prst="rect">
            <a:avLst/>
          </a:prstGeom>
          <a:noFill/>
          <a:ln/>
        </p:spPr>
        <p:txBody>
          <a:bodyPr wrap="square" lIns="0" tIns="0" rIns="0" bIns="0" rtlCol="0" anchor="ctr"/>
          <a:lstStyle/>
          <a:p>
            <a:r>
              <a:rPr lang="en-US" sz="1333" dirty="0">
                <a:solidFill>
                  <a:srgbClr val="C4B5D8"/>
                </a:solidFill>
                <a:latin typeface="Consolas" pitchFamily="34" charset="0"/>
                <a:ea typeface="Consolas" pitchFamily="34" charset="-122"/>
                <a:cs typeface="Consolas" pitchFamily="34" charset="-120"/>
              </a:rPr>
              <a:t>Usuario  ·  Like  ·  Mach  ·  Tecnologia</a:t>
            </a:r>
            <a:endParaRPr lang="en-US" sz="1333" dirty="0"/>
          </a:p>
        </p:txBody>
      </p:sp>
      <p:sp>
        <p:nvSpPr>
          <p:cNvPr id="21" name="Shape 19"/>
          <p:cNvSpPr/>
          <p:nvPr/>
        </p:nvSpPr>
        <p:spPr>
          <a:xfrm>
            <a:off x="487680" y="4998720"/>
            <a:ext cx="146304" cy="1438656"/>
          </a:xfrm>
          <a:prstGeom prst="rect">
            <a:avLst/>
          </a:prstGeom>
          <a:solidFill>
            <a:srgbClr val="10B981"/>
          </a:solidFill>
          <a:ln w="12700">
            <a:solidFill>
              <a:srgbClr val="10B981"/>
            </a:solidFill>
            <a:prstDash val="solid"/>
          </a:ln>
        </p:spPr>
        <p:txBody>
          <a:bodyPr/>
          <a:lstStyle/>
          <a:p>
            <a:endParaRPr lang="es-ES"/>
          </a:p>
        </p:txBody>
      </p:sp>
      <p:sp>
        <p:nvSpPr>
          <p:cNvPr id="22" name="Shape 20"/>
          <p:cNvSpPr/>
          <p:nvPr/>
        </p:nvSpPr>
        <p:spPr>
          <a:xfrm>
            <a:off x="670560" y="4998720"/>
            <a:ext cx="11033760" cy="1438656"/>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a:p>
        </p:txBody>
      </p:sp>
      <p:sp>
        <p:nvSpPr>
          <p:cNvPr id="23" name="Text 21"/>
          <p:cNvSpPr/>
          <p:nvPr/>
        </p:nvSpPr>
        <p:spPr>
          <a:xfrm>
            <a:off x="914400" y="5096256"/>
            <a:ext cx="5486400" cy="463296"/>
          </a:xfrm>
          <a:prstGeom prst="rect">
            <a:avLst/>
          </a:prstGeom>
          <a:noFill/>
          <a:ln/>
        </p:spPr>
        <p:txBody>
          <a:bodyPr wrap="square" lIns="0" tIns="0" rIns="0" bIns="0" rtlCol="0" anchor="ctr"/>
          <a:lstStyle/>
          <a:p>
            <a:r>
              <a:rPr lang="en-US" sz="2000" b="1" dirty="0">
                <a:solidFill>
                  <a:srgbClr val="10B981"/>
                </a:solidFill>
                <a:latin typeface="Trebuchet MS" pitchFamily="34" charset="0"/>
                <a:ea typeface="Trebuchet MS" pitchFamily="34" charset="-122"/>
                <a:cs typeface="Trebuchet MS" pitchFamily="34" charset="-120"/>
              </a:rPr>
              <a:t>🗄️  3. DAO (Data Access Object)</a:t>
            </a:r>
            <a:endParaRPr lang="en-US" sz="2000" dirty="0"/>
          </a:p>
        </p:txBody>
      </p:sp>
      <p:sp>
        <p:nvSpPr>
          <p:cNvPr id="24" name="Text 22"/>
          <p:cNvSpPr/>
          <p:nvPr/>
        </p:nvSpPr>
        <p:spPr>
          <a:xfrm>
            <a:off x="914400" y="5571744"/>
            <a:ext cx="5364480" cy="365760"/>
          </a:xfrm>
          <a:prstGeom prst="rect">
            <a:avLst/>
          </a:prstGeom>
          <a:noFill/>
          <a:ln/>
        </p:spPr>
        <p:txBody>
          <a:bodyPr wrap="square" lIns="0" tIns="0" rIns="0" bIns="0" rtlCol="0" anchor="ctr"/>
          <a:lstStyle/>
          <a:p>
            <a:r>
              <a:rPr lang="en-US" sz="1600" b="1" dirty="0">
                <a:solidFill>
                  <a:srgbClr val="F5F0FF"/>
                </a:solidFill>
                <a:latin typeface="Calibri" pitchFamily="34" charset="0"/>
                <a:ea typeface="Calibri" pitchFamily="34" charset="-122"/>
                <a:cs typeface="Calibri" pitchFamily="34" charset="-120"/>
              </a:rPr>
              <a:t>Habla directamente con la base de datos</a:t>
            </a:r>
            <a:endParaRPr lang="en-US" sz="1600" dirty="0"/>
          </a:p>
        </p:txBody>
      </p:sp>
      <p:sp>
        <p:nvSpPr>
          <p:cNvPr id="25" name="Text 23"/>
          <p:cNvSpPr/>
          <p:nvPr/>
        </p:nvSpPr>
        <p:spPr>
          <a:xfrm>
            <a:off x="914400" y="5925312"/>
            <a:ext cx="5364480" cy="414528"/>
          </a:xfrm>
          <a:prstGeom prst="rect">
            <a:avLst/>
          </a:prstGeom>
          <a:noFill/>
          <a:ln/>
        </p:spPr>
        <p:txBody>
          <a:bodyPr wrap="square" lIns="0" tIns="0" rIns="0" bIns="0" rtlCol="0" anchor="ctr"/>
          <a:lstStyle/>
          <a:p>
            <a:r>
              <a:rPr lang="en-US" sz="1333" dirty="0">
                <a:solidFill>
                  <a:srgbClr val="C4B5D8"/>
                </a:solidFill>
                <a:latin typeface="Calibri" pitchFamily="34" charset="0"/>
                <a:ea typeface="Calibri" pitchFamily="34" charset="-122"/>
                <a:cs typeface="Calibri" pitchFamily="34" charset="-120"/>
              </a:rPr>
              <a:t>Contiene las consultas SQL. Inserta, busca y actualiza datos. El Controller le pide datos y el DAO se los devuelve.</a:t>
            </a:r>
            <a:endParaRPr lang="en-US" sz="1333" dirty="0"/>
          </a:p>
        </p:txBody>
      </p:sp>
      <p:sp>
        <p:nvSpPr>
          <p:cNvPr id="26" name="Shape 24"/>
          <p:cNvSpPr/>
          <p:nvPr/>
        </p:nvSpPr>
        <p:spPr>
          <a:xfrm>
            <a:off x="6522720" y="5096256"/>
            <a:ext cx="4815840" cy="1219200"/>
          </a:xfrm>
          <a:prstGeom prst="rect">
            <a:avLst/>
          </a:prstGeom>
          <a:solidFill>
            <a:srgbClr val="0D0B1A"/>
          </a:solidFill>
          <a:ln w="12700">
            <a:solidFill>
              <a:srgbClr val="10B981"/>
            </a:solidFill>
            <a:prstDash val="solid"/>
          </a:ln>
        </p:spPr>
        <p:txBody>
          <a:bodyPr/>
          <a:lstStyle/>
          <a:p>
            <a:endParaRPr lang="es-ES"/>
          </a:p>
        </p:txBody>
      </p:sp>
      <p:sp>
        <p:nvSpPr>
          <p:cNvPr id="27" name="Text 25"/>
          <p:cNvSpPr/>
          <p:nvPr/>
        </p:nvSpPr>
        <p:spPr>
          <a:xfrm>
            <a:off x="6644640" y="5157216"/>
            <a:ext cx="4572000" cy="304800"/>
          </a:xfrm>
          <a:prstGeom prst="rect">
            <a:avLst/>
          </a:prstGeom>
          <a:noFill/>
          <a:ln/>
        </p:spPr>
        <p:txBody>
          <a:bodyPr wrap="square" lIns="0" tIns="0" rIns="0" bIns="0" rtlCol="0" anchor="ctr"/>
          <a:lstStyle/>
          <a:p>
            <a:r>
              <a:rPr lang="en-US" sz="1200" dirty="0">
                <a:solidFill>
                  <a:srgbClr val="10B981"/>
                </a:solidFill>
                <a:latin typeface="Consolas" pitchFamily="34" charset="0"/>
                <a:ea typeface="Consolas" pitchFamily="34" charset="-122"/>
                <a:cs typeface="Consolas" pitchFamily="34" charset="-120"/>
              </a:rPr>
              <a:t>Archivos:</a:t>
            </a:r>
            <a:endParaRPr lang="en-US" sz="1200" dirty="0"/>
          </a:p>
        </p:txBody>
      </p:sp>
      <p:sp>
        <p:nvSpPr>
          <p:cNvPr id="28" name="Text 26"/>
          <p:cNvSpPr/>
          <p:nvPr/>
        </p:nvSpPr>
        <p:spPr>
          <a:xfrm>
            <a:off x="6644640" y="5462016"/>
            <a:ext cx="4572000" cy="731520"/>
          </a:xfrm>
          <a:prstGeom prst="rect">
            <a:avLst/>
          </a:prstGeom>
          <a:noFill/>
          <a:ln/>
        </p:spPr>
        <p:txBody>
          <a:bodyPr wrap="square" lIns="0" tIns="0" rIns="0" bIns="0" rtlCol="0" anchor="ctr"/>
          <a:lstStyle/>
          <a:p>
            <a:r>
              <a:rPr lang="en-US" sz="1333" dirty="0">
                <a:solidFill>
                  <a:srgbClr val="C4B5D8"/>
                </a:solidFill>
                <a:latin typeface="Consolas" pitchFamily="34" charset="0"/>
                <a:ea typeface="Consolas" pitchFamily="34" charset="-122"/>
                <a:cs typeface="Consolas" pitchFamily="34" charset="-120"/>
              </a:rPr>
              <a:t>UsuarioDAO  ·  LikeDAO  ·  MachDAO  ·  TecnologiaDAO</a:t>
            </a:r>
            <a:endParaRPr lang="en-US" sz="1333"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7C3AED"/>
          </a:solidFill>
          <a:ln w="12700">
            <a:solidFill>
              <a:srgbClr val="7C3AED"/>
            </a:solidFill>
            <a:prstDash val="solid"/>
          </a:ln>
        </p:spPr>
        <p:txBody>
          <a:bodyPr/>
          <a:lstStyle/>
          <a:p>
            <a:endParaRPr lang="es-ES"/>
          </a:p>
        </p:txBody>
      </p:sp>
      <p:sp>
        <p:nvSpPr>
          <p:cNvPr id="3" name="Text 1"/>
          <p:cNvSpPr/>
          <p:nvPr/>
        </p:nvSpPr>
        <p:spPr>
          <a:xfrm>
            <a:off x="609600" y="121920"/>
            <a:ext cx="11216640" cy="670560"/>
          </a:xfrm>
          <a:prstGeom prst="rect">
            <a:avLst/>
          </a:prstGeom>
          <a:noFill/>
          <a:ln/>
        </p:spPr>
        <p:txBody>
          <a:bodyPr wrap="square" lIns="0" tIns="0" rIns="0" bIns="0" rtlCol="0" anchor="ctr"/>
          <a:lstStyle/>
          <a:p>
            <a:r>
              <a:rPr lang="en-US" sz="3467" b="1" dirty="0">
                <a:solidFill>
                  <a:srgbClr val="F5F0FF"/>
                </a:solidFill>
                <a:latin typeface="Trebuchet MS" pitchFamily="34" charset="0"/>
                <a:ea typeface="Trebuchet MS" pitchFamily="34" charset="-122"/>
                <a:cs typeface="Trebuchet MS" pitchFamily="34" charset="-120"/>
              </a:rPr>
              <a:t>Endpoints de la API REST</a:t>
            </a:r>
            <a:endParaRPr lang="en-US" sz="3467" dirty="0"/>
          </a:p>
        </p:txBody>
      </p:sp>
      <p:sp>
        <p:nvSpPr>
          <p:cNvPr id="4" name="Shape 2"/>
          <p:cNvSpPr/>
          <p:nvPr/>
        </p:nvSpPr>
        <p:spPr>
          <a:xfrm>
            <a:off x="426720" y="853440"/>
            <a:ext cx="11338560" cy="365760"/>
          </a:xfrm>
          <a:prstGeom prst="rect">
            <a:avLst/>
          </a:prstGeom>
          <a:solidFill>
            <a:srgbClr val="0D0B1A"/>
          </a:solidFill>
          <a:ln w="12700">
            <a:solidFill>
              <a:srgbClr val="2D1B55"/>
            </a:solidFill>
            <a:prstDash val="solid"/>
          </a:ln>
        </p:spPr>
        <p:txBody>
          <a:bodyPr/>
          <a:lstStyle/>
          <a:p>
            <a:endParaRPr lang="es-ES"/>
          </a:p>
        </p:txBody>
      </p:sp>
      <p:sp>
        <p:nvSpPr>
          <p:cNvPr id="5" name="Text 3"/>
          <p:cNvSpPr/>
          <p:nvPr/>
        </p:nvSpPr>
        <p:spPr>
          <a:xfrm>
            <a:off x="609600" y="853440"/>
            <a:ext cx="10972800" cy="365760"/>
          </a:xfrm>
          <a:prstGeom prst="rect">
            <a:avLst/>
          </a:prstGeom>
          <a:noFill/>
          <a:ln/>
        </p:spPr>
        <p:txBody>
          <a:bodyPr wrap="square" lIns="0" tIns="0" rIns="0" bIns="0" rtlCol="0" anchor="ctr"/>
          <a:lstStyle/>
          <a:p>
            <a:r>
              <a:rPr lang="en-US" sz="1333" dirty="0">
                <a:solidFill>
                  <a:srgbClr val="6B7280"/>
                </a:solidFill>
                <a:latin typeface="Consolas" pitchFamily="34" charset="0"/>
                <a:ea typeface="Consolas" pitchFamily="34" charset="-122"/>
                <a:cs typeface="Consolas" pitchFamily="34" charset="-120"/>
              </a:rPr>
              <a:t>Base URL:  http://localhost:8080/api</a:t>
            </a:r>
            <a:endParaRPr lang="en-US" sz="1333" dirty="0"/>
          </a:p>
        </p:txBody>
      </p:sp>
      <p:sp>
        <p:nvSpPr>
          <p:cNvPr id="6" name="Shape 4"/>
          <p:cNvSpPr/>
          <p:nvPr/>
        </p:nvSpPr>
        <p:spPr>
          <a:xfrm>
            <a:off x="426720" y="1316736"/>
            <a:ext cx="11338560" cy="341376"/>
          </a:xfrm>
          <a:prstGeom prst="rect">
            <a:avLst/>
          </a:prstGeom>
          <a:solidFill>
            <a:srgbClr val="160830"/>
          </a:solidFill>
          <a:ln w="12700">
            <a:solidFill>
              <a:srgbClr val="2D1B55"/>
            </a:solidFill>
            <a:prstDash val="solid"/>
          </a:ln>
        </p:spPr>
        <p:txBody>
          <a:bodyPr/>
          <a:lstStyle/>
          <a:p>
            <a:endParaRPr lang="es-ES"/>
          </a:p>
        </p:txBody>
      </p:sp>
      <p:sp>
        <p:nvSpPr>
          <p:cNvPr id="7" name="Text 5"/>
          <p:cNvSpPr/>
          <p:nvPr/>
        </p:nvSpPr>
        <p:spPr>
          <a:xfrm>
            <a:off x="512064" y="1365504"/>
            <a:ext cx="1036320" cy="243840"/>
          </a:xfrm>
          <a:prstGeom prst="rect">
            <a:avLst/>
          </a:prstGeom>
          <a:noFill/>
          <a:ln/>
        </p:spPr>
        <p:txBody>
          <a:bodyPr wrap="square" lIns="0" tIns="0" rIns="0" bIns="0" rtlCol="0" anchor="ctr"/>
          <a:lstStyle/>
          <a:p>
            <a:r>
              <a:rPr lang="en-US" sz="1067" b="1" dirty="0">
                <a:solidFill>
                  <a:srgbClr val="6B7280"/>
                </a:solidFill>
                <a:latin typeface="Calibri" pitchFamily="34" charset="0"/>
                <a:ea typeface="Calibri" pitchFamily="34" charset="-122"/>
                <a:cs typeface="Calibri" pitchFamily="34" charset="-120"/>
              </a:rPr>
              <a:t>MÉTODO</a:t>
            </a:r>
            <a:endParaRPr lang="en-US" sz="1067" dirty="0"/>
          </a:p>
        </p:txBody>
      </p:sp>
      <p:sp>
        <p:nvSpPr>
          <p:cNvPr id="8" name="Text 6"/>
          <p:cNvSpPr/>
          <p:nvPr/>
        </p:nvSpPr>
        <p:spPr>
          <a:xfrm>
            <a:off x="1682496" y="1365504"/>
            <a:ext cx="2560320" cy="243840"/>
          </a:xfrm>
          <a:prstGeom prst="rect">
            <a:avLst/>
          </a:prstGeom>
          <a:noFill/>
          <a:ln/>
        </p:spPr>
        <p:txBody>
          <a:bodyPr wrap="square" lIns="0" tIns="0" rIns="0" bIns="0" rtlCol="0" anchor="ctr"/>
          <a:lstStyle/>
          <a:p>
            <a:r>
              <a:rPr lang="en-US" sz="1067" b="1" dirty="0">
                <a:solidFill>
                  <a:srgbClr val="6B7280"/>
                </a:solidFill>
                <a:latin typeface="Calibri" pitchFamily="34" charset="0"/>
                <a:ea typeface="Calibri" pitchFamily="34" charset="-122"/>
                <a:cs typeface="Calibri" pitchFamily="34" charset="-120"/>
              </a:rPr>
              <a:t>RUTA</a:t>
            </a:r>
            <a:endParaRPr lang="en-US" sz="1067" dirty="0"/>
          </a:p>
        </p:txBody>
      </p:sp>
      <p:sp>
        <p:nvSpPr>
          <p:cNvPr id="9" name="Text 7"/>
          <p:cNvSpPr/>
          <p:nvPr/>
        </p:nvSpPr>
        <p:spPr>
          <a:xfrm>
            <a:off x="4389120" y="1365504"/>
            <a:ext cx="4876800" cy="243840"/>
          </a:xfrm>
          <a:prstGeom prst="rect">
            <a:avLst/>
          </a:prstGeom>
          <a:noFill/>
          <a:ln/>
        </p:spPr>
        <p:txBody>
          <a:bodyPr wrap="square" lIns="0" tIns="0" rIns="0" bIns="0" rtlCol="0" anchor="ctr"/>
          <a:lstStyle/>
          <a:p>
            <a:r>
              <a:rPr lang="en-US" sz="1067" b="1" dirty="0">
                <a:solidFill>
                  <a:srgbClr val="6B7280"/>
                </a:solidFill>
                <a:latin typeface="Calibri" pitchFamily="34" charset="0"/>
                <a:ea typeface="Calibri" pitchFamily="34" charset="-122"/>
                <a:cs typeface="Calibri" pitchFamily="34" charset="-120"/>
              </a:rPr>
              <a:t>QUÉ HACE</a:t>
            </a:r>
            <a:endParaRPr lang="en-US" sz="1067" dirty="0"/>
          </a:p>
        </p:txBody>
      </p:sp>
      <p:sp>
        <p:nvSpPr>
          <p:cNvPr id="10" name="Text 8"/>
          <p:cNvSpPr/>
          <p:nvPr/>
        </p:nvSpPr>
        <p:spPr>
          <a:xfrm>
            <a:off x="9387840" y="1365504"/>
            <a:ext cx="2072640" cy="243840"/>
          </a:xfrm>
          <a:prstGeom prst="rect">
            <a:avLst/>
          </a:prstGeom>
          <a:noFill/>
          <a:ln/>
        </p:spPr>
        <p:txBody>
          <a:bodyPr wrap="square" lIns="0" tIns="0" rIns="0" bIns="0" rtlCol="0" anchor="ctr"/>
          <a:lstStyle/>
          <a:p>
            <a:r>
              <a:rPr lang="en-US" sz="1067" b="1" dirty="0">
                <a:solidFill>
                  <a:srgbClr val="6B7280"/>
                </a:solidFill>
                <a:latin typeface="Calibri" pitchFamily="34" charset="0"/>
                <a:ea typeface="Calibri" pitchFamily="34" charset="-122"/>
                <a:cs typeface="Calibri" pitchFamily="34" charset="-120"/>
              </a:rPr>
              <a:t>USADO EN</a:t>
            </a:r>
            <a:endParaRPr lang="en-US" sz="1067" dirty="0"/>
          </a:p>
        </p:txBody>
      </p:sp>
      <p:sp>
        <p:nvSpPr>
          <p:cNvPr id="11" name="Shape 9"/>
          <p:cNvSpPr/>
          <p:nvPr/>
        </p:nvSpPr>
        <p:spPr>
          <a:xfrm>
            <a:off x="426720" y="1682496"/>
            <a:ext cx="11338560" cy="676656"/>
          </a:xfrm>
          <a:prstGeom prst="rect">
            <a:avLst/>
          </a:prstGeom>
          <a:solidFill>
            <a:srgbClr val="0D0B1A"/>
          </a:solidFill>
          <a:ln w="12700">
            <a:solidFill>
              <a:srgbClr val="1D1040"/>
            </a:solidFill>
            <a:prstDash val="solid"/>
          </a:ln>
        </p:spPr>
        <p:txBody>
          <a:bodyPr/>
          <a:lstStyle/>
          <a:p>
            <a:endParaRPr lang="es-ES"/>
          </a:p>
        </p:txBody>
      </p:sp>
      <p:sp>
        <p:nvSpPr>
          <p:cNvPr id="12" name="Shape 10"/>
          <p:cNvSpPr/>
          <p:nvPr/>
        </p:nvSpPr>
        <p:spPr>
          <a:xfrm>
            <a:off x="512064" y="1804416"/>
            <a:ext cx="877824" cy="341376"/>
          </a:xfrm>
          <a:prstGeom prst="rect">
            <a:avLst/>
          </a:prstGeom>
          <a:solidFill>
            <a:srgbClr val="10B981"/>
          </a:solidFill>
          <a:ln w="12700">
            <a:solidFill>
              <a:srgbClr val="10B981"/>
            </a:solidFill>
            <a:prstDash val="solid"/>
          </a:ln>
        </p:spPr>
        <p:txBody>
          <a:bodyPr/>
          <a:lstStyle/>
          <a:p>
            <a:endParaRPr lang="es-ES"/>
          </a:p>
        </p:txBody>
      </p:sp>
      <p:sp>
        <p:nvSpPr>
          <p:cNvPr id="13" name="Text 11"/>
          <p:cNvSpPr/>
          <p:nvPr/>
        </p:nvSpPr>
        <p:spPr>
          <a:xfrm>
            <a:off x="512064" y="1804416"/>
            <a:ext cx="877824" cy="341376"/>
          </a:xfrm>
          <a:prstGeom prst="rect">
            <a:avLst/>
          </a:prstGeom>
          <a:noFill/>
          <a:ln/>
        </p:spPr>
        <p:txBody>
          <a:bodyPr wrap="square" lIns="0" tIns="0" rIns="0" bIns="0" rtlCol="0" anchor="ctr"/>
          <a:lstStyle/>
          <a:p>
            <a:pPr algn="ctr"/>
            <a:r>
              <a:rPr lang="en-US" sz="1133" b="1" dirty="0">
                <a:solidFill>
                  <a:srgbClr val="FFFFFF"/>
                </a:solidFill>
                <a:latin typeface="Consolas" pitchFamily="34" charset="0"/>
                <a:ea typeface="Consolas" pitchFamily="34" charset="-122"/>
                <a:cs typeface="Consolas" pitchFamily="34" charset="-120"/>
              </a:rPr>
              <a:t>POST</a:t>
            </a:r>
            <a:endParaRPr lang="en-US" sz="1133" dirty="0"/>
          </a:p>
        </p:txBody>
      </p:sp>
      <p:sp>
        <p:nvSpPr>
          <p:cNvPr id="14" name="Text 12"/>
          <p:cNvSpPr/>
          <p:nvPr/>
        </p:nvSpPr>
        <p:spPr>
          <a:xfrm>
            <a:off x="1524000" y="1755648"/>
            <a:ext cx="2743200" cy="341376"/>
          </a:xfrm>
          <a:prstGeom prst="rect">
            <a:avLst/>
          </a:prstGeom>
          <a:noFill/>
          <a:ln/>
        </p:spPr>
        <p:txBody>
          <a:bodyPr wrap="square" lIns="0" tIns="0" rIns="0" bIns="0" rtlCol="0" anchor="ctr"/>
          <a:lstStyle/>
          <a:p>
            <a:r>
              <a:rPr lang="en-US" sz="1267" dirty="0">
                <a:solidFill>
                  <a:srgbClr val="10B981"/>
                </a:solidFill>
                <a:latin typeface="Consolas" pitchFamily="34" charset="0"/>
                <a:ea typeface="Consolas" pitchFamily="34" charset="-122"/>
                <a:cs typeface="Consolas" pitchFamily="34" charset="-120"/>
              </a:rPr>
              <a:t>/registro</a:t>
            </a:r>
            <a:endParaRPr lang="en-US" sz="1267" dirty="0"/>
          </a:p>
        </p:txBody>
      </p:sp>
      <p:sp>
        <p:nvSpPr>
          <p:cNvPr id="15" name="Text 13"/>
          <p:cNvSpPr/>
          <p:nvPr/>
        </p:nvSpPr>
        <p:spPr>
          <a:xfrm>
            <a:off x="4364736" y="1731264"/>
            <a:ext cx="4876800" cy="585216"/>
          </a:xfrm>
          <a:prstGeom prst="rect">
            <a:avLst/>
          </a:prstGeom>
          <a:noFill/>
          <a:ln/>
        </p:spPr>
        <p:txBody>
          <a:bodyPr wrap="square" lIns="0" tIns="0" rIns="0" bIns="0" rtlCol="0" anchor="ctr"/>
          <a:lstStyle/>
          <a:p>
            <a:r>
              <a:rPr lang="en-US" sz="1200" dirty="0">
                <a:solidFill>
                  <a:srgbClr val="C4B5D8"/>
                </a:solidFill>
                <a:latin typeface="Calibri" pitchFamily="34" charset="0"/>
                <a:ea typeface="Calibri" pitchFamily="34" charset="-122"/>
                <a:cs typeface="Calibri" pitchFamily="34" charset="-120"/>
              </a:rPr>
              <a:t>Crea una cuenta nueva. Recibe nombre, correo, contraseña, bio y tecnologías. Devuelve el id del usuario creado.</a:t>
            </a:r>
            <a:endParaRPr lang="en-US" sz="1200" dirty="0"/>
          </a:p>
        </p:txBody>
      </p:sp>
      <p:sp>
        <p:nvSpPr>
          <p:cNvPr id="16" name="Text 14"/>
          <p:cNvSpPr/>
          <p:nvPr/>
        </p:nvSpPr>
        <p:spPr>
          <a:xfrm>
            <a:off x="9363456" y="1804416"/>
            <a:ext cx="2255520" cy="341376"/>
          </a:xfrm>
          <a:prstGeom prst="rect">
            <a:avLst/>
          </a:prstGeom>
          <a:noFill/>
          <a:ln/>
        </p:spPr>
        <p:txBody>
          <a:bodyPr wrap="square" lIns="0" tIns="0" rIns="0" bIns="0" rtlCol="0" anchor="ctr"/>
          <a:lstStyle/>
          <a:p>
            <a:r>
              <a:rPr lang="en-US" sz="1067" dirty="0">
                <a:solidFill>
                  <a:srgbClr val="6B7280"/>
                </a:solidFill>
                <a:latin typeface="Consolas" pitchFamily="34" charset="0"/>
                <a:ea typeface="Consolas" pitchFamily="34" charset="-122"/>
                <a:cs typeface="Consolas" pitchFamily="34" charset="-120"/>
              </a:rPr>
              <a:t>Formregistrer.js</a:t>
            </a:r>
            <a:endParaRPr lang="en-US" sz="1067" dirty="0"/>
          </a:p>
        </p:txBody>
      </p:sp>
      <p:sp>
        <p:nvSpPr>
          <p:cNvPr id="17" name="Shape 15"/>
          <p:cNvSpPr/>
          <p:nvPr/>
        </p:nvSpPr>
        <p:spPr>
          <a:xfrm>
            <a:off x="426720" y="2383536"/>
            <a:ext cx="11338560" cy="676656"/>
          </a:xfrm>
          <a:prstGeom prst="rect">
            <a:avLst/>
          </a:prstGeom>
          <a:solidFill>
            <a:srgbClr val="0A0718"/>
          </a:solidFill>
          <a:ln w="12700">
            <a:solidFill>
              <a:srgbClr val="1D1040"/>
            </a:solidFill>
            <a:prstDash val="solid"/>
          </a:ln>
        </p:spPr>
        <p:txBody>
          <a:bodyPr/>
          <a:lstStyle/>
          <a:p>
            <a:endParaRPr lang="es-ES"/>
          </a:p>
        </p:txBody>
      </p:sp>
      <p:sp>
        <p:nvSpPr>
          <p:cNvPr id="18" name="Shape 16"/>
          <p:cNvSpPr/>
          <p:nvPr/>
        </p:nvSpPr>
        <p:spPr>
          <a:xfrm>
            <a:off x="512064" y="2505456"/>
            <a:ext cx="877824" cy="341376"/>
          </a:xfrm>
          <a:prstGeom prst="rect">
            <a:avLst/>
          </a:prstGeom>
          <a:solidFill>
            <a:srgbClr val="0EA5E9"/>
          </a:solidFill>
          <a:ln w="12700">
            <a:solidFill>
              <a:srgbClr val="0EA5E9"/>
            </a:solidFill>
            <a:prstDash val="solid"/>
          </a:ln>
        </p:spPr>
        <p:txBody>
          <a:bodyPr/>
          <a:lstStyle/>
          <a:p>
            <a:endParaRPr lang="es-ES"/>
          </a:p>
        </p:txBody>
      </p:sp>
      <p:sp>
        <p:nvSpPr>
          <p:cNvPr id="19" name="Text 17"/>
          <p:cNvSpPr/>
          <p:nvPr/>
        </p:nvSpPr>
        <p:spPr>
          <a:xfrm>
            <a:off x="512064" y="2505456"/>
            <a:ext cx="877824" cy="341376"/>
          </a:xfrm>
          <a:prstGeom prst="rect">
            <a:avLst/>
          </a:prstGeom>
          <a:noFill/>
          <a:ln/>
        </p:spPr>
        <p:txBody>
          <a:bodyPr wrap="square" lIns="0" tIns="0" rIns="0" bIns="0" rtlCol="0" anchor="ctr"/>
          <a:lstStyle/>
          <a:p>
            <a:pPr algn="ctr"/>
            <a:r>
              <a:rPr lang="en-US" sz="1133" b="1" dirty="0">
                <a:solidFill>
                  <a:srgbClr val="FFFFFF"/>
                </a:solidFill>
                <a:latin typeface="Consolas" pitchFamily="34" charset="0"/>
                <a:ea typeface="Consolas" pitchFamily="34" charset="-122"/>
                <a:cs typeface="Consolas" pitchFamily="34" charset="-120"/>
              </a:rPr>
              <a:t>POST</a:t>
            </a:r>
            <a:endParaRPr lang="en-US" sz="1133" dirty="0"/>
          </a:p>
        </p:txBody>
      </p:sp>
      <p:sp>
        <p:nvSpPr>
          <p:cNvPr id="20" name="Text 18"/>
          <p:cNvSpPr/>
          <p:nvPr/>
        </p:nvSpPr>
        <p:spPr>
          <a:xfrm>
            <a:off x="1524000" y="2456688"/>
            <a:ext cx="2743200" cy="341376"/>
          </a:xfrm>
          <a:prstGeom prst="rect">
            <a:avLst/>
          </a:prstGeom>
          <a:noFill/>
          <a:ln/>
        </p:spPr>
        <p:txBody>
          <a:bodyPr wrap="square" lIns="0" tIns="0" rIns="0" bIns="0" rtlCol="0" anchor="ctr"/>
          <a:lstStyle/>
          <a:p>
            <a:r>
              <a:rPr lang="en-US" sz="1267" dirty="0">
                <a:solidFill>
                  <a:srgbClr val="0EA5E9"/>
                </a:solidFill>
                <a:latin typeface="Consolas" pitchFamily="34" charset="0"/>
                <a:ea typeface="Consolas" pitchFamily="34" charset="-122"/>
                <a:cs typeface="Consolas" pitchFamily="34" charset="-120"/>
              </a:rPr>
              <a:t>/login</a:t>
            </a:r>
            <a:endParaRPr lang="en-US" sz="1267" dirty="0"/>
          </a:p>
        </p:txBody>
      </p:sp>
      <p:sp>
        <p:nvSpPr>
          <p:cNvPr id="21" name="Text 19"/>
          <p:cNvSpPr/>
          <p:nvPr/>
        </p:nvSpPr>
        <p:spPr>
          <a:xfrm>
            <a:off x="4364736" y="2432304"/>
            <a:ext cx="4876800" cy="585216"/>
          </a:xfrm>
          <a:prstGeom prst="rect">
            <a:avLst/>
          </a:prstGeom>
          <a:noFill/>
          <a:ln/>
        </p:spPr>
        <p:txBody>
          <a:bodyPr wrap="square" lIns="0" tIns="0" rIns="0" bIns="0" rtlCol="0" anchor="ctr"/>
          <a:lstStyle/>
          <a:p>
            <a:r>
              <a:rPr lang="en-US" sz="1200" dirty="0">
                <a:solidFill>
                  <a:srgbClr val="C4B5D8"/>
                </a:solidFill>
                <a:latin typeface="Calibri" pitchFamily="34" charset="0"/>
                <a:ea typeface="Calibri" pitchFamily="34" charset="-122"/>
                <a:cs typeface="Calibri" pitchFamily="34" charset="-120"/>
              </a:rPr>
              <a:t>Comprueba correo y contraseña. Si son correctos devuelve los datos del usuario (id, nombre, correo) para guardarlos en localStorage.</a:t>
            </a:r>
            <a:endParaRPr lang="en-US" sz="1200" dirty="0"/>
          </a:p>
        </p:txBody>
      </p:sp>
      <p:sp>
        <p:nvSpPr>
          <p:cNvPr id="22" name="Text 20"/>
          <p:cNvSpPr/>
          <p:nvPr/>
        </p:nvSpPr>
        <p:spPr>
          <a:xfrm>
            <a:off x="9363456" y="2505456"/>
            <a:ext cx="2255520" cy="341376"/>
          </a:xfrm>
          <a:prstGeom prst="rect">
            <a:avLst/>
          </a:prstGeom>
          <a:noFill/>
          <a:ln/>
        </p:spPr>
        <p:txBody>
          <a:bodyPr wrap="square" lIns="0" tIns="0" rIns="0" bIns="0" rtlCol="0" anchor="ctr"/>
          <a:lstStyle/>
          <a:p>
            <a:r>
              <a:rPr lang="en-US" sz="1067" dirty="0">
                <a:solidFill>
                  <a:srgbClr val="6B7280"/>
                </a:solidFill>
                <a:latin typeface="Consolas" pitchFamily="34" charset="0"/>
                <a:ea typeface="Consolas" pitchFamily="34" charset="-122"/>
                <a:cs typeface="Consolas" pitchFamily="34" charset="-120"/>
              </a:rPr>
              <a:t>Formlogin.js</a:t>
            </a:r>
            <a:endParaRPr lang="en-US" sz="1067" dirty="0"/>
          </a:p>
        </p:txBody>
      </p:sp>
      <p:sp>
        <p:nvSpPr>
          <p:cNvPr id="23" name="Shape 21"/>
          <p:cNvSpPr/>
          <p:nvPr/>
        </p:nvSpPr>
        <p:spPr>
          <a:xfrm>
            <a:off x="426720" y="3084576"/>
            <a:ext cx="11338560" cy="676656"/>
          </a:xfrm>
          <a:prstGeom prst="rect">
            <a:avLst/>
          </a:prstGeom>
          <a:solidFill>
            <a:srgbClr val="0D0B1A"/>
          </a:solidFill>
          <a:ln w="12700">
            <a:solidFill>
              <a:srgbClr val="1D1040"/>
            </a:solidFill>
            <a:prstDash val="solid"/>
          </a:ln>
        </p:spPr>
        <p:txBody>
          <a:bodyPr/>
          <a:lstStyle/>
          <a:p>
            <a:endParaRPr lang="es-ES"/>
          </a:p>
        </p:txBody>
      </p:sp>
      <p:sp>
        <p:nvSpPr>
          <p:cNvPr id="24" name="Shape 22"/>
          <p:cNvSpPr/>
          <p:nvPr/>
        </p:nvSpPr>
        <p:spPr>
          <a:xfrm>
            <a:off x="512064" y="3206496"/>
            <a:ext cx="877824" cy="341376"/>
          </a:xfrm>
          <a:prstGeom prst="rect">
            <a:avLst/>
          </a:prstGeom>
          <a:solidFill>
            <a:srgbClr val="A855F7"/>
          </a:solidFill>
          <a:ln w="12700">
            <a:solidFill>
              <a:srgbClr val="A855F7"/>
            </a:solidFill>
            <a:prstDash val="solid"/>
          </a:ln>
        </p:spPr>
        <p:txBody>
          <a:bodyPr/>
          <a:lstStyle/>
          <a:p>
            <a:endParaRPr lang="es-ES"/>
          </a:p>
        </p:txBody>
      </p:sp>
      <p:sp>
        <p:nvSpPr>
          <p:cNvPr id="25" name="Text 23"/>
          <p:cNvSpPr/>
          <p:nvPr/>
        </p:nvSpPr>
        <p:spPr>
          <a:xfrm>
            <a:off x="512064" y="3206496"/>
            <a:ext cx="877824" cy="341376"/>
          </a:xfrm>
          <a:prstGeom prst="rect">
            <a:avLst/>
          </a:prstGeom>
          <a:noFill/>
          <a:ln/>
        </p:spPr>
        <p:txBody>
          <a:bodyPr wrap="square" lIns="0" tIns="0" rIns="0" bIns="0" rtlCol="0" anchor="ctr"/>
          <a:lstStyle/>
          <a:p>
            <a:pPr algn="ctr"/>
            <a:r>
              <a:rPr lang="en-US" sz="1133" b="1" dirty="0">
                <a:solidFill>
                  <a:srgbClr val="FFFFFF"/>
                </a:solidFill>
                <a:latin typeface="Consolas" pitchFamily="34" charset="0"/>
                <a:ea typeface="Consolas" pitchFamily="34" charset="-122"/>
                <a:cs typeface="Consolas" pitchFamily="34" charset="-120"/>
              </a:rPr>
              <a:t>GET</a:t>
            </a:r>
            <a:endParaRPr lang="en-US" sz="1133" dirty="0"/>
          </a:p>
        </p:txBody>
      </p:sp>
      <p:sp>
        <p:nvSpPr>
          <p:cNvPr id="26" name="Text 24"/>
          <p:cNvSpPr/>
          <p:nvPr/>
        </p:nvSpPr>
        <p:spPr>
          <a:xfrm>
            <a:off x="1524000" y="3157728"/>
            <a:ext cx="2743200" cy="341376"/>
          </a:xfrm>
          <a:prstGeom prst="rect">
            <a:avLst/>
          </a:prstGeom>
          <a:noFill/>
          <a:ln/>
        </p:spPr>
        <p:txBody>
          <a:bodyPr wrap="square" lIns="0" tIns="0" rIns="0" bIns="0" rtlCol="0" anchor="ctr"/>
          <a:lstStyle/>
          <a:p>
            <a:r>
              <a:rPr lang="en-US" sz="1267" dirty="0">
                <a:solidFill>
                  <a:srgbClr val="A855F7"/>
                </a:solidFill>
                <a:latin typeface="Consolas" pitchFamily="34" charset="0"/>
                <a:ea typeface="Consolas" pitchFamily="34" charset="-122"/>
                <a:cs typeface="Consolas" pitchFamily="34" charset="-120"/>
              </a:rPr>
              <a:t>/usuarios</a:t>
            </a:r>
            <a:endParaRPr lang="en-US" sz="1267" dirty="0"/>
          </a:p>
        </p:txBody>
      </p:sp>
      <p:sp>
        <p:nvSpPr>
          <p:cNvPr id="27" name="Text 25"/>
          <p:cNvSpPr/>
          <p:nvPr/>
        </p:nvSpPr>
        <p:spPr>
          <a:xfrm>
            <a:off x="4364736" y="3133344"/>
            <a:ext cx="4876800" cy="585216"/>
          </a:xfrm>
          <a:prstGeom prst="rect">
            <a:avLst/>
          </a:prstGeom>
          <a:noFill/>
          <a:ln/>
        </p:spPr>
        <p:txBody>
          <a:bodyPr wrap="square" lIns="0" tIns="0" rIns="0" bIns="0" rtlCol="0" anchor="ctr"/>
          <a:lstStyle/>
          <a:p>
            <a:r>
              <a:rPr lang="en-US" sz="1200" dirty="0">
                <a:solidFill>
                  <a:srgbClr val="C4B5D8"/>
                </a:solidFill>
                <a:latin typeface="Calibri" pitchFamily="34" charset="0"/>
                <a:ea typeface="Calibri" pitchFamily="34" charset="-122"/>
                <a:cs typeface="Calibri" pitchFamily="34" charset="-120"/>
              </a:rPr>
              <a:t>Devuelve la lista completa de usuarios con sus tecnologías. El Dashboard la usa para cargar las tarjetas de perfiles.</a:t>
            </a:r>
            <a:endParaRPr lang="en-US" sz="1200" dirty="0"/>
          </a:p>
        </p:txBody>
      </p:sp>
      <p:sp>
        <p:nvSpPr>
          <p:cNvPr id="28" name="Text 26"/>
          <p:cNvSpPr/>
          <p:nvPr/>
        </p:nvSpPr>
        <p:spPr>
          <a:xfrm>
            <a:off x="9363456" y="3206496"/>
            <a:ext cx="2255520" cy="341376"/>
          </a:xfrm>
          <a:prstGeom prst="rect">
            <a:avLst/>
          </a:prstGeom>
          <a:noFill/>
          <a:ln/>
        </p:spPr>
        <p:txBody>
          <a:bodyPr wrap="square" lIns="0" tIns="0" rIns="0" bIns="0" rtlCol="0" anchor="ctr"/>
          <a:lstStyle/>
          <a:p>
            <a:r>
              <a:rPr lang="en-US" sz="1067" dirty="0">
                <a:solidFill>
                  <a:srgbClr val="6B7280"/>
                </a:solidFill>
                <a:latin typeface="Consolas" pitchFamily="34" charset="0"/>
                <a:ea typeface="Consolas" pitchFamily="34" charset="-122"/>
                <a:cs typeface="Consolas" pitchFamily="34" charset="-120"/>
              </a:rPr>
              <a:t>Dashboardfuncion.js</a:t>
            </a:r>
            <a:endParaRPr lang="en-US" sz="1067" dirty="0"/>
          </a:p>
        </p:txBody>
      </p:sp>
      <p:sp>
        <p:nvSpPr>
          <p:cNvPr id="29" name="Shape 27"/>
          <p:cNvSpPr/>
          <p:nvPr/>
        </p:nvSpPr>
        <p:spPr>
          <a:xfrm>
            <a:off x="426720" y="3785616"/>
            <a:ext cx="11338560" cy="676656"/>
          </a:xfrm>
          <a:prstGeom prst="rect">
            <a:avLst/>
          </a:prstGeom>
          <a:solidFill>
            <a:srgbClr val="0A0718"/>
          </a:solidFill>
          <a:ln w="12700">
            <a:solidFill>
              <a:srgbClr val="1D1040"/>
            </a:solidFill>
            <a:prstDash val="solid"/>
          </a:ln>
        </p:spPr>
        <p:txBody>
          <a:bodyPr/>
          <a:lstStyle/>
          <a:p>
            <a:endParaRPr lang="es-ES"/>
          </a:p>
        </p:txBody>
      </p:sp>
      <p:sp>
        <p:nvSpPr>
          <p:cNvPr id="30" name="Shape 28"/>
          <p:cNvSpPr/>
          <p:nvPr/>
        </p:nvSpPr>
        <p:spPr>
          <a:xfrm>
            <a:off x="512064" y="3907536"/>
            <a:ext cx="877824" cy="341376"/>
          </a:xfrm>
          <a:prstGeom prst="rect">
            <a:avLst/>
          </a:prstGeom>
          <a:solidFill>
            <a:srgbClr val="F472B6"/>
          </a:solidFill>
          <a:ln w="12700">
            <a:solidFill>
              <a:srgbClr val="F472B6"/>
            </a:solidFill>
            <a:prstDash val="solid"/>
          </a:ln>
        </p:spPr>
        <p:txBody>
          <a:bodyPr/>
          <a:lstStyle/>
          <a:p>
            <a:endParaRPr lang="es-ES"/>
          </a:p>
        </p:txBody>
      </p:sp>
      <p:sp>
        <p:nvSpPr>
          <p:cNvPr id="31" name="Text 29"/>
          <p:cNvSpPr/>
          <p:nvPr/>
        </p:nvSpPr>
        <p:spPr>
          <a:xfrm>
            <a:off x="512064" y="3907536"/>
            <a:ext cx="877824" cy="341376"/>
          </a:xfrm>
          <a:prstGeom prst="rect">
            <a:avLst/>
          </a:prstGeom>
          <a:noFill/>
          <a:ln/>
        </p:spPr>
        <p:txBody>
          <a:bodyPr wrap="square" lIns="0" tIns="0" rIns="0" bIns="0" rtlCol="0" anchor="ctr"/>
          <a:lstStyle/>
          <a:p>
            <a:pPr algn="ctr"/>
            <a:r>
              <a:rPr lang="en-US" sz="1133" b="1" dirty="0">
                <a:solidFill>
                  <a:srgbClr val="FFFFFF"/>
                </a:solidFill>
                <a:latin typeface="Consolas" pitchFamily="34" charset="0"/>
                <a:ea typeface="Consolas" pitchFamily="34" charset="-122"/>
                <a:cs typeface="Consolas" pitchFamily="34" charset="-120"/>
              </a:rPr>
              <a:t>POST</a:t>
            </a:r>
            <a:endParaRPr lang="en-US" sz="1133" dirty="0"/>
          </a:p>
        </p:txBody>
      </p:sp>
      <p:sp>
        <p:nvSpPr>
          <p:cNvPr id="32" name="Text 30"/>
          <p:cNvSpPr/>
          <p:nvPr/>
        </p:nvSpPr>
        <p:spPr>
          <a:xfrm>
            <a:off x="1524000" y="3858768"/>
            <a:ext cx="2743200" cy="341376"/>
          </a:xfrm>
          <a:prstGeom prst="rect">
            <a:avLst/>
          </a:prstGeom>
          <a:noFill/>
          <a:ln/>
        </p:spPr>
        <p:txBody>
          <a:bodyPr wrap="square" lIns="0" tIns="0" rIns="0" bIns="0" rtlCol="0" anchor="ctr"/>
          <a:lstStyle/>
          <a:p>
            <a:r>
              <a:rPr lang="en-US" sz="1267" dirty="0">
                <a:solidFill>
                  <a:srgbClr val="F472B6"/>
                </a:solidFill>
                <a:latin typeface="Consolas" pitchFamily="34" charset="0"/>
                <a:ea typeface="Consolas" pitchFamily="34" charset="-122"/>
                <a:cs typeface="Consolas" pitchFamily="34" charset="-120"/>
              </a:rPr>
              <a:t>/likes</a:t>
            </a:r>
            <a:endParaRPr lang="en-US" sz="1267" dirty="0"/>
          </a:p>
        </p:txBody>
      </p:sp>
      <p:sp>
        <p:nvSpPr>
          <p:cNvPr id="33" name="Text 31"/>
          <p:cNvSpPr/>
          <p:nvPr/>
        </p:nvSpPr>
        <p:spPr>
          <a:xfrm>
            <a:off x="4364736" y="3834384"/>
            <a:ext cx="4876800" cy="585216"/>
          </a:xfrm>
          <a:prstGeom prst="rect">
            <a:avLst/>
          </a:prstGeom>
          <a:noFill/>
          <a:ln/>
        </p:spPr>
        <p:txBody>
          <a:bodyPr wrap="square" lIns="0" tIns="0" rIns="0" bIns="0" rtlCol="0" anchor="ctr"/>
          <a:lstStyle/>
          <a:p>
            <a:r>
              <a:rPr lang="en-US" sz="1200" dirty="0">
                <a:solidFill>
                  <a:srgbClr val="C4B5D8"/>
                </a:solidFill>
                <a:latin typeface="Calibri" pitchFamily="34" charset="0"/>
                <a:ea typeface="Calibri" pitchFamily="34" charset="-122"/>
                <a:cs typeface="Calibri" pitchFamily="34" charset="-120"/>
              </a:rPr>
              <a:t>Registra que el usuario A le da like al usuario B. Si B ya le había dado like a A, la respuesta incluye match: true.</a:t>
            </a:r>
            <a:endParaRPr lang="en-US" sz="1200" dirty="0"/>
          </a:p>
        </p:txBody>
      </p:sp>
      <p:sp>
        <p:nvSpPr>
          <p:cNvPr id="34" name="Text 32"/>
          <p:cNvSpPr/>
          <p:nvPr/>
        </p:nvSpPr>
        <p:spPr>
          <a:xfrm>
            <a:off x="9363456" y="3907536"/>
            <a:ext cx="2255520" cy="341376"/>
          </a:xfrm>
          <a:prstGeom prst="rect">
            <a:avLst/>
          </a:prstGeom>
          <a:noFill/>
          <a:ln/>
        </p:spPr>
        <p:txBody>
          <a:bodyPr wrap="square" lIns="0" tIns="0" rIns="0" bIns="0" rtlCol="0" anchor="ctr"/>
          <a:lstStyle/>
          <a:p>
            <a:r>
              <a:rPr lang="en-US" sz="1067" dirty="0">
                <a:solidFill>
                  <a:srgbClr val="6B7280"/>
                </a:solidFill>
                <a:latin typeface="Consolas" pitchFamily="34" charset="0"/>
                <a:ea typeface="Consolas" pitchFamily="34" charset="-122"/>
                <a:cs typeface="Consolas" pitchFamily="34" charset="-120"/>
              </a:rPr>
              <a:t>Dashboardfuncion.js</a:t>
            </a:r>
            <a:endParaRPr lang="en-US" sz="1067" dirty="0"/>
          </a:p>
        </p:txBody>
      </p:sp>
      <p:sp>
        <p:nvSpPr>
          <p:cNvPr id="35" name="Shape 33"/>
          <p:cNvSpPr/>
          <p:nvPr/>
        </p:nvSpPr>
        <p:spPr>
          <a:xfrm>
            <a:off x="426720" y="4486656"/>
            <a:ext cx="11338560" cy="676656"/>
          </a:xfrm>
          <a:prstGeom prst="rect">
            <a:avLst/>
          </a:prstGeom>
          <a:solidFill>
            <a:srgbClr val="0D0B1A"/>
          </a:solidFill>
          <a:ln w="12700">
            <a:solidFill>
              <a:srgbClr val="1D1040"/>
            </a:solidFill>
            <a:prstDash val="solid"/>
          </a:ln>
        </p:spPr>
        <p:txBody>
          <a:bodyPr/>
          <a:lstStyle/>
          <a:p>
            <a:endParaRPr lang="es-ES"/>
          </a:p>
        </p:txBody>
      </p:sp>
      <p:sp>
        <p:nvSpPr>
          <p:cNvPr id="36" name="Shape 34"/>
          <p:cNvSpPr/>
          <p:nvPr/>
        </p:nvSpPr>
        <p:spPr>
          <a:xfrm>
            <a:off x="512064" y="4608576"/>
            <a:ext cx="877824" cy="341376"/>
          </a:xfrm>
          <a:prstGeom prst="rect">
            <a:avLst/>
          </a:prstGeom>
          <a:solidFill>
            <a:srgbClr val="F59E0B"/>
          </a:solidFill>
          <a:ln w="12700">
            <a:solidFill>
              <a:srgbClr val="F59E0B"/>
            </a:solidFill>
            <a:prstDash val="solid"/>
          </a:ln>
        </p:spPr>
        <p:txBody>
          <a:bodyPr/>
          <a:lstStyle/>
          <a:p>
            <a:endParaRPr lang="es-ES"/>
          </a:p>
        </p:txBody>
      </p:sp>
      <p:sp>
        <p:nvSpPr>
          <p:cNvPr id="37" name="Text 35"/>
          <p:cNvSpPr/>
          <p:nvPr/>
        </p:nvSpPr>
        <p:spPr>
          <a:xfrm>
            <a:off x="512064" y="4608576"/>
            <a:ext cx="877824" cy="341376"/>
          </a:xfrm>
          <a:prstGeom prst="rect">
            <a:avLst/>
          </a:prstGeom>
          <a:noFill/>
          <a:ln/>
        </p:spPr>
        <p:txBody>
          <a:bodyPr wrap="square" lIns="0" tIns="0" rIns="0" bIns="0" rtlCol="0" anchor="ctr"/>
          <a:lstStyle/>
          <a:p>
            <a:pPr algn="ctr"/>
            <a:r>
              <a:rPr lang="en-US" sz="1133" b="1" dirty="0">
                <a:solidFill>
                  <a:srgbClr val="FFFFFF"/>
                </a:solidFill>
                <a:latin typeface="Consolas" pitchFamily="34" charset="0"/>
                <a:ea typeface="Consolas" pitchFamily="34" charset="-122"/>
                <a:cs typeface="Consolas" pitchFamily="34" charset="-120"/>
              </a:rPr>
              <a:t>GET</a:t>
            </a:r>
            <a:endParaRPr lang="en-US" sz="1133" dirty="0"/>
          </a:p>
        </p:txBody>
      </p:sp>
      <p:sp>
        <p:nvSpPr>
          <p:cNvPr id="38" name="Text 36"/>
          <p:cNvSpPr/>
          <p:nvPr/>
        </p:nvSpPr>
        <p:spPr>
          <a:xfrm>
            <a:off x="1524000" y="4559808"/>
            <a:ext cx="2743200" cy="341376"/>
          </a:xfrm>
          <a:prstGeom prst="rect">
            <a:avLst/>
          </a:prstGeom>
          <a:noFill/>
          <a:ln/>
        </p:spPr>
        <p:txBody>
          <a:bodyPr wrap="square" lIns="0" tIns="0" rIns="0" bIns="0" rtlCol="0" anchor="ctr"/>
          <a:lstStyle/>
          <a:p>
            <a:r>
              <a:rPr lang="en-US" sz="1267" dirty="0">
                <a:solidFill>
                  <a:srgbClr val="F59E0B"/>
                </a:solidFill>
                <a:latin typeface="Consolas" pitchFamily="34" charset="0"/>
                <a:ea typeface="Consolas" pitchFamily="34" charset="-122"/>
                <a:cs typeface="Consolas" pitchFamily="34" charset="-120"/>
              </a:rPr>
              <a:t>/matches/{idUsuario}</a:t>
            </a:r>
            <a:endParaRPr lang="en-US" sz="1267" dirty="0"/>
          </a:p>
        </p:txBody>
      </p:sp>
      <p:sp>
        <p:nvSpPr>
          <p:cNvPr id="39" name="Text 37"/>
          <p:cNvSpPr/>
          <p:nvPr/>
        </p:nvSpPr>
        <p:spPr>
          <a:xfrm>
            <a:off x="4364736" y="4535424"/>
            <a:ext cx="4876800" cy="585216"/>
          </a:xfrm>
          <a:prstGeom prst="rect">
            <a:avLst/>
          </a:prstGeom>
          <a:noFill/>
          <a:ln/>
        </p:spPr>
        <p:txBody>
          <a:bodyPr wrap="square" lIns="0" tIns="0" rIns="0" bIns="0" rtlCol="0" anchor="ctr"/>
          <a:lstStyle/>
          <a:p>
            <a:r>
              <a:rPr lang="en-US" sz="1200" dirty="0">
                <a:solidFill>
                  <a:srgbClr val="C4B5D8"/>
                </a:solidFill>
                <a:latin typeface="Calibri" pitchFamily="34" charset="0"/>
                <a:ea typeface="Calibri" pitchFamily="34" charset="-122"/>
                <a:cs typeface="Calibri" pitchFamily="34" charset="-120"/>
              </a:rPr>
              <a:t>Devuelve todos los matches de un usuario con los datos completos del otro dev (nombre, bio, tecnologías y fecha del match).</a:t>
            </a:r>
            <a:endParaRPr lang="en-US" sz="1200" dirty="0"/>
          </a:p>
        </p:txBody>
      </p:sp>
      <p:sp>
        <p:nvSpPr>
          <p:cNvPr id="40" name="Text 38"/>
          <p:cNvSpPr/>
          <p:nvPr/>
        </p:nvSpPr>
        <p:spPr>
          <a:xfrm>
            <a:off x="9363456" y="4608576"/>
            <a:ext cx="2255520" cy="341376"/>
          </a:xfrm>
          <a:prstGeom prst="rect">
            <a:avLst/>
          </a:prstGeom>
          <a:noFill/>
          <a:ln/>
        </p:spPr>
        <p:txBody>
          <a:bodyPr wrap="square" lIns="0" tIns="0" rIns="0" bIns="0" rtlCol="0" anchor="ctr"/>
          <a:lstStyle/>
          <a:p>
            <a:r>
              <a:rPr lang="en-US" sz="1067" dirty="0">
                <a:solidFill>
                  <a:srgbClr val="6B7280"/>
                </a:solidFill>
                <a:latin typeface="Consolas" pitchFamily="34" charset="0"/>
                <a:ea typeface="Consolas" pitchFamily="34" charset="-122"/>
                <a:cs typeface="Consolas" pitchFamily="34" charset="-120"/>
              </a:rPr>
              <a:t>Machesfuncion.js</a:t>
            </a:r>
            <a:endParaRPr lang="en-US" sz="1067" dirty="0"/>
          </a:p>
        </p:txBody>
      </p:sp>
      <p:sp>
        <p:nvSpPr>
          <p:cNvPr id="41" name="Shape 39"/>
          <p:cNvSpPr/>
          <p:nvPr/>
        </p:nvSpPr>
        <p:spPr>
          <a:xfrm>
            <a:off x="426720" y="5187696"/>
            <a:ext cx="11338560" cy="676656"/>
          </a:xfrm>
          <a:prstGeom prst="rect">
            <a:avLst/>
          </a:prstGeom>
          <a:solidFill>
            <a:srgbClr val="0A0718"/>
          </a:solidFill>
          <a:ln w="12700">
            <a:solidFill>
              <a:srgbClr val="1D1040"/>
            </a:solidFill>
            <a:prstDash val="solid"/>
          </a:ln>
        </p:spPr>
        <p:txBody>
          <a:bodyPr/>
          <a:lstStyle/>
          <a:p>
            <a:endParaRPr lang="es-ES"/>
          </a:p>
        </p:txBody>
      </p:sp>
      <p:sp>
        <p:nvSpPr>
          <p:cNvPr id="42" name="Shape 40"/>
          <p:cNvSpPr/>
          <p:nvPr/>
        </p:nvSpPr>
        <p:spPr>
          <a:xfrm>
            <a:off x="512064" y="5309616"/>
            <a:ext cx="877824" cy="341376"/>
          </a:xfrm>
          <a:prstGeom prst="rect">
            <a:avLst/>
          </a:prstGeom>
          <a:solidFill>
            <a:srgbClr val="10B981"/>
          </a:solidFill>
          <a:ln w="12700">
            <a:solidFill>
              <a:srgbClr val="10B981"/>
            </a:solidFill>
            <a:prstDash val="solid"/>
          </a:ln>
        </p:spPr>
        <p:txBody>
          <a:bodyPr/>
          <a:lstStyle/>
          <a:p>
            <a:endParaRPr lang="es-ES"/>
          </a:p>
        </p:txBody>
      </p:sp>
      <p:sp>
        <p:nvSpPr>
          <p:cNvPr id="43" name="Text 41"/>
          <p:cNvSpPr/>
          <p:nvPr/>
        </p:nvSpPr>
        <p:spPr>
          <a:xfrm>
            <a:off x="512064" y="5309616"/>
            <a:ext cx="877824" cy="341376"/>
          </a:xfrm>
          <a:prstGeom prst="rect">
            <a:avLst/>
          </a:prstGeom>
          <a:noFill/>
          <a:ln/>
        </p:spPr>
        <p:txBody>
          <a:bodyPr wrap="square" lIns="0" tIns="0" rIns="0" bIns="0" rtlCol="0" anchor="ctr"/>
          <a:lstStyle/>
          <a:p>
            <a:pPr algn="ctr"/>
            <a:r>
              <a:rPr lang="en-US" sz="1133" b="1" dirty="0">
                <a:solidFill>
                  <a:srgbClr val="FFFFFF"/>
                </a:solidFill>
                <a:latin typeface="Consolas" pitchFamily="34" charset="0"/>
                <a:ea typeface="Consolas" pitchFamily="34" charset="-122"/>
                <a:cs typeface="Consolas" pitchFamily="34" charset="-120"/>
              </a:rPr>
              <a:t>GET</a:t>
            </a:r>
            <a:endParaRPr lang="en-US" sz="1133" dirty="0"/>
          </a:p>
        </p:txBody>
      </p:sp>
      <p:sp>
        <p:nvSpPr>
          <p:cNvPr id="44" name="Text 42"/>
          <p:cNvSpPr/>
          <p:nvPr/>
        </p:nvSpPr>
        <p:spPr>
          <a:xfrm>
            <a:off x="1524000" y="5260848"/>
            <a:ext cx="2743200" cy="341376"/>
          </a:xfrm>
          <a:prstGeom prst="rect">
            <a:avLst/>
          </a:prstGeom>
          <a:noFill/>
          <a:ln/>
        </p:spPr>
        <p:txBody>
          <a:bodyPr wrap="square" lIns="0" tIns="0" rIns="0" bIns="0" rtlCol="0" anchor="ctr"/>
          <a:lstStyle/>
          <a:p>
            <a:r>
              <a:rPr lang="en-US" sz="1267" dirty="0">
                <a:solidFill>
                  <a:srgbClr val="10B981"/>
                </a:solidFill>
                <a:latin typeface="Consolas" pitchFamily="34" charset="0"/>
                <a:ea typeface="Consolas" pitchFamily="34" charset="-122"/>
                <a:cs typeface="Consolas" pitchFamily="34" charset="-120"/>
              </a:rPr>
              <a:t>/tecnologias</a:t>
            </a:r>
            <a:endParaRPr lang="en-US" sz="1267" dirty="0"/>
          </a:p>
        </p:txBody>
      </p:sp>
      <p:sp>
        <p:nvSpPr>
          <p:cNvPr id="45" name="Text 43"/>
          <p:cNvSpPr/>
          <p:nvPr/>
        </p:nvSpPr>
        <p:spPr>
          <a:xfrm>
            <a:off x="4364736" y="5236464"/>
            <a:ext cx="4876800" cy="585216"/>
          </a:xfrm>
          <a:prstGeom prst="rect">
            <a:avLst/>
          </a:prstGeom>
          <a:noFill/>
          <a:ln/>
        </p:spPr>
        <p:txBody>
          <a:bodyPr wrap="square" lIns="0" tIns="0" rIns="0" bIns="0" rtlCol="0" anchor="ctr"/>
          <a:lstStyle/>
          <a:p>
            <a:r>
              <a:rPr lang="en-US" sz="1200" dirty="0">
                <a:solidFill>
                  <a:srgbClr val="C4B5D8"/>
                </a:solidFill>
                <a:latin typeface="Calibri" pitchFamily="34" charset="0"/>
                <a:ea typeface="Calibri" pitchFamily="34" charset="-122"/>
                <a:cs typeface="Calibri" pitchFamily="34" charset="-120"/>
              </a:rPr>
              <a:t>Lista todas las tecnologías disponibles en el catálogo.</a:t>
            </a:r>
            <a:endParaRPr lang="en-US" sz="1200" dirty="0"/>
          </a:p>
        </p:txBody>
      </p:sp>
      <p:sp>
        <p:nvSpPr>
          <p:cNvPr id="46" name="Text 44"/>
          <p:cNvSpPr/>
          <p:nvPr/>
        </p:nvSpPr>
        <p:spPr>
          <a:xfrm>
            <a:off x="9363456" y="5309616"/>
            <a:ext cx="2255520" cy="341376"/>
          </a:xfrm>
          <a:prstGeom prst="rect">
            <a:avLst/>
          </a:prstGeom>
          <a:noFill/>
          <a:ln/>
        </p:spPr>
        <p:txBody>
          <a:bodyPr wrap="square" lIns="0" tIns="0" rIns="0" bIns="0" rtlCol="0" anchor="ctr"/>
          <a:lstStyle/>
          <a:p>
            <a:r>
              <a:rPr lang="en-US" sz="1067" dirty="0">
                <a:solidFill>
                  <a:srgbClr val="6B7280"/>
                </a:solidFill>
                <a:latin typeface="Consolas" pitchFamily="34" charset="0"/>
                <a:ea typeface="Consolas" pitchFamily="34" charset="-122"/>
                <a:cs typeface="Consolas" pitchFamily="34" charset="-120"/>
              </a:rPr>
              <a:t>TecnologiaController</a:t>
            </a:r>
            <a:endParaRPr lang="en-US" sz="1067" dirty="0"/>
          </a:p>
        </p:txBody>
      </p:sp>
      <p:sp>
        <p:nvSpPr>
          <p:cNvPr id="47" name="Shape 45"/>
          <p:cNvSpPr/>
          <p:nvPr/>
        </p:nvSpPr>
        <p:spPr>
          <a:xfrm>
            <a:off x="426720" y="5888736"/>
            <a:ext cx="11338560" cy="676656"/>
          </a:xfrm>
          <a:prstGeom prst="rect">
            <a:avLst/>
          </a:prstGeom>
          <a:solidFill>
            <a:srgbClr val="0D0B1A"/>
          </a:solidFill>
          <a:ln w="12700">
            <a:solidFill>
              <a:srgbClr val="1D1040"/>
            </a:solidFill>
            <a:prstDash val="solid"/>
          </a:ln>
        </p:spPr>
        <p:txBody>
          <a:bodyPr/>
          <a:lstStyle/>
          <a:p>
            <a:endParaRPr lang="es-ES"/>
          </a:p>
        </p:txBody>
      </p:sp>
      <p:sp>
        <p:nvSpPr>
          <p:cNvPr id="48" name="Shape 46"/>
          <p:cNvSpPr/>
          <p:nvPr/>
        </p:nvSpPr>
        <p:spPr>
          <a:xfrm>
            <a:off x="512064" y="6010656"/>
            <a:ext cx="877824" cy="341376"/>
          </a:xfrm>
          <a:prstGeom prst="rect">
            <a:avLst/>
          </a:prstGeom>
          <a:solidFill>
            <a:srgbClr val="A855F7"/>
          </a:solidFill>
          <a:ln w="12700">
            <a:solidFill>
              <a:srgbClr val="A855F7"/>
            </a:solidFill>
            <a:prstDash val="solid"/>
          </a:ln>
        </p:spPr>
        <p:txBody>
          <a:bodyPr/>
          <a:lstStyle/>
          <a:p>
            <a:endParaRPr lang="es-ES"/>
          </a:p>
        </p:txBody>
      </p:sp>
      <p:sp>
        <p:nvSpPr>
          <p:cNvPr id="49" name="Text 47"/>
          <p:cNvSpPr/>
          <p:nvPr/>
        </p:nvSpPr>
        <p:spPr>
          <a:xfrm>
            <a:off x="512064" y="6010656"/>
            <a:ext cx="877824" cy="341376"/>
          </a:xfrm>
          <a:prstGeom prst="rect">
            <a:avLst/>
          </a:prstGeom>
          <a:noFill/>
          <a:ln/>
        </p:spPr>
        <p:txBody>
          <a:bodyPr wrap="square" lIns="0" tIns="0" rIns="0" bIns="0" rtlCol="0" anchor="ctr"/>
          <a:lstStyle/>
          <a:p>
            <a:pPr algn="ctr"/>
            <a:r>
              <a:rPr lang="en-US" sz="1133" b="1" dirty="0">
                <a:solidFill>
                  <a:srgbClr val="FFFFFF"/>
                </a:solidFill>
                <a:latin typeface="Consolas" pitchFamily="34" charset="0"/>
                <a:ea typeface="Consolas" pitchFamily="34" charset="-122"/>
                <a:cs typeface="Consolas" pitchFamily="34" charset="-120"/>
              </a:rPr>
              <a:t>POST</a:t>
            </a:r>
            <a:endParaRPr lang="en-US" sz="1133" dirty="0"/>
          </a:p>
        </p:txBody>
      </p:sp>
      <p:sp>
        <p:nvSpPr>
          <p:cNvPr id="50" name="Text 48"/>
          <p:cNvSpPr/>
          <p:nvPr/>
        </p:nvSpPr>
        <p:spPr>
          <a:xfrm>
            <a:off x="1524000" y="5961888"/>
            <a:ext cx="2743200" cy="341376"/>
          </a:xfrm>
          <a:prstGeom prst="rect">
            <a:avLst/>
          </a:prstGeom>
          <a:noFill/>
          <a:ln/>
        </p:spPr>
        <p:txBody>
          <a:bodyPr wrap="square" lIns="0" tIns="0" rIns="0" bIns="0" rtlCol="0" anchor="ctr"/>
          <a:lstStyle/>
          <a:p>
            <a:r>
              <a:rPr lang="en-US" sz="1267" dirty="0">
                <a:solidFill>
                  <a:srgbClr val="A855F7"/>
                </a:solidFill>
                <a:latin typeface="Consolas" pitchFamily="34" charset="0"/>
                <a:ea typeface="Consolas" pitchFamily="34" charset="-122"/>
                <a:cs typeface="Consolas" pitchFamily="34" charset="-120"/>
              </a:rPr>
              <a:t>/tecnologias/vincular</a:t>
            </a:r>
            <a:endParaRPr lang="en-US" sz="1267" dirty="0"/>
          </a:p>
        </p:txBody>
      </p:sp>
      <p:sp>
        <p:nvSpPr>
          <p:cNvPr id="51" name="Text 49"/>
          <p:cNvSpPr/>
          <p:nvPr/>
        </p:nvSpPr>
        <p:spPr>
          <a:xfrm>
            <a:off x="4364736" y="5937504"/>
            <a:ext cx="4876800" cy="585216"/>
          </a:xfrm>
          <a:prstGeom prst="rect">
            <a:avLst/>
          </a:prstGeom>
          <a:noFill/>
          <a:ln/>
        </p:spPr>
        <p:txBody>
          <a:bodyPr wrap="square" lIns="0" tIns="0" rIns="0" bIns="0" rtlCol="0" anchor="ctr"/>
          <a:lstStyle/>
          <a:p>
            <a:r>
              <a:rPr lang="en-US" sz="1200" dirty="0">
                <a:solidFill>
                  <a:srgbClr val="C4B5D8"/>
                </a:solidFill>
                <a:latin typeface="Calibri" pitchFamily="34" charset="0"/>
                <a:ea typeface="Calibri" pitchFamily="34" charset="-122"/>
                <a:cs typeface="Calibri" pitchFamily="34" charset="-120"/>
              </a:rPr>
              <a:t>Asigna tecnologías a un usuario. Borra las anteriores y vincula las nuevas. Se llama tras el registro.</a:t>
            </a:r>
            <a:endParaRPr lang="en-US" sz="1200" dirty="0"/>
          </a:p>
        </p:txBody>
      </p:sp>
      <p:sp>
        <p:nvSpPr>
          <p:cNvPr id="52" name="Text 50"/>
          <p:cNvSpPr/>
          <p:nvPr/>
        </p:nvSpPr>
        <p:spPr>
          <a:xfrm>
            <a:off x="9363456" y="6010656"/>
            <a:ext cx="2255520" cy="341376"/>
          </a:xfrm>
          <a:prstGeom prst="rect">
            <a:avLst/>
          </a:prstGeom>
          <a:noFill/>
          <a:ln/>
        </p:spPr>
        <p:txBody>
          <a:bodyPr wrap="square" lIns="0" tIns="0" rIns="0" bIns="0" rtlCol="0" anchor="ctr"/>
          <a:lstStyle/>
          <a:p>
            <a:r>
              <a:rPr lang="en-US" sz="1067" dirty="0">
                <a:solidFill>
                  <a:srgbClr val="6B7280"/>
                </a:solidFill>
                <a:latin typeface="Consolas" pitchFamily="34" charset="0"/>
                <a:ea typeface="Consolas" pitchFamily="34" charset="-122"/>
                <a:cs typeface="Consolas" pitchFamily="34" charset="-120"/>
              </a:rPr>
              <a:t>UsuarioDAO</a:t>
            </a:r>
            <a:endParaRPr lang="en-US" sz="106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E040FB"/>
          </a:solidFill>
          <a:ln w="12700">
            <a:solidFill>
              <a:srgbClr val="E040FB"/>
            </a:solidFill>
            <a:prstDash val="solid"/>
          </a:ln>
        </p:spPr>
        <p:txBody>
          <a:bodyPr/>
          <a:lstStyle/>
          <a:p>
            <a:endParaRPr lang="es-ES"/>
          </a:p>
        </p:txBody>
      </p:sp>
      <p:sp>
        <p:nvSpPr>
          <p:cNvPr id="3" name="Text 1"/>
          <p:cNvSpPr/>
          <p:nvPr/>
        </p:nvSpPr>
        <p:spPr>
          <a:xfrm>
            <a:off x="609600" y="219456"/>
            <a:ext cx="10972800" cy="914400"/>
          </a:xfrm>
          <a:prstGeom prst="rect">
            <a:avLst/>
          </a:prstGeom>
          <a:noFill/>
          <a:ln/>
        </p:spPr>
        <p:txBody>
          <a:bodyPr wrap="square" lIns="0" tIns="0" rIns="0" bIns="0" rtlCol="0" anchor="ctr"/>
          <a:lstStyle/>
          <a:p>
            <a:r>
              <a:rPr lang="en-US" sz="4267" b="1" dirty="0">
                <a:solidFill>
                  <a:srgbClr val="F5F0FF"/>
                </a:solidFill>
                <a:latin typeface="Trebuchet MS" pitchFamily="34" charset="0"/>
                <a:ea typeface="Trebuchet MS" pitchFamily="34" charset="-122"/>
                <a:cs typeface="Trebuchet MS" pitchFamily="34" charset="-120"/>
              </a:rPr>
              <a:t>¿Cómo funcionan los Likes y Matches?</a:t>
            </a:r>
            <a:endParaRPr lang="en-US" sz="4267" dirty="0"/>
          </a:p>
        </p:txBody>
      </p:sp>
      <p:sp>
        <p:nvSpPr>
          <p:cNvPr id="4" name="Shape 2"/>
          <p:cNvSpPr/>
          <p:nvPr/>
        </p:nvSpPr>
        <p:spPr>
          <a:xfrm>
            <a:off x="487680" y="1341120"/>
            <a:ext cx="2194560" cy="195072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a:p>
        </p:txBody>
      </p:sp>
      <p:sp>
        <p:nvSpPr>
          <p:cNvPr id="5" name="Text 3"/>
          <p:cNvSpPr/>
          <p:nvPr/>
        </p:nvSpPr>
        <p:spPr>
          <a:xfrm>
            <a:off x="487680" y="1402080"/>
            <a:ext cx="2194560" cy="792480"/>
          </a:xfrm>
          <a:prstGeom prst="rect">
            <a:avLst/>
          </a:prstGeom>
          <a:noFill/>
          <a:ln/>
        </p:spPr>
        <p:txBody>
          <a:bodyPr wrap="square" lIns="0" tIns="0" rIns="0" bIns="0" rtlCol="0" anchor="ctr"/>
          <a:lstStyle/>
          <a:p>
            <a:pPr algn="ctr"/>
            <a:r>
              <a:rPr lang="en-US" sz="3467" dirty="0">
                <a:solidFill>
                  <a:srgbClr val="000000"/>
                </a:solidFill>
              </a:rPr>
              <a:t>👤</a:t>
            </a:r>
            <a:endParaRPr lang="en-US" sz="3467" dirty="0"/>
          </a:p>
        </p:txBody>
      </p:sp>
      <p:sp>
        <p:nvSpPr>
          <p:cNvPr id="6" name="Text 4"/>
          <p:cNvSpPr/>
          <p:nvPr/>
        </p:nvSpPr>
        <p:spPr>
          <a:xfrm>
            <a:off x="548640" y="2231136"/>
            <a:ext cx="2072640" cy="914400"/>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Ana le da</a:t>
            </a:r>
            <a:endParaRPr lang="en-US" sz="1467" dirty="0"/>
          </a:p>
          <a:p>
            <a:pPr algn="ctr"/>
            <a:r>
              <a:rPr lang="en-US" sz="1467" dirty="0">
                <a:solidFill>
                  <a:srgbClr val="C4B5D8"/>
                </a:solidFill>
                <a:latin typeface="Calibri" pitchFamily="34" charset="0"/>
                <a:ea typeface="Calibri" pitchFamily="34" charset="-122"/>
                <a:cs typeface="Calibri" pitchFamily="34" charset="-120"/>
              </a:rPr>
              <a:t>like a Luis</a:t>
            </a:r>
            <a:endParaRPr lang="en-US" sz="1467" dirty="0"/>
          </a:p>
        </p:txBody>
      </p:sp>
      <p:sp>
        <p:nvSpPr>
          <p:cNvPr id="7" name="Shape 5"/>
          <p:cNvSpPr/>
          <p:nvPr/>
        </p:nvSpPr>
        <p:spPr>
          <a:xfrm>
            <a:off x="2718816" y="2292096"/>
            <a:ext cx="670560" cy="0"/>
          </a:xfrm>
          <a:prstGeom prst="line">
            <a:avLst/>
          </a:prstGeom>
          <a:noFill/>
          <a:ln w="25400">
            <a:solidFill>
              <a:srgbClr val="F472B6"/>
            </a:solidFill>
            <a:prstDash val="solid"/>
          </a:ln>
        </p:spPr>
        <p:txBody>
          <a:bodyPr/>
          <a:lstStyle/>
          <a:p>
            <a:endParaRPr lang="es-ES"/>
          </a:p>
        </p:txBody>
      </p:sp>
      <p:sp>
        <p:nvSpPr>
          <p:cNvPr id="8" name="Text 6"/>
          <p:cNvSpPr/>
          <p:nvPr/>
        </p:nvSpPr>
        <p:spPr>
          <a:xfrm>
            <a:off x="2804160" y="2072640"/>
            <a:ext cx="487680" cy="365760"/>
          </a:xfrm>
          <a:prstGeom prst="rect">
            <a:avLst/>
          </a:prstGeom>
          <a:noFill/>
          <a:ln/>
        </p:spPr>
        <p:txBody>
          <a:bodyPr wrap="square" lIns="0" tIns="0" rIns="0" bIns="0" rtlCol="0" anchor="ctr"/>
          <a:lstStyle/>
          <a:p>
            <a:pPr algn="ctr"/>
            <a:r>
              <a:rPr lang="en-US" sz="1867" dirty="0">
                <a:solidFill>
                  <a:srgbClr val="F472B6"/>
                </a:solidFill>
              </a:rPr>
              <a:t>→</a:t>
            </a:r>
            <a:endParaRPr lang="en-US" sz="1867" dirty="0"/>
          </a:p>
        </p:txBody>
      </p:sp>
      <p:sp>
        <p:nvSpPr>
          <p:cNvPr id="9" name="Shape 7"/>
          <p:cNvSpPr/>
          <p:nvPr/>
        </p:nvSpPr>
        <p:spPr>
          <a:xfrm>
            <a:off x="2926080" y="1341120"/>
            <a:ext cx="2194560" cy="195072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a:p>
        </p:txBody>
      </p:sp>
      <p:sp>
        <p:nvSpPr>
          <p:cNvPr id="10" name="Text 8"/>
          <p:cNvSpPr/>
          <p:nvPr/>
        </p:nvSpPr>
        <p:spPr>
          <a:xfrm>
            <a:off x="2926080" y="1402080"/>
            <a:ext cx="2194560" cy="792480"/>
          </a:xfrm>
          <a:prstGeom prst="rect">
            <a:avLst/>
          </a:prstGeom>
          <a:noFill/>
          <a:ln/>
        </p:spPr>
        <p:txBody>
          <a:bodyPr wrap="square" lIns="0" tIns="0" rIns="0" bIns="0" rtlCol="0" anchor="ctr"/>
          <a:lstStyle/>
          <a:p>
            <a:pPr algn="ctr"/>
            <a:r>
              <a:rPr lang="en-US" sz="3467" dirty="0">
                <a:solidFill>
                  <a:srgbClr val="000000"/>
                </a:solidFill>
              </a:rPr>
              <a:t>💾</a:t>
            </a:r>
            <a:endParaRPr lang="en-US" sz="3467" dirty="0"/>
          </a:p>
        </p:txBody>
      </p:sp>
      <p:sp>
        <p:nvSpPr>
          <p:cNvPr id="11" name="Text 9"/>
          <p:cNvSpPr/>
          <p:nvPr/>
        </p:nvSpPr>
        <p:spPr>
          <a:xfrm>
            <a:off x="2987040" y="2231136"/>
            <a:ext cx="2072640" cy="914400"/>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Se guarda</a:t>
            </a:r>
            <a:endParaRPr lang="en-US" sz="1467" dirty="0"/>
          </a:p>
          <a:p>
            <a:pPr algn="ctr"/>
            <a:r>
              <a:rPr lang="en-US" sz="1467" dirty="0">
                <a:solidFill>
                  <a:srgbClr val="C4B5D8"/>
                </a:solidFill>
                <a:latin typeface="Calibri" pitchFamily="34" charset="0"/>
                <a:ea typeface="Calibri" pitchFamily="34" charset="-122"/>
                <a:cs typeface="Calibri" pitchFamily="34" charset="-120"/>
              </a:rPr>
              <a:t>en tabla Likes</a:t>
            </a:r>
            <a:endParaRPr lang="en-US" sz="1467" dirty="0"/>
          </a:p>
        </p:txBody>
      </p:sp>
      <p:sp>
        <p:nvSpPr>
          <p:cNvPr id="12" name="Shape 10"/>
          <p:cNvSpPr/>
          <p:nvPr/>
        </p:nvSpPr>
        <p:spPr>
          <a:xfrm>
            <a:off x="5157216" y="2292096"/>
            <a:ext cx="670560" cy="0"/>
          </a:xfrm>
          <a:prstGeom prst="line">
            <a:avLst/>
          </a:prstGeom>
          <a:noFill/>
          <a:ln w="25400">
            <a:solidFill>
              <a:srgbClr val="F472B6"/>
            </a:solidFill>
            <a:prstDash val="solid"/>
          </a:ln>
        </p:spPr>
        <p:txBody>
          <a:bodyPr/>
          <a:lstStyle/>
          <a:p>
            <a:endParaRPr lang="es-ES"/>
          </a:p>
        </p:txBody>
      </p:sp>
      <p:sp>
        <p:nvSpPr>
          <p:cNvPr id="13" name="Text 11"/>
          <p:cNvSpPr/>
          <p:nvPr/>
        </p:nvSpPr>
        <p:spPr>
          <a:xfrm>
            <a:off x="5242560" y="2072640"/>
            <a:ext cx="487680" cy="365760"/>
          </a:xfrm>
          <a:prstGeom prst="rect">
            <a:avLst/>
          </a:prstGeom>
          <a:noFill/>
          <a:ln/>
        </p:spPr>
        <p:txBody>
          <a:bodyPr wrap="square" lIns="0" tIns="0" rIns="0" bIns="0" rtlCol="0" anchor="ctr"/>
          <a:lstStyle/>
          <a:p>
            <a:pPr algn="ctr"/>
            <a:r>
              <a:rPr lang="en-US" sz="1867" dirty="0">
                <a:solidFill>
                  <a:srgbClr val="F472B6"/>
                </a:solidFill>
              </a:rPr>
              <a:t>→</a:t>
            </a:r>
            <a:endParaRPr lang="en-US" sz="1867" dirty="0"/>
          </a:p>
        </p:txBody>
      </p:sp>
      <p:sp>
        <p:nvSpPr>
          <p:cNvPr id="14" name="Shape 12"/>
          <p:cNvSpPr/>
          <p:nvPr/>
        </p:nvSpPr>
        <p:spPr>
          <a:xfrm>
            <a:off x="5364480" y="1341120"/>
            <a:ext cx="2194560" cy="195072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a:p>
        </p:txBody>
      </p:sp>
      <p:sp>
        <p:nvSpPr>
          <p:cNvPr id="15" name="Text 13"/>
          <p:cNvSpPr/>
          <p:nvPr/>
        </p:nvSpPr>
        <p:spPr>
          <a:xfrm>
            <a:off x="5364480" y="1402080"/>
            <a:ext cx="2194560" cy="792480"/>
          </a:xfrm>
          <a:prstGeom prst="rect">
            <a:avLst/>
          </a:prstGeom>
          <a:noFill/>
          <a:ln/>
        </p:spPr>
        <p:txBody>
          <a:bodyPr wrap="square" lIns="0" tIns="0" rIns="0" bIns="0" rtlCol="0" anchor="ctr"/>
          <a:lstStyle/>
          <a:p>
            <a:pPr algn="ctr"/>
            <a:r>
              <a:rPr lang="en-US" sz="3467" dirty="0">
                <a:solidFill>
                  <a:srgbClr val="000000"/>
                </a:solidFill>
              </a:rPr>
              <a:t>🔍</a:t>
            </a:r>
            <a:endParaRPr lang="en-US" sz="3467" dirty="0"/>
          </a:p>
        </p:txBody>
      </p:sp>
      <p:sp>
        <p:nvSpPr>
          <p:cNvPr id="16" name="Text 14"/>
          <p:cNvSpPr/>
          <p:nvPr/>
        </p:nvSpPr>
        <p:spPr>
          <a:xfrm>
            <a:off x="5425440" y="2231136"/>
            <a:ext cx="2072640" cy="914400"/>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¿Luis ya le</a:t>
            </a:r>
            <a:endParaRPr lang="en-US" sz="1467" dirty="0"/>
          </a:p>
          <a:p>
            <a:pPr algn="ctr"/>
            <a:r>
              <a:rPr lang="en-US" sz="1467" dirty="0">
                <a:solidFill>
                  <a:srgbClr val="C4B5D8"/>
                </a:solidFill>
                <a:latin typeface="Calibri" pitchFamily="34" charset="0"/>
                <a:ea typeface="Calibri" pitchFamily="34" charset="-122"/>
                <a:cs typeface="Calibri" pitchFamily="34" charset="-120"/>
              </a:rPr>
              <a:t>dio like a Ana?</a:t>
            </a:r>
            <a:endParaRPr lang="en-US" sz="1467" dirty="0"/>
          </a:p>
        </p:txBody>
      </p:sp>
      <p:sp>
        <p:nvSpPr>
          <p:cNvPr id="17" name="Shape 15"/>
          <p:cNvSpPr/>
          <p:nvPr/>
        </p:nvSpPr>
        <p:spPr>
          <a:xfrm>
            <a:off x="8900160" y="1341120"/>
            <a:ext cx="2194560" cy="195072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a:p>
        </p:txBody>
      </p:sp>
      <p:sp>
        <p:nvSpPr>
          <p:cNvPr id="18" name="Text 16"/>
          <p:cNvSpPr/>
          <p:nvPr/>
        </p:nvSpPr>
        <p:spPr>
          <a:xfrm>
            <a:off x="8900160" y="1402080"/>
            <a:ext cx="2194560" cy="792480"/>
          </a:xfrm>
          <a:prstGeom prst="rect">
            <a:avLst/>
          </a:prstGeom>
          <a:noFill/>
          <a:ln/>
        </p:spPr>
        <p:txBody>
          <a:bodyPr wrap="square" lIns="0" tIns="0" rIns="0" bIns="0" rtlCol="0" anchor="ctr"/>
          <a:lstStyle/>
          <a:p>
            <a:pPr algn="ctr"/>
            <a:r>
              <a:rPr lang="en-US" sz="3467" dirty="0">
                <a:solidFill>
                  <a:srgbClr val="000000"/>
                </a:solidFill>
              </a:rPr>
              <a:t>💞</a:t>
            </a:r>
            <a:endParaRPr lang="en-US" sz="3467" dirty="0"/>
          </a:p>
        </p:txBody>
      </p:sp>
      <p:sp>
        <p:nvSpPr>
          <p:cNvPr id="19" name="Text 17"/>
          <p:cNvSpPr/>
          <p:nvPr/>
        </p:nvSpPr>
        <p:spPr>
          <a:xfrm>
            <a:off x="8961120" y="2231136"/>
            <a:ext cx="2072640" cy="914400"/>
          </a:xfrm>
          <a:prstGeom prst="rect">
            <a:avLst/>
          </a:prstGeom>
          <a:noFill/>
          <a:ln/>
        </p:spPr>
        <p:txBody>
          <a:bodyPr wrap="square" lIns="0" tIns="0" rIns="0" bIns="0" rtlCol="0" anchor="ctr"/>
          <a:lstStyle/>
          <a:p>
            <a:pPr algn="ctr"/>
            <a:r>
              <a:rPr lang="en-US" sz="1467" dirty="0">
                <a:solidFill>
                  <a:srgbClr val="C4B5D8"/>
                </a:solidFill>
                <a:latin typeface="Calibri" pitchFamily="34" charset="0"/>
                <a:ea typeface="Calibri" pitchFamily="34" charset="-122"/>
                <a:cs typeface="Calibri" pitchFamily="34" charset="-120"/>
              </a:rPr>
              <a:t>¡MATCH!</a:t>
            </a:r>
            <a:endParaRPr lang="en-US" sz="1467" dirty="0"/>
          </a:p>
          <a:p>
            <a:pPr algn="ctr"/>
            <a:r>
              <a:rPr lang="en-US" sz="1467" dirty="0">
                <a:solidFill>
                  <a:srgbClr val="C4B5D8"/>
                </a:solidFill>
                <a:latin typeface="Calibri" pitchFamily="34" charset="0"/>
                <a:ea typeface="Calibri" pitchFamily="34" charset="-122"/>
                <a:cs typeface="Calibri" pitchFamily="34" charset="-120"/>
              </a:rPr>
              <a:t>Se crea en BD</a:t>
            </a:r>
            <a:endParaRPr lang="en-US" sz="1467" dirty="0"/>
          </a:p>
        </p:txBody>
      </p:sp>
      <p:sp>
        <p:nvSpPr>
          <p:cNvPr id="20" name="Text 18"/>
          <p:cNvSpPr/>
          <p:nvPr/>
        </p:nvSpPr>
        <p:spPr>
          <a:xfrm>
            <a:off x="7827264" y="1901952"/>
            <a:ext cx="975360" cy="365760"/>
          </a:xfrm>
          <a:prstGeom prst="rect">
            <a:avLst/>
          </a:prstGeom>
          <a:noFill/>
          <a:ln/>
        </p:spPr>
        <p:txBody>
          <a:bodyPr wrap="square" lIns="0" tIns="0" rIns="0" bIns="0" rtlCol="0" anchor="ctr"/>
          <a:lstStyle/>
          <a:p>
            <a:pPr algn="ctr"/>
            <a:r>
              <a:rPr lang="en-US" sz="1733" b="1" dirty="0">
                <a:solidFill>
                  <a:srgbClr val="4ADE80"/>
                </a:solidFill>
              </a:rPr>
              <a:t>SÍ ✅</a:t>
            </a:r>
            <a:endParaRPr lang="en-US" sz="1733" dirty="0"/>
          </a:p>
        </p:txBody>
      </p:sp>
      <p:sp>
        <p:nvSpPr>
          <p:cNvPr id="21" name="Shape 19"/>
          <p:cNvSpPr/>
          <p:nvPr/>
        </p:nvSpPr>
        <p:spPr>
          <a:xfrm>
            <a:off x="7583424" y="2316480"/>
            <a:ext cx="1280160" cy="0"/>
          </a:xfrm>
          <a:prstGeom prst="line">
            <a:avLst/>
          </a:prstGeom>
          <a:noFill/>
          <a:ln w="25400">
            <a:solidFill>
              <a:srgbClr val="4ADE80"/>
            </a:solidFill>
            <a:prstDash val="solid"/>
          </a:ln>
        </p:spPr>
        <p:txBody>
          <a:bodyPr/>
          <a:lstStyle/>
          <a:p>
            <a:endParaRPr lang="es-ES"/>
          </a:p>
        </p:txBody>
      </p:sp>
      <p:sp>
        <p:nvSpPr>
          <p:cNvPr id="22" name="Text 20"/>
          <p:cNvSpPr/>
          <p:nvPr/>
        </p:nvSpPr>
        <p:spPr>
          <a:xfrm>
            <a:off x="8290560" y="2097024"/>
            <a:ext cx="487680" cy="365760"/>
          </a:xfrm>
          <a:prstGeom prst="rect">
            <a:avLst/>
          </a:prstGeom>
          <a:noFill/>
          <a:ln/>
        </p:spPr>
        <p:txBody>
          <a:bodyPr wrap="square" lIns="0" tIns="0" rIns="0" bIns="0" rtlCol="0" anchor="ctr"/>
          <a:lstStyle/>
          <a:p>
            <a:pPr algn="ctr"/>
            <a:r>
              <a:rPr lang="en-US" sz="1867" dirty="0">
                <a:solidFill>
                  <a:srgbClr val="4ADE80"/>
                </a:solidFill>
              </a:rPr>
              <a:t>→</a:t>
            </a:r>
            <a:endParaRPr lang="en-US" sz="1867" dirty="0"/>
          </a:p>
        </p:txBody>
      </p:sp>
      <p:sp>
        <p:nvSpPr>
          <p:cNvPr id="23" name="Text 21"/>
          <p:cNvSpPr/>
          <p:nvPr/>
        </p:nvSpPr>
        <p:spPr>
          <a:xfrm>
            <a:off x="6217920" y="3596640"/>
            <a:ext cx="2194560" cy="365760"/>
          </a:xfrm>
          <a:prstGeom prst="rect">
            <a:avLst/>
          </a:prstGeom>
          <a:noFill/>
          <a:ln/>
        </p:spPr>
        <p:txBody>
          <a:bodyPr wrap="square" lIns="0" tIns="0" rIns="0" bIns="0" rtlCol="0" anchor="ctr"/>
          <a:lstStyle/>
          <a:p>
            <a:pPr algn="ctr"/>
            <a:r>
              <a:rPr lang="en-US" sz="1733" b="1" dirty="0">
                <a:solidFill>
                  <a:srgbClr val="F87171"/>
                </a:solidFill>
              </a:rPr>
              <a:t>NO ✗</a:t>
            </a:r>
            <a:endParaRPr lang="en-US" sz="1733" dirty="0"/>
          </a:p>
        </p:txBody>
      </p:sp>
      <p:sp>
        <p:nvSpPr>
          <p:cNvPr id="24" name="Shape 22"/>
          <p:cNvSpPr/>
          <p:nvPr/>
        </p:nvSpPr>
        <p:spPr>
          <a:xfrm>
            <a:off x="5120640" y="4084320"/>
            <a:ext cx="3413760" cy="97536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a:p>
        </p:txBody>
      </p:sp>
      <p:sp>
        <p:nvSpPr>
          <p:cNvPr id="25" name="Text 23"/>
          <p:cNvSpPr/>
          <p:nvPr/>
        </p:nvSpPr>
        <p:spPr>
          <a:xfrm>
            <a:off x="5242560" y="4145280"/>
            <a:ext cx="3169920" cy="792480"/>
          </a:xfrm>
          <a:prstGeom prst="rect">
            <a:avLst/>
          </a:prstGeom>
          <a:noFill/>
          <a:ln/>
        </p:spPr>
        <p:txBody>
          <a:bodyPr wrap="square" lIns="0" tIns="0" rIns="0" bIns="0" rtlCol="0" anchor="ctr"/>
          <a:lstStyle/>
          <a:p>
            <a:pPr algn="ctr"/>
            <a:r>
              <a:rPr lang="en-US" sz="1333" dirty="0">
                <a:solidFill>
                  <a:srgbClr val="C4B5D8"/>
                </a:solidFill>
                <a:latin typeface="Calibri" pitchFamily="34" charset="0"/>
                <a:ea typeface="Calibri" pitchFamily="34" charset="-122"/>
                <a:cs typeface="Calibri" pitchFamily="34" charset="-120"/>
              </a:rPr>
              <a:t>Se queda el like guardado.</a:t>
            </a:r>
            <a:endParaRPr lang="en-US" sz="1333" dirty="0"/>
          </a:p>
          <a:p>
            <a:pPr algn="ctr"/>
            <a:r>
              <a:rPr lang="en-US" sz="1333" dirty="0">
                <a:solidFill>
                  <a:srgbClr val="C4B5D8"/>
                </a:solidFill>
                <a:latin typeface="Calibri" pitchFamily="34" charset="0"/>
                <a:ea typeface="Calibri" pitchFamily="34" charset="-122"/>
                <a:cs typeface="Calibri" pitchFamily="34" charset="-120"/>
              </a:rPr>
              <a:t>Si Luis le da like después → Match 💞</a:t>
            </a:r>
            <a:endParaRPr lang="en-US" sz="1333" dirty="0"/>
          </a:p>
        </p:txBody>
      </p:sp>
      <p:sp>
        <p:nvSpPr>
          <p:cNvPr id="26" name="Shape 24"/>
          <p:cNvSpPr/>
          <p:nvPr/>
        </p:nvSpPr>
        <p:spPr>
          <a:xfrm>
            <a:off x="487680" y="3779520"/>
            <a:ext cx="11155680" cy="20726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a:p>
        </p:txBody>
      </p:sp>
      <p:sp>
        <p:nvSpPr>
          <p:cNvPr id="27" name="Text 25"/>
          <p:cNvSpPr/>
          <p:nvPr/>
        </p:nvSpPr>
        <p:spPr>
          <a:xfrm>
            <a:off x="731520" y="3901440"/>
            <a:ext cx="10607040" cy="463296"/>
          </a:xfrm>
          <a:prstGeom prst="rect">
            <a:avLst/>
          </a:prstGeom>
          <a:noFill/>
          <a:ln/>
        </p:spPr>
        <p:txBody>
          <a:bodyPr wrap="square" lIns="0" tIns="0" rIns="0" bIns="0" rtlCol="0" anchor="ctr"/>
          <a:lstStyle/>
          <a:p>
            <a:r>
              <a:rPr lang="en-US" sz="1867" b="1" dirty="0">
                <a:solidFill>
                  <a:srgbClr val="F472B6"/>
                </a:solidFill>
                <a:latin typeface="Trebuchet MS" pitchFamily="34" charset="0"/>
                <a:ea typeface="Trebuchet MS" pitchFamily="34" charset="-122"/>
                <a:cs typeface="Trebuchet MS" pitchFamily="34" charset="-120"/>
              </a:rPr>
              <a:t>🔁  El sistema comprueba los dos sentidos:</a:t>
            </a:r>
            <a:endParaRPr lang="en-US" sz="1867" dirty="0"/>
          </a:p>
        </p:txBody>
      </p:sp>
      <p:sp>
        <p:nvSpPr>
          <p:cNvPr id="28" name="Text 26"/>
          <p:cNvSpPr/>
          <p:nvPr/>
        </p:nvSpPr>
        <p:spPr>
          <a:xfrm>
            <a:off x="731520" y="4364736"/>
            <a:ext cx="10607040" cy="609600"/>
          </a:xfrm>
          <a:prstGeom prst="rect">
            <a:avLst/>
          </a:prstGeom>
          <a:noFill/>
          <a:ln/>
        </p:spPr>
        <p:txBody>
          <a:bodyPr wrap="square" lIns="0" tIns="0" rIns="0" bIns="0" rtlCol="0" anchor="ctr"/>
          <a:lstStyle/>
          <a:p>
            <a:r>
              <a:rPr lang="en-US" sz="1600" dirty="0">
                <a:solidFill>
                  <a:srgbClr val="C4B5D8"/>
                </a:solidFill>
                <a:latin typeface="Calibri" pitchFamily="34" charset="0"/>
                <a:ea typeface="Calibri" pitchFamily="34" charset="-122"/>
                <a:cs typeface="Calibri" pitchFamily="34" charset="-120"/>
              </a:rPr>
              <a:t>Ana → Luis  +  Luis → Ana  =  MATCH automático vía Trigger en la base de datos o lógica en Java (LikeDAO)</a:t>
            </a:r>
            <a:endParaRPr lang="en-US" sz="1600" dirty="0"/>
          </a:p>
        </p:txBody>
      </p:sp>
      <p:sp>
        <p:nvSpPr>
          <p:cNvPr id="29" name="Text 27"/>
          <p:cNvSpPr/>
          <p:nvPr/>
        </p:nvSpPr>
        <p:spPr>
          <a:xfrm>
            <a:off x="731520" y="4998720"/>
            <a:ext cx="10607040" cy="670560"/>
          </a:xfrm>
          <a:prstGeom prst="rect">
            <a:avLst/>
          </a:prstGeom>
          <a:noFill/>
          <a:ln/>
        </p:spPr>
        <p:txBody>
          <a:bodyPr wrap="square" lIns="0" tIns="0" rIns="0" bIns="0" rtlCol="0" anchor="ctr"/>
          <a:lstStyle/>
          <a:p>
            <a:r>
              <a:rPr lang="en-US" sz="1600" dirty="0">
                <a:solidFill>
                  <a:srgbClr val="C4B5D8"/>
                </a:solidFill>
                <a:latin typeface="Calibri" pitchFamily="34" charset="0"/>
                <a:ea typeface="Calibri" pitchFamily="34" charset="-122"/>
                <a:cs typeface="Calibri" pitchFamily="34" charset="-120"/>
              </a:rPr>
              <a:t>Los matches se guardan con fecha y evitan duplicados gracias a la clave UNIQUE (id_usuario1, id_usuario2)</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E040FB"/>
          </a:solidFill>
          <a:ln w="12700">
            <a:solidFill>
              <a:srgbClr val="E040FB"/>
            </a:solidFill>
            <a:prstDash val="solid"/>
          </a:ln>
        </p:spPr>
        <p:txBody>
          <a:bodyPr/>
          <a:lstStyle/>
          <a:p>
            <a:endParaRPr lang="es-ES"/>
          </a:p>
        </p:txBody>
      </p:sp>
      <p:sp>
        <p:nvSpPr>
          <p:cNvPr id="3" name="Text 1"/>
          <p:cNvSpPr/>
          <p:nvPr/>
        </p:nvSpPr>
        <p:spPr>
          <a:xfrm>
            <a:off x="609600" y="121920"/>
            <a:ext cx="11216640" cy="670560"/>
          </a:xfrm>
          <a:prstGeom prst="rect">
            <a:avLst/>
          </a:prstGeom>
          <a:noFill/>
          <a:ln/>
        </p:spPr>
        <p:txBody>
          <a:bodyPr wrap="square" lIns="0" tIns="0" rIns="0" bIns="0" rtlCol="0" anchor="ctr"/>
          <a:lstStyle/>
          <a:p>
            <a:r>
              <a:rPr lang="en-US" sz="3200" b="1" dirty="0">
                <a:solidFill>
                  <a:srgbClr val="F5F0FF"/>
                </a:solidFill>
                <a:latin typeface="Trebuchet MS" pitchFamily="34" charset="0"/>
                <a:ea typeface="Trebuchet MS" pitchFamily="34" charset="-122"/>
                <a:cs typeface="Trebuchet MS" pitchFamily="34" charset="-120"/>
              </a:rPr>
              <a:t>Procedimientos almacenados y Trigger</a:t>
            </a:r>
            <a:endParaRPr lang="en-US" sz="3200" dirty="0"/>
          </a:p>
        </p:txBody>
      </p:sp>
      <p:sp>
        <p:nvSpPr>
          <p:cNvPr id="4" name="Shape 2"/>
          <p:cNvSpPr/>
          <p:nvPr/>
        </p:nvSpPr>
        <p:spPr>
          <a:xfrm>
            <a:off x="426720" y="914400"/>
            <a:ext cx="5547360" cy="579120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a:p>
        </p:txBody>
      </p:sp>
      <p:sp>
        <p:nvSpPr>
          <p:cNvPr id="5" name="Shape 3"/>
          <p:cNvSpPr/>
          <p:nvPr/>
        </p:nvSpPr>
        <p:spPr>
          <a:xfrm>
            <a:off x="426720" y="914400"/>
            <a:ext cx="5547360" cy="463296"/>
          </a:xfrm>
          <a:prstGeom prst="rect">
            <a:avLst/>
          </a:prstGeom>
          <a:solidFill>
            <a:srgbClr val="7C3AED"/>
          </a:solidFill>
          <a:ln w="12700">
            <a:solidFill>
              <a:srgbClr val="7C3AED"/>
            </a:solidFill>
            <a:prstDash val="solid"/>
          </a:ln>
        </p:spPr>
        <p:txBody>
          <a:bodyPr/>
          <a:lstStyle/>
          <a:p>
            <a:endParaRPr lang="es-ES"/>
          </a:p>
        </p:txBody>
      </p:sp>
      <p:sp>
        <p:nvSpPr>
          <p:cNvPr id="6" name="Text 4"/>
          <p:cNvSpPr/>
          <p:nvPr/>
        </p:nvSpPr>
        <p:spPr>
          <a:xfrm>
            <a:off x="609600" y="914400"/>
            <a:ext cx="5181600" cy="463296"/>
          </a:xfrm>
          <a:prstGeom prst="rect">
            <a:avLst/>
          </a:prstGeom>
          <a:noFill/>
          <a:ln/>
        </p:spPr>
        <p:txBody>
          <a:bodyPr wrap="square" lIns="0" tIns="0" rIns="0" bIns="0" rtlCol="0" anchor="ctr"/>
          <a:lstStyle/>
          <a:p>
            <a:r>
              <a:rPr lang="en-US" sz="1600" b="1" dirty="0">
                <a:solidFill>
                  <a:srgbClr val="FFFFFF"/>
                </a:solidFill>
              </a:rPr>
              <a:t>⚙️  Procedimientos Almacenados</a:t>
            </a:r>
            <a:endParaRPr lang="en-US" sz="1600" dirty="0"/>
          </a:p>
        </p:txBody>
      </p:sp>
      <p:sp>
        <p:nvSpPr>
          <p:cNvPr id="7" name="Text 5"/>
          <p:cNvSpPr/>
          <p:nvPr/>
        </p:nvSpPr>
        <p:spPr>
          <a:xfrm>
            <a:off x="609600" y="1463040"/>
            <a:ext cx="5120640" cy="792480"/>
          </a:xfrm>
          <a:prstGeom prst="rect">
            <a:avLst/>
          </a:prstGeom>
          <a:noFill/>
          <a:ln/>
        </p:spPr>
        <p:txBody>
          <a:bodyPr wrap="square" lIns="0" tIns="0" rIns="0" bIns="0" rtlCol="0" anchor="ctr"/>
          <a:lstStyle/>
          <a:p>
            <a:r>
              <a:rPr lang="en-US" sz="1400" dirty="0">
                <a:solidFill>
                  <a:srgbClr val="C4B5D8"/>
                </a:solidFill>
                <a:latin typeface="Calibri" pitchFamily="34" charset="0"/>
                <a:ea typeface="Calibri" pitchFamily="34" charset="-122"/>
                <a:cs typeface="Calibri" pitchFamily="34" charset="-120"/>
              </a:rPr>
              <a:t>Son bloques de código SQL guardados en la base de datos que se pueden llamar por nombre. Se ejecutan directamente en MySQL, sin pasar por Java.</a:t>
            </a:r>
            <a:endParaRPr lang="en-US" sz="1400" dirty="0"/>
          </a:p>
        </p:txBody>
      </p:sp>
      <p:sp>
        <p:nvSpPr>
          <p:cNvPr id="8" name="Shape 6"/>
          <p:cNvSpPr/>
          <p:nvPr/>
        </p:nvSpPr>
        <p:spPr>
          <a:xfrm>
            <a:off x="609600" y="2353056"/>
            <a:ext cx="5120640" cy="316992"/>
          </a:xfrm>
          <a:prstGeom prst="rect">
            <a:avLst/>
          </a:prstGeom>
          <a:solidFill>
            <a:srgbClr val="160830"/>
          </a:solidFill>
          <a:ln w="12700">
            <a:solidFill>
              <a:srgbClr val="A855F7"/>
            </a:solidFill>
            <a:prstDash val="solid"/>
          </a:ln>
        </p:spPr>
        <p:txBody>
          <a:bodyPr/>
          <a:lstStyle/>
          <a:p>
            <a:endParaRPr lang="es-ES"/>
          </a:p>
        </p:txBody>
      </p:sp>
      <p:sp>
        <p:nvSpPr>
          <p:cNvPr id="9" name="Text 7"/>
          <p:cNvSpPr/>
          <p:nvPr/>
        </p:nvSpPr>
        <p:spPr>
          <a:xfrm>
            <a:off x="707136" y="2353056"/>
            <a:ext cx="4937760" cy="316992"/>
          </a:xfrm>
          <a:prstGeom prst="rect">
            <a:avLst/>
          </a:prstGeom>
          <a:noFill/>
          <a:ln/>
        </p:spPr>
        <p:txBody>
          <a:bodyPr wrap="square" lIns="0" tIns="0" rIns="0" bIns="0" rtlCol="0" anchor="ctr"/>
          <a:lstStyle/>
          <a:p>
            <a:r>
              <a:rPr lang="en-US" sz="1133" b="1" dirty="0">
                <a:solidFill>
                  <a:srgbClr val="A855F7"/>
                </a:solidFill>
                <a:latin typeface="Consolas" pitchFamily="34" charset="0"/>
                <a:ea typeface="Consolas" pitchFamily="34" charset="-122"/>
                <a:cs typeface="Consolas" pitchFamily="34" charset="-120"/>
              </a:rPr>
              <a:t>CargarUsuario(nombre, correo, bio)</a:t>
            </a:r>
            <a:endParaRPr lang="en-US" sz="1133" dirty="0"/>
          </a:p>
        </p:txBody>
      </p:sp>
      <p:sp>
        <p:nvSpPr>
          <p:cNvPr id="10" name="Text 8"/>
          <p:cNvSpPr/>
          <p:nvPr/>
        </p:nvSpPr>
        <p:spPr>
          <a:xfrm>
            <a:off x="609600" y="2694432"/>
            <a:ext cx="5120640" cy="512064"/>
          </a:xfrm>
          <a:prstGeom prst="rect">
            <a:avLst/>
          </a:prstGeom>
          <a:noFill/>
          <a:ln/>
        </p:spPr>
        <p:txBody>
          <a:bodyPr wrap="square" lIns="0" tIns="0" rIns="0" bIns="0" rtlCol="0" anchor="ctr"/>
          <a:lstStyle/>
          <a:p>
            <a:r>
              <a:rPr lang="en-US" sz="1333" dirty="0">
                <a:solidFill>
                  <a:srgbClr val="C4B5D8"/>
                </a:solidFill>
                <a:latin typeface="Calibri" pitchFamily="34" charset="0"/>
                <a:ea typeface="Calibri" pitchFamily="34" charset="-122"/>
                <a:cs typeface="Calibri" pitchFamily="34" charset="-120"/>
              </a:rPr>
              <a:t>Valida que nombre y correo no estén vacíos ni repetidos y luego inserta el usuario. Devuelve la fila creada.</a:t>
            </a:r>
            <a:endParaRPr lang="en-US" sz="1333" dirty="0"/>
          </a:p>
        </p:txBody>
      </p:sp>
      <p:sp>
        <p:nvSpPr>
          <p:cNvPr id="11" name="Shape 9"/>
          <p:cNvSpPr/>
          <p:nvPr/>
        </p:nvSpPr>
        <p:spPr>
          <a:xfrm>
            <a:off x="609600" y="3230880"/>
            <a:ext cx="5120640" cy="438912"/>
          </a:xfrm>
          <a:prstGeom prst="rect">
            <a:avLst/>
          </a:prstGeom>
          <a:solidFill>
            <a:srgbClr val="0D0B1A"/>
          </a:solidFill>
          <a:ln w="12700">
            <a:solidFill>
              <a:srgbClr val="2D1B55"/>
            </a:solidFill>
            <a:prstDash val="solid"/>
          </a:ln>
        </p:spPr>
        <p:txBody>
          <a:bodyPr/>
          <a:lstStyle/>
          <a:p>
            <a:endParaRPr lang="es-ES"/>
          </a:p>
        </p:txBody>
      </p:sp>
      <p:sp>
        <p:nvSpPr>
          <p:cNvPr id="12" name="Text 10"/>
          <p:cNvSpPr/>
          <p:nvPr/>
        </p:nvSpPr>
        <p:spPr>
          <a:xfrm>
            <a:off x="707136" y="3243072"/>
            <a:ext cx="4937760" cy="414528"/>
          </a:xfrm>
          <a:prstGeom prst="rect">
            <a:avLst/>
          </a:prstGeom>
          <a:noFill/>
          <a:ln/>
        </p:spPr>
        <p:txBody>
          <a:bodyPr wrap="square" lIns="0" tIns="0" rIns="0" bIns="0" rtlCol="0" anchor="ctr"/>
          <a:lstStyle/>
          <a:p>
            <a:r>
              <a:rPr lang="en-US" sz="1000" dirty="0">
                <a:solidFill>
                  <a:srgbClr val="6B7280"/>
                </a:solidFill>
                <a:latin typeface="Consolas" pitchFamily="34" charset="0"/>
                <a:ea typeface="Consolas" pitchFamily="34" charset="-122"/>
                <a:cs typeface="Consolas" pitchFamily="34" charset="-120"/>
              </a:rPr>
              <a:t>IF correo ya existe → ERROR</a:t>
            </a:r>
            <a:endParaRPr lang="en-US" sz="1000" dirty="0"/>
          </a:p>
          <a:p>
            <a:r>
              <a:rPr lang="en-US" sz="1000" dirty="0">
                <a:solidFill>
                  <a:srgbClr val="6B7280"/>
                </a:solidFill>
                <a:latin typeface="Consolas" pitchFamily="34" charset="0"/>
                <a:ea typeface="Consolas" pitchFamily="34" charset="-122"/>
                <a:cs typeface="Consolas" pitchFamily="34" charset="-120"/>
              </a:rPr>
              <a:t>INSERT INTO usuario(...)</a:t>
            </a:r>
            <a:endParaRPr lang="en-US" sz="1000" dirty="0"/>
          </a:p>
          <a:p>
            <a:r>
              <a:rPr lang="en-US" sz="1000" dirty="0">
                <a:solidFill>
                  <a:srgbClr val="6B7280"/>
                </a:solidFill>
                <a:latin typeface="Consolas" pitchFamily="34" charset="0"/>
                <a:ea typeface="Consolas" pitchFamily="34" charset="-122"/>
                <a:cs typeface="Consolas" pitchFamily="34" charset="-120"/>
              </a:rPr>
              <a:t>SELECT * WHERE id = LAST_INSERT_ID()</a:t>
            </a:r>
            <a:endParaRPr lang="en-US" sz="1000" dirty="0"/>
          </a:p>
        </p:txBody>
      </p:sp>
      <p:sp>
        <p:nvSpPr>
          <p:cNvPr id="13" name="Shape 11"/>
          <p:cNvSpPr/>
          <p:nvPr/>
        </p:nvSpPr>
        <p:spPr>
          <a:xfrm>
            <a:off x="609600" y="3779520"/>
            <a:ext cx="5120640" cy="316992"/>
          </a:xfrm>
          <a:prstGeom prst="rect">
            <a:avLst/>
          </a:prstGeom>
          <a:solidFill>
            <a:srgbClr val="160830"/>
          </a:solidFill>
          <a:ln w="12700">
            <a:solidFill>
              <a:srgbClr val="A855F7"/>
            </a:solidFill>
            <a:prstDash val="solid"/>
          </a:ln>
        </p:spPr>
        <p:txBody>
          <a:bodyPr/>
          <a:lstStyle/>
          <a:p>
            <a:endParaRPr lang="es-ES"/>
          </a:p>
        </p:txBody>
      </p:sp>
      <p:sp>
        <p:nvSpPr>
          <p:cNvPr id="14" name="Text 12"/>
          <p:cNvSpPr/>
          <p:nvPr/>
        </p:nvSpPr>
        <p:spPr>
          <a:xfrm>
            <a:off x="707136" y="3779520"/>
            <a:ext cx="4937760" cy="316992"/>
          </a:xfrm>
          <a:prstGeom prst="rect">
            <a:avLst/>
          </a:prstGeom>
          <a:noFill/>
          <a:ln/>
        </p:spPr>
        <p:txBody>
          <a:bodyPr wrap="square" lIns="0" tIns="0" rIns="0" bIns="0" rtlCol="0" anchor="ctr"/>
          <a:lstStyle/>
          <a:p>
            <a:r>
              <a:rPr lang="en-US" sz="1133" b="1" dirty="0">
                <a:solidFill>
                  <a:srgbClr val="A855F7"/>
                </a:solidFill>
                <a:latin typeface="Consolas" pitchFamily="34" charset="0"/>
                <a:ea typeface="Consolas" pitchFamily="34" charset="-122"/>
                <a:cs typeface="Consolas" pitchFamily="34" charset="-120"/>
              </a:rPr>
              <a:t>BorrarUsuario(id_usuario)</a:t>
            </a:r>
            <a:endParaRPr lang="en-US" sz="1133" dirty="0"/>
          </a:p>
        </p:txBody>
      </p:sp>
      <p:sp>
        <p:nvSpPr>
          <p:cNvPr id="15" name="Text 13"/>
          <p:cNvSpPr/>
          <p:nvPr/>
        </p:nvSpPr>
        <p:spPr>
          <a:xfrm>
            <a:off x="609600" y="4120896"/>
            <a:ext cx="5120640" cy="512064"/>
          </a:xfrm>
          <a:prstGeom prst="rect">
            <a:avLst/>
          </a:prstGeom>
          <a:noFill/>
          <a:ln/>
        </p:spPr>
        <p:txBody>
          <a:bodyPr wrap="square" lIns="0" tIns="0" rIns="0" bIns="0" rtlCol="0" anchor="ctr"/>
          <a:lstStyle/>
          <a:p>
            <a:r>
              <a:rPr lang="en-US" sz="1333" dirty="0">
                <a:solidFill>
                  <a:srgbClr val="C4B5D8"/>
                </a:solidFill>
                <a:latin typeface="Calibri" pitchFamily="34" charset="0"/>
                <a:ea typeface="Calibri" pitchFamily="34" charset="-122"/>
                <a:cs typeface="Calibri" pitchFamily="34" charset="-120"/>
              </a:rPr>
              <a:t>Comprueba que el usuario exista antes de borrarlo. Si no existe lanza un error personalizado.</a:t>
            </a:r>
            <a:endParaRPr lang="en-US" sz="1333" dirty="0"/>
          </a:p>
        </p:txBody>
      </p:sp>
      <p:sp>
        <p:nvSpPr>
          <p:cNvPr id="16" name="Shape 14"/>
          <p:cNvSpPr/>
          <p:nvPr/>
        </p:nvSpPr>
        <p:spPr>
          <a:xfrm>
            <a:off x="609600" y="4657344"/>
            <a:ext cx="5120640" cy="438912"/>
          </a:xfrm>
          <a:prstGeom prst="rect">
            <a:avLst/>
          </a:prstGeom>
          <a:solidFill>
            <a:srgbClr val="0D0B1A"/>
          </a:solidFill>
          <a:ln w="12700">
            <a:solidFill>
              <a:srgbClr val="2D1B55"/>
            </a:solidFill>
            <a:prstDash val="solid"/>
          </a:ln>
        </p:spPr>
        <p:txBody>
          <a:bodyPr/>
          <a:lstStyle/>
          <a:p>
            <a:endParaRPr lang="es-ES"/>
          </a:p>
        </p:txBody>
      </p:sp>
      <p:sp>
        <p:nvSpPr>
          <p:cNvPr id="17" name="Text 15"/>
          <p:cNvSpPr/>
          <p:nvPr/>
        </p:nvSpPr>
        <p:spPr>
          <a:xfrm>
            <a:off x="707136" y="4669536"/>
            <a:ext cx="4937760" cy="414528"/>
          </a:xfrm>
          <a:prstGeom prst="rect">
            <a:avLst/>
          </a:prstGeom>
          <a:noFill/>
          <a:ln/>
        </p:spPr>
        <p:txBody>
          <a:bodyPr wrap="square" lIns="0" tIns="0" rIns="0" bIns="0" rtlCol="0" anchor="ctr"/>
          <a:lstStyle/>
          <a:p>
            <a:r>
              <a:rPr lang="en-US" sz="1000" dirty="0">
                <a:solidFill>
                  <a:srgbClr val="6B7280"/>
                </a:solidFill>
                <a:latin typeface="Consolas" pitchFamily="34" charset="0"/>
                <a:ea typeface="Consolas" pitchFamily="34" charset="-122"/>
                <a:cs typeface="Consolas" pitchFamily="34" charset="-120"/>
              </a:rPr>
              <a:t>IF NOT EXISTS → SIGNAL SQLSTATE</a:t>
            </a:r>
            <a:endParaRPr lang="en-US" sz="1000" dirty="0"/>
          </a:p>
          <a:p>
            <a:r>
              <a:rPr lang="en-US" sz="1000" dirty="0">
                <a:solidFill>
                  <a:srgbClr val="6B7280"/>
                </a:solidFill>
                <a:latin typeface="Consolas" pitchFamily="34" charset="0"/>
                <a:ea typeface="Consolas" pitchFamily="34" charset="-122"/>
                <a:cs typeface="Consolas" pitchFamily="34" charset="-120"/>
              </a:rPr>
              <a:t>DELETE FROM usuario WHERE id = p_id</a:t>
            </a:r>
            <a:endParaRPr lang="en-US" sz="1000" dirty="0"/>
          </a:p>
        </p:txBody>
      </p:sp>
      <p:sp>
        <p:nvSpPr>
          <p:cNvPr id="18" name="Shape 16"/>
          <p:cNvSpPr/>
          <p:nvPr/>
        </p:nvSpPr>
        <p:spPr>
          <a:xfrm>
            <a:off x="609600" y="5205984"/>
            <a:ext cx="5120640" cy="316992"/>
          </a:xfrm>
          <a:prstGeom prst="rect">
            <a:avLst/>
          </a:prstGeom>
          <a:solidFill>
            <a:srgbClr val="160830"/>
          </a:solidFill>
          <a:ln w="12700">
            <a:solidFill>
              <a:srgbClr val="A855F7"/>
            </a:solidFill>
            <a:prstDash val="solid"/>
          </a:ln>
        </p:spPr>
        <p:txBody>
          <a:bodyPr/>
          <a:lstStyle/>
          <a:p>
            <a:endParaRPr lang="es-ES"/>
          </a:p>
        </p:txBody>
      </p:sp>
      <p:sp>
        <p:nvSpPr>
          <p:cNvPr id="19" name="Text 17"/>
          <p:cNvSpPr/>
          <p:nvPr/>
        </p:nvSpPr>
        <p:spPr>
          <a:xfrm>
            <a:off x="707136" y="5205984"/>
            <a:ext cx="4937760" cy="316992"/>
          </a:xfrm>
          <a:prstGeom prst="rect">
            <a:avLst/>
          </a:prstGeom>
          <a:noFill/>
          <a:ln/>
        </p:spPr>
        <p:txBody>
          <a:bodyPr wrap="square" lIns="0" tIns="0" rIns="0" bIns="0" rtlCol="0" anchor="ctr"/>
          <a:lstStyle/>
          <a:p>
            <a:r>
              <a:rPr lang="en-US" sz="1133" b="1" dirty="0">
                <a:solidFill>
                  <a:srgbClr val="A855F7"/>
                </a:solidFill>
                <a:latin typeface="Consolas" pitchFamily="34" charset="0"/>
                <a:ea typeface="Consolas" pitchFamily="34" charset="-122"/>
                <a:cs typeface="Consolas" pitchFamily="34" charset="-120"/>
              </a:rPr>
              <a:t>ObtenerMatches(id_usuario)</a:t>
            </a:r>
            <a:endParaRPr lang="en-US" sz="1133" dirty="0"/>
          </a:p>
        </p:txBody>
      </p:sp>
      <p:sp>
        <p:nvSpPr>
          <p:cNvPr id="20" name="Text 18"/>
          <p:cNvSpPr/>
          <p:nvPr/>
        </p:nvSpPr>
        <p:spPr>
          <a:xfrm>
            <a:off x="609600" y="5547360"/>
            <a:ext cx="5120640" cy="512064"/>
          </a:xfrm>
          <a:prstGeom prst="rect">
            <a:avLst/>
          </a:prstGeom>
          <a:noFill/>
          <a:ln/>
        </p:spPr>
        <p:txBody>
          <a:bodyPr wrap="square" lIns="0" tIns="0" rIns="0" bIns="0" rtlCol="0" anchor="ctr"/>
          <a:lstStyle/>
          <a:p>
            <a:r>
              <a:rPr lang="en-US" sz="1333" dirty="0">
                <a:solidFill>
                  <a:srgbClr val="C4B5D8"/>
                </a:solidFill>
                <a:latin typeface="Calibri" pitchFamily="34" charset="0"/>
                <a:ea typeface="Calibri" pitchFamily="34" charset="-122"/>
                <a:cs typeface="Calibri" pitchFamily="34" charset="-120"/>
              </a:rPr>
              <a:t>Devuelve todos los matches de un usuario con los datos completos del otro dev (nombre, correo, bio, tecnologías comunes).</a:t>
            </a:r>
            <a:endParaRPr lang="en-US" sz="1333" dirty="0"/>
          </a:p>
        </p:txBody>
      </p:sp>
      <p:sp>
        <p:nvSpPr>
          <p:cNvPr id="21" name="Shape 19"/>
          <p:cNvSpPr/>
          <p:nvPr/>
        </p:nvSpPr>
        <p:spPr>
          <a:xfrm>
            <a:off x="609600" y="6083808"/>
            <a:ext cx="5120640" cy="438912"/>
          </a:xfrm>
          <a:prstGeom prst="rect">
            <a:avLst/>
          </a:prstGeom>
          <a:solidFill>
            <a:srgbClr val="0D0B1A"/>
          </a:solidFill>
          <a:ln w="12700">
            <a:solidFill>
              <a:srgbClr val="2D1B55"/>
            </a:solidFill>
            <a:prstDash val="solid"/>
          </a:ln>
        </p:spPr>
        <p:txBody>
          <a:bodyPr/>
          <a:lstStyle/>
          <a:p>
            <a:endParaRPr lang="es-ES"/>
          </a:p>
        </p:txBody>
      </p:sp>
      <p:sp>
        <p:nvSpPr>
          <p:cNvPr id="22" name="Text 20"/>
          <p:cNvSpPr/>
          <p:nvPr/>
        </p:nvSpPr>
        <p:spPr>
          <a:xfrm>
            <a:off x="707136" y="6096000"/>
            <a:ext cx="4937760" cy="414528"/>
          </a:xfrm>
          <a:prstGeom prst="rect">
            <a:avLst/>
          </a:prstGeom>
          <a:noFill/>
          <a:ln/>
        </p:spPr>
        <p:txBody>
          <a:bodyPr wrap="square" lIns="0" tIns="0" rIns="0" bIns="0" rtlCol="0" anchor="ctr"/>
          <a:lstStyle/>
          <a:p>
            <a:r>
              <a:rPr lang="en-US" sz="1000" dirty="0">
                <a:solidFill>
                  <a:srgbClr val="6B7280"/>
                </a:solidFill>
                <a:latin typeface="Consolas" pitchFamily="34" charset="0"/>
                <a:ea typeface="Consolas" pitchFamily="34" charset="-122"/>
                <a:cs typeface="Consolas" pitchFamily="34" charset="-120"/>
              </a:rPr>
              <a:t>SELECT u.nombre, tecnologias_comunes</a:t>
            </a:r>
            <a:endParaRPr lang="en-US" sz="1000" dirty="0"/>
          </a:p>
          <a:p>
            <a:r>
              <a:rPr lang="en-US" sz="1000" dirty="0">
                <a:solidFill>
                  <a:srgbClr val="6B7280"/>
                </a:solidFill>
                <a:latin typeface="Consolas" pitchFamily="34" charset="0"/>
                <a:ea typeface="Consolas" pitchFamily="34" charset="-122"/>
                <a:cs typeface="Consolas" pitchFamily="34" charset="-120"/>
              </a:rPr>
              <a:t>FROM Matches JOIN usuario...</a:t>
            </a:r>
            <a:endParaRPr lang="en-US" sz="1000" dirty="0"/>
          </a:p>
          <a:p>
            <a:r>
              <a:rPr lang="en-US" sz="1000" dirty="0">
                <a:solidFill>
                  <a:srgbClr val="6B7280"/>
                </a:solidFill>
                <a:latin typeface="Consolas" pitchFamily="34" charset="0"/>
                <a:ea typeface="Consolas" pitchFamily="34" charset="-122"/>
                <a:cs typeface="Consolas" pitchFamily="34" charset="-120"/>
              </a:rPr>
              <a:t>WHERE id_usuario1=? OR id_usuario2=?</a:t>
            </a:r>
            <a:endParaRPr lang="en-US" sz="1000" dirty="0"/>
          </a:p>
        </p:txBody>
      </p:sp>
      <p:sp>
        <p:nvSpPr>
          <p:cNvPr id="23" name="Shape 21"/>
          <p:cNvSpPr/>
          <p:nvPr/>
        </p:nvSpPr>
        <p:spPr>
          <a:xfrm>
            <a:off x="6217920" y="914400"/>
            <a:ext cx="5547360" cy="579120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a:p>
        </p:txBody>
      </p:sp>
      <p:sp>
        <p:nvSpPr>
          <p:cNvPr id="24" name="Shape 22"/>
          <p:cNvSpPr/>
          <p:nvPr/>
        </p:nvSpPr>
        <p:spPr>
          <a:xfrm>
            <a:off x="6217920" y="914400"/>
            <a:ext cx="5547360" cy="463296"/>
          </a:xfrm>
          <a:prstGeom prst="rect">
            <a:avLst/>
          </a:prstGeom>
          <a:solidFill>
            <a:srgbClr val="F59E0B"/>
          </a:solidFill>
          <a:ln w="12700">
            <a:solidFill>
              <a:srgbClr val="F59E0B"/>
            </a:solidFill>
            <a:prstDash val="solid"/>
          </a:ln>
        </p:spPr>
        <p:txBody>
          <a:bodyPr/>
          <a:lstStyle/>
          <a:p>
            <a:endParaRPr lang="es-ES"/>
          </a:p>
        </p:txBody>
      </p:sp>
      <p:sp>
        <p:nvSpPr>
          <p:cNvPr id="25" name="Text 23"/>
          <p:cNvSpPr/>
          <p:nvPr/>
        </p:nvSpPr>
        <p:spPr>
          <a:xfrm>
            <a:off x="6400800" y="914400"/>
            <a:ext cx="5181600" cy="463296"/>
          </a:xfrm>
          <a:prstGeom prst="rect">
            <a:avLst/>
          </a:prstGeom>
          <a:noFill/>
          <a:ln/>
        </p:spPr>
        <p:txBody>
          <a:bodyPr wrap="square" lIns="0" tIns="0" rIns="0" bIns="0" rtlCol="0" anchor="ctr"/>
          <a:lstStyle/>
          <a:p>
            <a:r>
              <a:rPr lang="en-US" sz="1600" b="1" dirty="0">
                <a:solidFill>
                  <a:srgbClr val="FFFFFF"/>
                </a:solidFill>
              </a:rPr>
              <a:t>⚡  Trigger: after_like_insert</a:t>
            </a:r>
            <a:endParaRPr lang="en-US" sz="1600" dirty="0"/>
          </a:p>
        </p:txBody>
      </p:sp>
      <p:sp>
        <p:nvSpPr>
          <p:cNvPr id="26" name="Text 24"/>
          <p:cNvSpPr/>
          <p:nvPr/>
        </p:nvSpPr>
        <p:spPr>
          <a:xfrm>
            <a:off x="6400800" y="1463040"/>
            <a:ext cx="5120640" cy="792480"/>
          </a:xfrm>
          <a:prstGeom prst="rect">
            <a:avLst/>
          </a:prstGeom>
          <a:noFill/>
          <a:ln/>
        </p:spPr>
        <p:txBody>
          <a:bodyPr wrap="square" lIns="0" tIns="0" rIns="0" bIns="0" rtlCol="0" anchor="ctr"/>
          <a:lstStyle/>
          <a:p>
            <a:r>
              <a:rPr lang="en-US" sz="1400" dirty="0">
                <a:solidFill>
                  <a:srgbClr val="C4B5D8"/>
                </a:solidFill>
                <a:latin typeface="Calibri" pitchFamily="34" charset="0"/>
                <a:ea typeface="Calibri" pitchFamily="34" charset="-122"/>
                <a:cs typeface="Calibri" pitchFamily="34" charset="-120"/>
              </a:rPr>
              <a:t>Cada vez que alguien da like, comprueba si el otro usuario ya le había dado like antes. Si es así, crea el match automáticamente en la tabla Matches, sin que Java tenga que hacer nada.</a:t>
            </a:r>
            <a:endParaRPr lang="en-US" sz="1400" dirty="0"/>
          </a:p>
        </p:txBody>
      </p:sp>
      <p:sp>
        <p:nvSpPr>
          <p:cNvPr id="27" name="Shape 25"/>
          <p:cNvSpPr/>
          <p:nvPr/>
        </p:nvSpPr>
        <p:spPr>
          <a:xfrm>
            <a:off x="6278880" y="2316480"/>
            <a:ext cx="5364480" cy="390144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a:p>
        </p:txBody>
      </p:sp>
      <p:sp>
        <p:nvSpPr>
          <p:cNvPr id="28" name="Shape 26"/>
          <p:cNvSpPr/>
          <p:nvPr/>
        </p:nvSpPr>
        <p:spPr>
          <a:xfrm>
            <a:off x="6278880" y="2316480"/>
            <a:ext cx="5364480" cy="365760"/>
          </a:xfrm>
          <a:prstGeom prst="rect">
            <a:avLst/>
          </a:prstGeom>
          <a:solidFill>
            <a:srgbClr val="0E1525"/>
          </a:solidFill>
          <a:ln w="12700">
            <a:solidFill>
              <a:srgbClr val="F59E0B"/>
            </a:solidFill>
            <a:prstDash val="solid"/>
          </a:ln>
        </p:spPr>
        <p:txBody>
          <a:bodyPr/>
          <a:lstStyle/>
          <a:p>
            <a:endParaRPr lang="es-ES"/>
          </a:p>
        </p:txBody>
      </p:sp>
      <p:sp>
        <p:nvSpPr>
          <p:cNvPr id="29" name="Text 27"/>
          <p:cNvSpPr/>
          <p:nvPr/>
        </p:nvSpPr>
        <p:spPr>
          <a:xfrm>
            <a:off x="6400800" y="2316480"/>
            <a:ext cx="5120640" cy="365760"/>
          </a:xfrm>
          <a:prstGeom prst="rect">
            <a:avLst/>
          </a:prstGeom>
          <a:noFill/>
          <a:ln/>
        </p:spPr>
        <p:txBody>
          <a:bodyPr wrap="square" lIns="0" tIns="0" rIns="0" bIns="0" rtlCol="0" anchor="ctr"/>
          <a:lstStyle/>
          <a:p>
            <a:r>
              <a:rPr lang="en-US" sz="1133" dirty="0">
                <a:solidFill>
                  <a:srgbClr val="F59E0B"/>
                </a:solidFill>
                <a:latin typeface="Consolas" pitchFamily="34" charset="0"/>
                <a:ea typeface="Consolas" pitchFamily="34" charset="-122"/>
                <a:cs typeface="Consolas" pitchFamily="34" charset="-120"/>
              </a:rPr>
              <a:t>after_like_insert  (SQL)</a:t>
            </a:r>
            <a:endParaRPr lang="en-US" sz="1133" dirty="0"/>
          </a:p>
        </p:txBody>
      </p:sp>
      <p:sp>
        <p:nvSpPr>
          <p:cNvPr id="30" name="Text 28"/>
          <p:cNvSpPr/>
          <p:nvPr/>
        </p:nvSpPr>
        <p:spPr>
          <a:xfrm>
            <a:off x="6364224" y="2718816"/>
            <a:ext cx="5181600" cy="195072"/>
          </a:xfrm>
          <a:prstGeom prst="rect">
            <a:avLst/>
          </a:prstGeom>
          <a:noFill/>
          <a:ln/>
        </p:spPr>
        <p:txBody>
          <a:bodyPr wrap="square" lIns="0" tIns="0" rIns="0" bIns="0" rtlCol="0" anchor="ctr"/>
          <a:lstStyle/>
          <a:p>
            <a:r>
              <a:rPr lang="en-US" sz="1040" dirty="0">
                <a:solidFill>
                  <a:srgbClr val="F59E0B"/>
                </a:solidFill>
                <a:latin typeface="Consolas" pitchFamily="34" charset="0"/>
                <a:ea typeface="Consolas" pitchFamily="34" charset="-122"/>
                <a:cs typeface="Consolas" pitchFamily="34" charset="-120"/>
              </a:rPr>
              <a:t>AFTER INSERT ON Likes</a:t>
            </a:r>
            <a:endParaRPr lang="en-US" sz="1040" dirty="0"/>
          </a:p>
        </p:txBody>
      </p:sp>
      <p:sp>
        <p:nvSpPr>
          <p:cNvPr id="31" name="Text 29"/>
          <p:cNvSpPr/>
          <p:nvPr/>
        </p:nvSpPr>
        <p:spPr>
          <a:xfrm>
            <a:off x="6364224" y="2913888"/>
            <a:ext cx="5181600" cy="195072"/>
          </a:xfrm>
          <a:prstGeom prst="rect">
            <a:avLst/>
          </a:prstGeom>
          <a:noFill/>
          <a:ln/>
        </p:spPr>
        <p:txBody>
          <a:bodyPr wrap="square" lIns="0" tIns="0" rIns="0" bIns="0" rtlCol="0" anchor="ctr"/>
          <a:lstStyle/>
          <a:p>
            <a:r>
              <a:rPr lang="en-US" sz="1040" dirty="0">
                <a:solidFill>
                  <a:srgbClr val="F5F0FF"/>
                </a:solidFill>
                <a:latin typeface="Consolas" pitchFamily="34" charset="0"/>
                <a:ea typeface="Consolas" pitchFamily="34" charset="-122"/>
                <a:cs typeface="Consolas" pitchFamily="34" charset="-120"/>
              </a:rPr>
              <a:t>FOR EACH ROW BEGIN</a:t>
            </a:r>
            <a:endParaRPr lang="en-US" sz="1040" dirty="0"/>
          </a:p>
        </p:txBody>
      </p:sp>
      <p:sp>
        <p:nvSpPr>
          <p:cNvPr id="32" name="Text 30"/>
          <p:cNvSpPr/>
          <p:nvPr/>
        </p:nvSpPr>
        <p:spPr>
          <a:xfrm>
            <a:off x="6364224" y="3304032"/>
            <a:ext cx="5181600" cy="195072"/>
          </a:xfrm>
          <a:prstGeom prst="rect">
            <a:avLst/>
          </a:prstGeom>
          <a:noFill/>
          <a:ln/>
        </p:spPr>
        <p:txBody>
          <a:bodyPr wrap="square" lIns="0" tIns="0" rIns="0" bIns="0" rtlCol="0" anchor="ctr"/>
          <a:lstStyle/>
          <a:p>
            <a:r>
              <a:rPr lang="en-US" sz="1040" dirty="0">
                <a:solidFill>
                  <a:srgbClr val="6B7280"/>
                </a:solidFill>
                <a:latin typeface="Consolas" pitchFamily="34" charset="0"/>
                <a:ea typeface="Consolas" pitchFamily="34" charset="-122"/>
                <a:cs typeface="Consolas" pitchFamily="34" charset="-120"/>
              </a:rPr>
              <a:t>  -- ¿El receptor ya nos dio like?</a:t>
            </a:r>
            <a:endParaRPr lang="en-US" sz="1040" dirty="0"/>
          </a:p>
        </p:txBody>
      </p:sp>
      <p:sp>
        <p:nvSpPr>
          <p:cNvPr id="33" name="Text 31"/>
          <p:cNvSpPr/>
          <p:nvPr/>
        </p:nvSpPr>
        <p:spPr>
          <a:xfrm>
            <a:off x="6364224" y="3499104"/>
            <a:ext cx="5181600" cy="195072"/>
          </a:xfrm>
          <a:prstGeom prst="rect">
            <a:avLst/>
          </a:prstGeom>
          <a:noFill/>
          <a:ln/>
        </p:spPr>
        <p:txBody>
          <a:bodyPr wrap="square" lIns="0" tIns="0" rIns="0" bIns="0" rtlCol="0" anchor="ctr"/>
          <a:lstStyle/>
          <a:p>
            <a:r>
              <a:rPr lang="en-US" sz="1040" dirty="0">
                <a:solidFill>
                  <a:srgbClr val="C4B5D8"/>
                </a:solidFill>
                <a:latin typeface="Consolas" pitchFamily="34" charset="0"/>
                <a:ea typeface="Consolas" pitchFamily="34" charset="-122"/>
                <a:cs typeface="Consolas" pitchFamily="34" charset="-120"/>
              </a:rPr>
              <a:t>  IF EXISTS (SELECT 1 FROM Likes</a:t>
            </a:r>
            <a:endParaRPr lang="en-US" sz="1040" dirty="0"/>
          </a:p>
        </p:txBody>
      </p:sp>
      <p:sp>
        <p:nvSpPr>
          <p:cNvPr id="34" name="Text 32"/>
          <p:cNvSpPr/>
          <p:nvPr/>
        </p:nvSpPr>
        <p:spPr>
          <a:xfrm>
            <a:off x="6364224" y="3694176"/>
            <a:ext cx="5181600" cy="195072"/>
          </a:xfrm>
          <a:prstGeom prst="rect">
            <a:avLst/>
          </a:prstGeom>
          <a:noFill/>
          <a:ln/>
        </p:spPr>
        <p:txBody>
          <a:bodyPr wrap="square" lIns="0" tIns="0" rIns="0" bIns="0" rtlCol="0" anchor="ctr"/>
          <a:lstStyle/>
          <a:p>
            <a:r>
              <a:rPr lang="en-US" sz="1040" dirty="0">
                <a:solidFill>
                  <a:srgbClr val="C4B5D8"/>
                </a:solidFill>
                <a:latin typeface="Consolas" pitchFamily="34" charset="0"/>
                <a:ea typeface="Consolas" pitchFamily="34" charset="-122"/>
                <a:cs typeface="Consolas" pitchFamily="34" charset="-120"/>
              </a:rPr>
              <a:t>    WHERE id_emisor  = NEW.id_receptor</a:t>
            </a:r>
            <a:endParaRPr lang="en-US" sz="1040" dirty="0"/>
          </a:p>
        </p:txBody>
      </p:sp>
      <p:sp>
        <p:nvSpPr>
          <p:cNvPr id="35" name="Text 33"/>
          <p:cNvSpPr/>
          <p:nvPr/>
        </p:nvSpPr>
        <p:spPr>
          <a:xfrm>
            <a:off x="6364224" y="3889248"/>
            <a:ext cx="5181600" cy="195072"/>
          </a:xfrm>
          <a:prstGeom prst="rect">
            <a:avLst/>
          </a:prstGeom>
          <a:noFill/>
          <a:ln/>
        </p:spPr>
        <p:txBody>
          <a:bodyPr wrap="square" lIns="0" tIns="0" rIns="0" bIns="0" rtlCol="0" anchor="ctr"/>
          <a:lstStyle/>
          <a:p>
            <a:r>
              <a:rPr lang="en-US" sz="1040" dirty="0">
                <a:solidFill>
                  <a:srgbClr val="C4B5D8"/>
                </a:solidFill>
                <a:latin typeface="Consolas" pitchFamily="34" charset="0"/>
                <a:ea typeface="Consolas" pitchFamily="34" charset="-122"/>
                <a:cs typeface="Consolas" pitchFamily="34" charset="-120"/>
              </a:rPr>
              <a:t>    AND   id_receptor = NEW.id_emisor)</a:t>
            </a:r>
            <a:endParaRPr lang="en-US" sz="1040" dirty="0"/>
          </a:p>
        </p:txBody>
      </p:sp>
      <p:sp>
        <p:nvSpPr>
          <p:cNvPr id="36" name="Text 34"/>
          <p:cNvSpPr/>
          <p:nvPr/>
        </p:nvSpPr>
        <p:spPr>
          <a:xfrm>
            <a:off x="6364224" y="4084320"/>
            <a:ext cx="5181600" cy="195072"/>
          </a:xfrm>
          <a:prstGeom prst="rect">
            <a:avLst/>
          </a:prstGeom>
          <a:noFill/>
          <a:ln/>
        </p:spPr>
        <p:txBody>
          <a:bodyPr wrap="square" lIns="0" tIns="0" rIns="0" bIns="0" rtlCol="0" anchor="ctr"/>
          <a:lstStyle/>
          <a:p>
            <a:r>
              <a:rPr lang="en-US" sz="1040" dirty="0">
                <a:solidFill>
                  <a:srgbClr val="F5F0FF"/>
                </a:solidFill>
                <a:latin typeface="Consolas" pitchFamily="34" charset="0"/>
                <a:ea typeface="Consolas" pitchFamily="34" charset="-122"/>
                <a:cs typeface="Consolas" pitchFamily="34" charset="-120"/>
              </a:rPr>
              <a:t>  THEN</a:t>
            </a:r>
            <a:endParaRPr lang="en-US" sz="1040" dirty="0"/>
          </a:p>
        </p:txBody>
      </p:sp>
      <p:sp>
        <p:nvSpPr>
          <p:cNvPr id="37" name="Text 35"/>
          <p:cNvSpPr/>
          <p:nvPr/>
        </p:nvSpPr>
        <p:spPr>
          <a:xfrm>
            <a:off x="6364224" y="4279392"/>
            <a:ext cx="5181600" cy="195072"/>
          </a:xfrm>
          <a:prstGeom prst="rect">
            <a:avLst/>
          </a:prstGeom>
          <a:noFill/>
          <a:ln/>
        </p:spPr>
        <p:txBody>
          <a:bodyPr wrap="square" lIns="0" tIns="0" rIns="0" bIns="0" rtlCol="0" anchor="ctr"/>
          <a:lstStyle/>
          <a:p>
            <a:r>
              <a:rPr lang="en-US" sz="1040" dirty="0">
                <a:solidFill>
                  <a:srgbClr val="6B7280"/>
                </a:solidFill>
                <a:latin typeface="Consolas" pitchFamily="34" charset="0"/>
                <a:ea typeface="Consolas" pitchFamily="34" charset="-122"/>
                <a:cs typeface="Consolas" pitchFamily="34" charset="-120"/>
              </a:rPr>
              <a:t>    -- Evita duplicados en Matches</a:t>
            </a:r>
            <a:endParaRPr lang="en-US" sz="1040" dirty="0"/>
          </a:p>
        </p:txBody>
      </p:sp>
      <p:sp>
        <p:nvSpPr>
          <p:cNvPr id="38" name="Text 36"/>
          <p:cNvSpPr/>
          <p:nvPr/>
        </p:nvSpPr>
        <p:spPr>
          <a:xfrm>
            <a:off x="6364224" y="4474464"/>
            <a:ext cx="5181600" cy="195072"/>
          </a:xfrm>
          <a:prstGeom prst="rect">
            <a:avLst/>
          </a:prstGeom>
          <a:noFill/>
          <a:ln/>
        </p:spPr>
        <p:txBody>
          <a:bodyPr wrap="square" lIns="0" tIns="0" rIns="0" bIns="0" rtlCol="0" anchor="ctr"/>
          <a:lstStyle/>
          <a:p>
            <a:r>
              <a:rPr lang="en-US" sz="1040" dirty="0">
                <a:solidFill>
                  <a:srgbClr val="C4B5D8"/>
                </a:solidFill>
                <a:latin typeface="Consolas" pitchFamily="34" charset="0"/>
                <a:ea typeface="Consolas" pitchFamily="34" charset="-122"/>
                <a:cs typeface="Consolas" pitchFamily="34" charset="-120"/>
              </a:rPr>
              <a:t>    IF NOT EXISTS (SELECT 1 FROM Matches</a:t>
            </a:r>
            <a:endParaRPr lang="en-US" sz="1040" dirty="0"/>
          </a:p>
        </p:txBody>
      </p:sp>
      <p:sp>
        <p:nvSpPr>
          <p:cNvPr id="39" name="Text 37"/>
          <p:cNvSpPr/>
          <p:nvPr/>
        </p:nvSpPr>
        <p:spPr>
          <a:xfrm>
            <a:off x="6364224" y="4669536"/>
            <a:ext cx="5181600" cy="195072"/>
          </a:xfrm>
          <a:prstGeom prst="rect">
            <a:avLst/>
          </a:prstGeom>
          <a:noFill/>
          <a:ln/>
        </p:spPr>
        <p:txBody>
          <a:bodyPr wrap="square" lIns="0" tIns="0" rIns="0" bIns="0" rtlCol="0" anchor="ctr"/>
          <a:lstStyle/>
          <a:p>
            <a:r>
              <a:rPr lang="en-US" sz="1040" dirty="0">
                <a:solidFill>
                  <a:srgbClr val="C4B5D8"/>
                </a:solidFill>
                <a:latin typeface="Consolas" pitchFamily="34" charset="0"/>
                <a:ea typeface="Consolas" pitchFamily="34" charset="-122"/>
                <a:cs typeface="Consolas" pitchFamily="34" charset="-120"/>
              </a:rPr>
              <a:t>      WHERE id_u1=LEAST(e,r)</a:t>
            </a:r>
            <a:endParaRPr lang="en-US" sz="1040" dirty="0"/>
          </a:p>
        </p:txBody>
      </p:sp>
      <p:sp>
        <p:nvSpPr>
          <p:cNvPr id="40" name="Text 38"/>
          <p:cNvSpPr/>
          <p:nvPr/>
        </p:nvSpPr>
        <p:spPr>
          <a:xfrm>
            <a:off x="6364224" y="4864608"/>
            <a:ext cx="5181600" cy="195072"/>
          </a:xfrm>
          <a:prstGeom prst="rect">
            <a:avLst/>
          </a:prstGeom>
          <a:noFill/>
          <a:ln/>
        </p:spPr>
        <p:txBody>
          <a:bodyPr wrap="square" lIns="0" tIns="0" rIns="0" bIns="0" rtlCol="0" anchor="ctr"/>
          <a:lstStyle/>
          <a:p>
            <a:r>
              <a:rPr lang="en-US" sz="1040" dirty="0">
                <a:solidFill>
                  <a:srgbClr val="C4B5D8"/>
                </a:solidFill>
                <a:latin typeface="Consolas" pitchFamily="34" charset="0"/>
                <a:ea typeface="Consolas" pitchFamily="34" charset="-122"/>
                <a:cs typeface="Consolas" pitchFamily="34" charset="-120"/>
              </a:rPr>
              <a:t>      AND   id_u2=GREATEST(e,r))</a:t>
            </a:r>
            <a:endParaRPr lang="en-US" sz="1040" dirty="0"/>
          </a:p>
        </p:txBody>
      </p:sp>
      <p:sp>
        <p:nvSpPr>
          <p:cNvPr id="41" name="Text 39"/>
          <p:cNvSpPr/>
          <p:nvPr/>
        </p:nvSpPr>
        <p:spPr>
          <a:xfrm>
            <a:off x="6364224" y="5059680"/>
            <a:ext cx="5181600" cy="195072"/>
          </a:xfrm>
          <a:prstGeom prst="rect">
            <a:avLst/>
          </a:prstGeom>
          <a:noFill/>
          <a:ln/>
        </p:spPr>
        <p:txBody>
          <a:bodyPr wrap="square" lIns="0" tIns="0" rIns="0" bIns="0" rtlCol="0" anchor="ctr"/>
          <a:lstStyle/>
          <a:p>
            <a:r>
              <a:rPr lang="en-US" sz="1040" dirty="0">
                <a:solidFill>
                  <a:srgbClr val="F5F0FF"/>
                </a:solidFill>
                <a:latin typeface="Consolas" pitchFamily="34" charset="0"/>
                <a:ea typeface="Consolas" pitchFamily="34" charset="-122"/>
                <a:cs typeface="Consolas" pitchFamily="34" charset="-120"/>
              </a:rPr>
              <a:t>    THEN</a:t>
            </a:r>
            <a:endParaRPr lang="en-US" sz="1040" dirty="0"/>
          </a:p>
        </p:txBody>
      </p:sp>
      <p:sp>
        <p:nvSpPr>
          <p:cNvPr id="42" name="Text 40"/>
          <p:cNvSpPr/>
          <p:nvPr/>
        </p:nvSpPr>
        <p:spPr>
          <a:xfrm>
            <a:off x="6364224" y="5254752"/>
            <a:ext cx="5181600" cy="195072"/>
          </a:xfrm>
          <a:prstGeom prst="rect">
            <a:avLst/>
          </a:prstGeom>
          <a:noFill/>
          <a:ln/>
        </p:spPr>
        <p:txBody>
          <a:bodyPr wrap="square" lIns="0" tIns="0" rIns="0" bIns="0" rtlCol="0" anchor="ctr"/>
          <a:lstStyle/>
          <a:p>
            <a:r>
              <a:rPr lang="en-US" sz="1040" dirty="0">
                <a:solidFill>
                  <a:srgbClr val="4ADE80"/>
                </a:solidFill>
                <a:latin typeface="Consolas" pitchFamily="34" charset="0"/>
                <a:ea typeface="Consolas" pitchFamily="34" charset="-122"/>
                <a:cs typeface="Consolas" pitchFamily="34" charset="-120"/>
              </a:rPr>
              <a:t>      INSERT INTO Matches(...)</a:t>
            </a:r>
            <a:endParaRPr lang="en-US" sz="1040" dirty="0"/>
          </a:p>
        </p:txBody>
      </p:sp>
      <p:sp>
        <p:nvSpPr>
          <p:cNvPr id="43" name="Text 41"/>
          <p:cNvSpPr/>
          <p:nvPr/>
        </p:nvSpPr>
        <p:spPr>
          <a:xfrm>
            <a:off x="6364224" y="5449824"/>
            <a:ext cx="5181600" cy="195072"/>
          </a:xfrm>
          <a:prstGeom prst="rect">
            <a:avLst/>
          </a:prstGeom>
          <a:noFill/>
          <a:ln/>
        </p:spPr>
        <p:txBody>
          <a:bodyPr wrap="square" lIns="0" tIns="0" rIns="0" bIns="0" rtlCol="0" anchor="ctr"/>
          <a:lstStyle/>
          <a:p>
            <a:r>
              <a:rPr lang="en-US" sz="1040" dirty="0">
                <a:solidFill>
                  <a:srgbClr val="4ADE80"/>
                </a:solidFill>
                <a:latin typeface="Consolas" pitchFamily="34" charset="0"/>
                <a:ea typeface="Consolas" pitchFamily="34" charset="-122"/>
                <a:cs typeface="Consolas" pitchFamily="34" charset="-120"/>
              </a:rPr>
              <a:t>      VALUES(LEAST(...), GREATEST(...))</a:t>
            </a:r>
            <a:endParaRPr lang="en-US" sz="1040" dirty="0"/>
          </a:p>
        </p:txBody>
      </p:sp>
      <p:sp>
        <p:nvSpPr>
          <p:cNvPr id="44" name="Text 42"/>
          <p:cNvSpPr/>
          <p:nvPr/>
        </p:nvSpPr>
        <p:spPr>
          <a:xfrm>
            <a:off x="6364224" y="5644896"/>
            <a:ext cx="5181600" cy="195072"/>
          </a:xfrm>
          <a:prstGeom prst="rect">
            <a:avLst/>
          </a:prstGeom>
          <a:noFill/>
          <a:ln/>
        </p:spPr>
        <p:txBody>
          <a:bodyPr wrap="square" lIns="0" tIns="0" rIns="0" bIns="0" rtlCol="0" anchor="ctr"/>
          <a:lstStyle/>
          <a:p>
            <a:r>
              <a:rPr lang="en-US" sz="1040" dirty="0">
                <a:solidFill>
                  <a:srgbClr val="F5F0FF"/>
                </a:solidFill>
                <a:latin typeface="Consolas" pitchFamily="34" charset="0"/>
                <a:ea typeface="Consolas" pitchFamily="34" charset="-122"/>
                <a:cs typeface="Consolas" pitchFamily="34" charset="-120"/>
              </a:rPr>
              <a:t>    END IF;</a:t>
            </a:r>
            <a:endParaRPr lang="en-US" sz="1040" dirty="0"/>
          </a:p>
        </p:txBody>
      </p:sp>
      <p:sp>
        <p:nvSpPr>
          <p:cNvPr id="45" name="Text 43"/>
          <p:cNvSpPr/>
          <p:nvPr/>
        </p:nvSpPr>
        <p:spPr>
          <a:xfrm>
            <a:off x="6364224" y="5839968"/>
            <a:ext cx="5181600" cy="195072"/>
          </a:xfrm>
          <a:prstGeom prst="rect">
            <a:avLst/>
          </a:prstGeom>
          <a:noFill/>
          <a:ln/>
        </p:spPr>
        <p:txBody>
          <a:bodyPr wrap="square" lIns="0" tIns="0" rIns="0" bIns="0" rtlCol="0" anchor="ctr"/>
          <a:lstStyle/>
          <a:p>
            <a:r>
              <a:rPr lang="en-US" sz="1040" dirty="0">
                <a:solidFill>
                  <a:srgbClr val="F5F0FF"/>
                </a:solidFill>
                <a:latin typeface="Consolas" pitchFamily="34" charset="0"/>
                <a:ea typeface="Consolas" pitchFamily="34" charset="-122"/>
                <a:cs typeface="Consolas" pitchFamily="34" charset="-120"/>
              </a:rPr>
              <a:t>  END IF;</a:t>
            </a:r>
            <a:endParaRPr lang="en-US" sz="1040" dirty="0"/>
          </a:p>
        </p:txBody>
      </p:sp>
      <p:sp>
        <p:nvSpPr>
          <p:cNvPr id="46" name="Text 44"/>
          <p:cNvSpPr/>
          <p:nvPr/>
        </p:nvSpPr>
        <p:spPr>
          <a:xfrm>
            <a:off x="6364224" y="6035040"/>
            <a:ext cx="5181600" cy="195072"/>
          </a:xfrm>
          <a:prstGeom prst="rect">
            <a:avLst/>
          </a:prstGeom>
          <a:noFill/>
          <a:ln/>
        </p:spPr>
        <p:txBody>
          <a:bodyPr wrap="square" lIns="0" tIns="0" rIns="0" bIns="0" rtlCol="0" anchor="ctr"/>
          <a:lstStyle/>
          <a:p>
            <a:r>
              <a:rPr lang="en-US" sz="1040" dirty="0">
                <a:solidFill>
                  <a:srgbClr val="F5F0FF"/>
                </a:solidFill>
                <a:latin typeface="Consolas" pitchFamily="34" charset="0"/>
                <a:ea typeface="Consolas" pitchFamily="34" charset="-122"/>
                <a:cs typeface="Consolas" pitchFamily="34" charset="-120"/>
              </a:rPr>
              <a:t>END</a:t>
            </a:r>
            <a:endParaRPr lang="en-US" sz="1040" dirty="0"/>
          </a:p>
        </p:txBody>
      </p:sp>
      <p:sp>
        <p:nvSpPr>
          <p:cNvPr id="47" name="Shape 45"/>
          <p:cNvSpPr/>
          <p:nvPr/>
        </p:nvSpPr>
        <p:spPr>
          <a:xfrm>
            <a:off x="6217920" y="6278880"/>
            <a:ext cx="5547360" cy="42672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a:p>
        </p:txBody>
      </p:sp>
      <p:sp>
        <p:nvSpPr>
          <p:cNvPr id="48" name="Text 46"/>
          <p:cNvSpPr/>
          <p:nvPr/>
        </p:nvSpPr>
        <p:spPr>
          <a:xfrm>
            <a:off x="6339840" y="6303264"/>
            <a:ext cx="5303520" cy="365760"/>
          </a:xfrm>
          <a:prstGeom prst="rect">
            <a:avLst/>
          </a:prstGeom>
          <a:noFill/>
          <a:ln/>
        </p:spPr>
        <p:txBody>
          <a:bodyPr wrap="square" lIns="0" tIns="0" rIns="0" bIns="0" rtlCol="0" anchor="ctr"/>
          <a:lstStyle/>
          <a:p>
            <a:r>
              <a:rPr lang="en-US" sz="1133" dirty="0">
                <a:solidFill>
                  <a:srgbClr val="F472B6"/>
                </a:solidFill>
                <a:latin typeface="Calibri" pitchFamily="34" charset="0"/>
                <a:ea typeface="Calibri" pitchFamily="34" charset="-122"/>
                <a:cs typeface="Calibri" pitchFamily="34" charset="-120"/>
              </a:rPr>
              <a:t>🔑 LEAST / GREATEST garantizan que (u1 &lt; u2) → no hay (Ana,Luis) y (Luis,Ana) a la vez</a:t>
            </a:r>
            <a:endParaRPr lang="en-US" sz="1133"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7C3AED"/>
          </a:solidFill>
          <a:ln w="12700">
            <a:solidFill>
              <a:srgbClr val="7C3AED"/>
            </a:solidFill>
            <a:prstDash val="solid"/>
          </a:ln>
        </p:spPr>
        <p:txBody>
          <a:bodyPr/>
          <a:lstStyle/>
          <a:p>
            <a:endParaRPr lang="es-ES"/>
          </a:p>
        </p:txBody>
      </p:sp>
      <p:sp>
        <p:nvSpPr>
          <p:cNvPr id="3" name="Text 1"/>
          <p:cNvSpPr/>
          <p:nvPr/>
        </p:nvSpPr>
        <p:spPr>
          <a:xfrm>
            <a:off x="1048512" y="155448"/>
            <a:ext cx="10972800" cy="914400"/>
          </a:xfrm>
          <a:prstGeom prst="rect">
            <a:avLst/>
          </a:prstGeom>
          <a:noFill/>
          <a:ln/>
        </p:spPr>
        <p:txBody>
          <a:bodyPr wrap="square" lIns="0" tIns="0" rIns="0" bIns="0" rtlCol="0" anchor="ctr"/>
          <a:lstStyle/>
          <a:p>
            <a:r>
              <a:rPr lang="en-US" sz="4800" b="1" dirty="0">
                <a:solidFill>
                  <a:srgbClr val="F5F0FF"/>
                </a:solidFill>
                <a:latin typeface="Trebuchet MS" pitchFamily="34" charset="0"/>
                <a:ea typeface="Trebuchet MS" pitchFamily="34" charset="-122"/>
                <a:cs typeface="Trebuchet MS" pitchFamily="34" charset="-120"/>
              </a:rPr>
              <a:t>Infraestructura y despliegue</a:t>
            </a:r>
            <a:endParaRPr lang="en-US" sz="4800" dirty="0"/>
          </a:p>
        </p:txBody>
      </p:sp>
      <p:sp>
        <p:nvSpPr>
          <p:cNvPr id="4" name="Shape 2"/>
          <p:cNvSpPr/>
          <p:nvPr/>
        </p:nvSpPr>
        <p:spPr>
          <a:xfrm>
            <a:off x="426720" y="1152144"/>
            <a:ext cx="5364480" cy="5181600"/>
          </a:xfrm>
          <a:prstGeom prst="rect">
            <a:avLst/>
          </a:prstGeom>
          <a:solidFill>
            <a:srgbClr val="160830"/>
          </a:solidFill>
          <a:ln w="12700">
            <a:solidFill>
              <a:srgbClr val="7C3AED"/>
            </a:solidFill>
            <a:prstDash val="solid"/>
          </a:ln>
          <a:effectLst>
            <a:outerShdw blurRad="101600" dist="25400" dir="8100000" algn="bl" rotWithShape="0">
              <a:srgbClr val="7C3AED">
                <a:alpha val="20000"/>
              </a:srgbClr>
            </a:outerShdw>
          </a:effectLst>
        </p:spPr>
        <p:txBody>
          <a:bodyPr/>
          <a:lstStyle/>
          <a:p>
            <a:endParaRPr lang="es-ES" dirty="0"/>
          </a:p>
        </p:txBody>
      </p:sp>
      <p:sp>
        <p:nvSpPr>
          <p:cNvPr id="5" name="Text 3"/>
          <p:cNvSpPr/>
          <p:nvPr/>
        </p:nvSpPr>
        <p:spPr>
          <a:xfrm>
            <a:off x="731520" y="1341120"/>
            <a:ext cx="4876800" cy="609600"/>
          </a:xfrm>
          <a:prstGeom prst="rect">
            <a:avLst/>
          </a:prstGeom>
          <a:noFill/>
          <a:ln/>
        </p:spPr>
        <p:txBody>
          <a:bodyPr wrap="square" lIns="0" tIns="0" rIns="0" bIns="0" rtlCol="0" anchor="ctr"/>
          <a:lstStyle/>
          <a:p>
            <a:r>
              <a:rPr lang="en-US" sz="2933" b="1" dirty="0">
                <a:solidFill>
                  <a:srgbClr val="0EA5E9"/>
                </a:solidFill>
              </a:rPr>
              <a:t>🐳  Docker</a:t>
            </a:r>
            <a:endParaRPr lang="en-US" sz="2933" dirty="0"/>
          </a:p>
        </p:txBody>
      </p:sp>
      <p:sp>
        <p:nvSpPr>
          <p:cNvPr id="6" name="Text 4"/>
          <p:cNvSpPr/>
          <p:nvPr/>
        </p:nvSpPr>
        <p:spPr>
          <a:xfrm>
            <a:off x="731520" y="2011680"/>
            <a:ext cx="4876800" cy="609600"/>
          </a:xfrm>
          <a:prstGeom prst="rect">
            <a:avLst/>
          </a:prstGeom>
          <a:noFill/>
          <a:ln/>
        </p:spPr>
        <p:txBody>
          <a:bodyPr wrap="square" lIns="0" tIns="0" rIns="0" bIns="0" rtlCol="0" anchor="ctr"/>
          <a:lstStyle/>
          <a:p>
            <a:r>
              <a:rPr lang="en-US" sz="1600" dirty="0">
                <a:solidFill>
                  <a:srgbClr val="C4B5D8"/>
                </a:solidFill>
                <a:latin typeface="Calibri" pitchFamily="34" charset="0"/>
                <a:ea typeface="Calibri" pitchFamily="34" charset="-122"/>
                <a:cs typeface="Calibri" pitchFamily="34" charset="-120"/>
              </a:rPr>
              <a:t>La base de datos corre en un </a:t>
            </a:r>
            <a:r>
              <a:rPr lang="en-US" sz="1600" dirty="0" err="1">
                <a:solidFill>
                  <a:srgbClr val="C4B5D8"/>
                </a:solidFill>
                <a:latin typeface="Calibri" pitchFamily="34" charset="0"/>
                <a:ea typeface="Calibri" pitchFamily="34" charset="-122"/>
                <a:cs typeface="Calibri" pitchFamily="34" charset="-120"/>
              </a:rPr>
              <a:t>contenedor</a:t>
            </a:r>
            <a:r>
              <a:rPr lang="en-US" sz="1600" dirty="0">
                <a:solidFill>
                  <a:srgbClr val="C4B5D8"/>
                </a:solidFill>
                <a:latin typeface="Calibri" pitchFamily="34" charset="0"/>
                <a:ea typeface="Calibri" pitchFamily="34" charset="-122"/>
                <a:cs typeface="Calibri" pitchFamily="34" charset="-120"/>
              </a:rPr>
              <a:t> Docker.</a:t>
            </a:r>
            <a:endParaRPr lang="en-US" sz="1600" dirty="0"/>
          </a:p>
        </p:txBody>
      </p:sp>
      <p:sp>
        <p:nvSpPr>
          <p:cNvPr id="7" name="Text 5"/>
          <p:cNvSpPr/>
          <p:nvPr/>
        </p:nvSpPr>
        <p:spPr>
          <a:xfrm>
            <a:off x="731520" y="2706624"/>
            <a:ext cx="4876800" cy="548640"/>
          </a:xfrm>
          <a:prstGeom prst="rect">
            <a:avLst/>
          </a:prstGeom>
          <a:noFill/>
          <a:ln/>
        </p:spPr>
        <p:txBody>
          <a:bodyPr wrap="square" lIns="0" tIns="0" rIns="0" bIns="0" rtlCol="0" anchor="ctr"/>
          <a:lstStyle/>
          <a:p>
            <a:r>
              <a:rPr lang="en-US" sz="1733" b="1" dirty="0">
                <a:solidFill>
                  <a:srgbClr val="4ADE80"/>
                </a:solidFill>
                <a:latin typeface="Calibri" pitchFamily="34" charset="0"/>
                <a:ea typeface="Calibri" pitchFamily="34" charset="-122"/>
                <a:cs typeface="Calibri" pitchFamily="34" charset="-120"/>
              </a:rPr>
              <a:t> </a:t>
            </a:r>
            <a:r>
              <a:rPr lang="en-US" sz="1600" dirty="0">
                <a:solidFill>
                  <a:schemeClr val="bg1"/>
                </a:solidFill>
                <a:latin typeface="Calibri" pitchFamily="34" charset="0"/>
                <a:ea typeface="Calibri" pitchFamily="34" charset="-122"/>
                <a:cs typeface="Calibri" pitchFamily="34" charset="-120"/>
              </a:rPr>
              <a:t>Hay un </a:t>
            </a:r>
            <a:r>
              <a:rPr lang="en-US" sz="1600" dirty="0" err="1">
                <a:solidFill>
                  <a:schemeClr val="bg1"/>
                </a:solidFill>
                <a:latin typeface="Calibri" pitchFamily="34" charset="0"/>
                <a:ea typeface="Calibri" pitchFamily="34" charset="-122"/>
                <a:cs typeface="Calibri" pitchFamily="34" charset="-120"/>
              </a:rPr>
              <a:t>servidor</a:t>
            </a:r>
            <a:r>
              <a:rPr lang="en-US" sz="1600" dirty="0">
                <a:solidFill>
                  <a:schemeClr val="bg1"/>
                </a:solidFill>
                <a:latin typeface="Calibri" pitchFamily="34" charset="0"/>
                <a:ea typeface="Calibri" pitchFamily="34" charset="-122"/>
                <a:cs typeface="Calibri" pitchFamily="34" charset="-120"/>
              </a:rPr>
              <a:t> nginx </a:t>
            </a:r>
            <a:r>
              <a:rPr lang="en-US" sz="1600" dirty="0" err="1">
                <a:solidFill>
                  <a:schemeClr val="bg1"/>
                </a:solidFill>
                <a:latin typeface="Calibri" pitchFamily="34" charset="0"/>
                <a:ea typeface="Calibri" pitchFamily="34" charset="-122"/>
                <a:cs typeface="Calibri" pitchFamily="34" charset="-120"/>
              </a:rPr>
              <a:t>levantando</a:t>
            </a:r>
            <a:r>
              <a:rPr lang="en-US" sz="1600" dirty="0">
                <a:solidFill>
                  <a:schemeClr val="bg1"/>
                </a:solidFill>
                <a:latin typeface="Calibri" pitchFamily="34" charset="0"/>
                <a:ea typeface="Calibri" pitchFamily="34" charset="-122"/>
                <a:cs typeface="Calibri" pitchFamily="34" charset="-120"/>
              </a:rPr>
              <a:t> la web</a:t>
            </a:r>
            <a:endParaRPr lang="en-US" sz="1733" dirty="0"/>
          </a:p>
        </p:txBody>
      </p:sp>
      <p:sp>
        <p:nvSpPr>
          <p:cNvPr id="11" name="Shape 9"/>
          <p:cNvSpPr/>
          <p:nvPr/>
        </p:nvSpPr>
        <p:spPr>
          <a:xfrm>
            <a:off x="609600" y="3718482"/>
            <a:ext cx="4998720" cy="2435429"/>
          </a:xfrm>
          <a:prstGeom prst="rect">
            <a:avLst/>
          </a:prstGeom>
          <a:solidFill>
            <a:srgbClr val="0D0B1A"/>
          </a:solidFill>
          <a:ln w="12700">
            <a:solidFill>
              <a:srgbClr val="7C3AED"/>
            </a:solidFill>
            <a:prstDash val="solid"/>
          </a:ln>
        </p:spPr>
        <p:txBody>
          <a:bodyPr/>
          <a:lstStyle/>
          <a:p>
            <a:endParaRPr lang="es-ES"/>
          </a:p>
        </p:txBody>
      </p:sp>
      <p:sp>
        <p:nvSpPr>
          <p:cNvPr id="24" name="CuadroTexto 23">
            <a:extLst>
              <a:ext uri="{FF2B5EF4-FFF2-40B4-BE49-F238E27FC236}">
                <a16:creationId xmlns:a16="http://schemas.microsoft.com/office/drawing/2014/main" id="{0FE603FA-2232-7863-0411-E772AB30FD17}"/>
              </a:ext>
            </a:extLst>
          </p:cNvPr>
          <p:cNvSpPr txBox="1"/>
          <p:nvPr/>
        </p:nvSpPr>
        <p:spPr>
          <a:xfrm>
            <a:off x="731520" y="4334256"/>
            <a:ext cx="4617720" cy="1200329"/>
          </a:xfrm>
          <a:prstGeom prst="rect">
            <a:avLst/>
          </a:prstGeom>
          <a:noFill/>
        </p:spPr>
        <p:txBody>
          <a:bodyPr wrap="square">
            <a:spAutoFit/>
          </a:bodyPr>
          <a:lstStyle/>
          <a:p>
            <a:r>
              <a:rPr lang="es-ES" dirty="0" err="1">
                <a:solidFill>
                  <a:schemeClr val="bg1"/>
                </a:solidFill>
              </a:rPr>
              <a:t>docker</a:t>
            </a:r>
            <a:r>
              <a:rPr lang="es-ES" dirty="0">
                <a:solidFill>
                  <a:schemeClr val="bg1"/>
                </a:solidFill>
              </a:rPr>
              <a:t> run --</a:t>
            </a:r>
            <a:r>
              <a:rPr lang="es-ES" dirty="0" err="1">
                <a:solidFill>
                  <a:schemeClr val="bg1"/>
                </a:solidFill>
              </a:rPr>
              <a:t>name</a:t>
            </a:r>
            <a:r>
              <a:rPr lang="es-ES" dirty="0">
                <a:solidFill>
                  <a:schemeClr val="bg1"/>
                </a:solidFill>
              </a:rPr>
              <a:t> mi-servidor-</a:t>
            </a:r>
            <a:r>
              <a:rPr lang="es-ES" dirty="0" err="1">
                <a:solidFill>
                  <a:schemeClr val="bg1"/>
                </a:solidFill>
              </a:rPr>
              <a:t>nginx</a:t>
            </a:r>
            <a:r>
              <a:rPr lang="es-ES" dirty="0">
                <a:solidFill>
                  <a:schemeClr val="bg1"/>
                </a:solidFill>
              </a:rPr>
              <a:t> -p 5500:80 -v /ruta/de/tu/carpeta:/</a:t>
            </a:r>
            <a:r>
              <a:rPr lang="es-ES" dirty="0" err="1">
                <a:solidFill>
                  <a:schemeClr val="bg1"/>
                </a:solidFill>
              </a:rPr>
              <a:t>usr</a:t>
            </a:r>
            <a:r>
              <a:rPr lang="es-ES" dirty="0">
                <a:solidFill>
                  <a:schemeClr val="bg1"/>
                </a:solidFill>
              </a:rPr>
              <a:t>/share/</a:t>
            </a:r>
            <a:r>
              <a:rPr lang="es-ES" dirty="0" err="1">
                <a:solidFill>
                  <a:schemeClr val="bg1"/>
                </a:solidFill>
              </a:rPr>
              <a:t>nginx</a:t>
            </a:r>
            <a:r>
              <a:rPr lang="es-ES" dirty="0">
                <a:solidFill>
                  <a:schemeClr val="bg1"/>
                </a:solidFill>
              </a:rPr>
              <a:t>/</a:t>
            </a:r>
            <a:r>
              <a:rPr lang="es-ES" dirty="0" err="1">
                <a:solidFill>
                  <a:schemeClr val="bg1"/>
                </a:solidFill>
              </a:rPr>
              <a:t>html:ro</a:t>
            </a:r>
            <a:r>
              <a:rPr lang="es-ES" dirty="0">
                <a:solidFill>
                  <a:schemeClr val="bg1"/>
                </a:solidFill>
              </a:rPr>
              <a:t> -d </a:t>
            </a:r>
            <a:r>
              <a:rPr lang="es-ES" dirty="0" err="1">
                <a:solidFill>
                  <a:schemeClr val="bg1"/>
                </a:solidFill>
              </a:rPr>
              <a:t>nginx</a:t>
            </a:r>
            <a:endParaRPr lang="es-ES" dirty="0">
              <a:solidFill>
                <a:schemeClr val="bg1"/>
              </a:solidFill>
            </a:endParaRPr>
          </a:p>
        </p:txBody>
      </p:sp>
      <p:pic>
        <p:nvPicPr>
          <p:cNvPr id="26" name="Imagen 25">
            <a:extLst>
              <a:ext uri="{FF2B5EF4-FFF2-40B4-BE49-F238E27FC236}">
                <a16:creationId xmlns:a16="http://schemas.microsoft.com/office/drawing/2014/main" id="{98A10264-111E-BB3D-A759-9D30AE90F087}"/>
              </a:ext>
            </a:extLst>
          </p:cNvPr>
          <p:cNvPicPr>
            <a:picLocks noChangeAspect="1"/>
          </p:cNvPicPr>
          <p:nvPr/>
        </p:nvPicPr>
        <p:blipFill>
          <a:blip r:embed="rId3"/>
          <a:stretch>
            <a:fillRect/>
          </a:stretch>
        </p:blipFill>
        <p:spPr>
          <a:xfrm>
            <a:off x="6263809" y="1338071"/>
            <a:ext cx="4683293" cy="4815839"/>
          </a:xfrm>
          <a:prstGeom prst="rect">
            <a:avLst/>
          </a:prstGeom>
        </p:spPr>
      </p:pic>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716F45E011DB86469293DF92AFFE7F91" ma:contentTypeVersion="9" ma:contentTypeDescription="Crear nuevo documento." ma:contentTypeScope="" ma:versionID="ea135ad8b9dd137d1fa39478a044dc02">
  <xsd:schema xmlns:xsd="http://www.w3.org/2001/XMLSchema" xmlns:xs="http://www.w3.org/2001/XMLSchema" xmlns:p="http://schemas.microsoft.com/office/2006/metadata/properties" xmlns:ns3="b7a13d42-ebcf-44be-b020-4691ffc1818a" targetNamespace="http://schemas.microsoft.com/office/2006/metadata/properties" ma:root="true" ma:fieldsID="0c82083edb43cf8d5fff0e1fae992d93" ns3:_="">
    <xsd:import namespace="b7a13d42-ebcf-44be-b020-4691ffc1818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a13d42-ebcf-44be-b020-4691ffc1818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b7a13d42-ebcf-44be-b020-4691ffc1818a" xsi:nil="true"/>
  </documentManagement>
</p:properties>
</file>

<file path=customXml/itemProps1.xml><?xml version="1.0" encoding="utf-8"?>
<ds:datastoreItem xmlns:ds="http://schemas.openxmlformats.org/officeDocument/2006/customXml" ds:itemID="{068AFD36-FCDF-40AF-8892-7719B33BF1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7a13d42-ebcf-44be-b020-4691ffc181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69A2963-C8AE-4EAA-9453-CDC8CED2F0E2}">
  <ds:schemaRefs>
    <ds:schemaRef ds:uri="http://schemas.microsoft.com/sharepoint/v3/contenttype/forms"/>
  </ds:schemaRefs>
</ds:datastoreItem>
</file>

<file path=customXml/itemProps3.xml><?xml version="1.0" encoding="utf-8"?>
<ds:datastoreItem xmlns:ds="http://schemas.openxmlformats.org/officeDocument/2006/customXml" ds:itemID="{04D207C9-7367-43DD-A382-750D1405A4EC}">
  <ds:schemaRefs>
    <ds:schemaRef ds:uri="http://schemas.microsoft.com/office/2006/metadata/properties"/>
    <ds:schemaRef ds:uri="http://purl.org/dc/dcmitype/"/>
    <ds:schemaRef ds:uri="http://www.w3.org/XML/1998/namespace"/>
    <ds:schemaRef ds:uri="http://purl.org/dc/terms/"/>
    <ds:schemaRef ds:uri="http://purl.org/dc/elements/1.1/"/>
    <ds:schemaRef ds:uri="http://schemas.microsoft.com/office/2006/documentManagement/types"/>
    <ds:schemaRef ds:uri="http://schemas.microsoft.com/office/infopath/2007/PartnerControls"/>
    <ds:schemaRef ds:uri="http://schemas.openxmlformats.org/package/2006/metadata/core-properties"/>
    <ds:schemaRef ds:uri="b7a13d42-ebcf-44be-b020-4691ffc1818a"/>
  </ds:schemaRefs>
</ds:datastoreItem>
</file>

<file path=docProps/app.xml><?xml version="1.0" encoding="utf-8"?>
<Properties xmlns="http://schemas.openxmlformats.org/officeDocument/2006/extended-properties" xmlns:vt="http://schemas.openxmlformats.org/officeDocument/2006/docPropsVTypes">
  <TotalTime>52</TotalTime>
  <Words>1347</Words>
  <Application>Microsoft Office PowerPoint</Application>
  <PresentationFormat>Panorámica</PresentationFormat>
  <Paragraphs>233</Paragraphs>
  <Slides>18</Slides>
  <Notes>11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18</vt:i4>
      </vt:variant>
    </vt:vector>
  </HeadingPairs>
  <TitlesOfParts>
    <vt:vector size="25" baseType="lpstr">
      <vt:lpstr>Aptos</vt:lpstr>
      <vt:lpstr>Aptos Display</vt:lpstr>
      <vt:lpstr>Arial</vt:lpstr>
      <vt:lpstr>Calibri</vt:lpstr>
      <vt:lpstr>Consolas</vt:lpstr>
      <vt:lpstr>Trebuchet MS</vt:lpstr>
      <vt:lpstr>Tema de Office</vt:lpstr>
      <vt:lpstr>LoveCode</vt:lpstr>
      <vt:lpstr>Que es LoveCode?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PABLO GREUS VÁZQUEZ</dc:creator>
  <cp:lastModifiedBy>PABLO GREUS VÁZQUEZ</cp:lastModifiedBy>
  <cp:revision>2</cp:revision>
  <dcterms:created xsi:type="dcterms:W3CDTF">2026-05-31T11:42:27Z</dcterms:created>
  <dcterms:modified xsi:type="dcterms:W3CDTF">2026-05-31T12:35:09Z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0x010100716F45E011DB86469293DF92AFFE7F91</vt:lpwstr>
  </property>
</Properties>
</file>